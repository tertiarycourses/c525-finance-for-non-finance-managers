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10.xml" ContentType="application/vnd.openxmlformats-officedocument.drawingml.diagramColors+xml"/>
  <Override PartName="/ppt/diagrams/colors11.xml" ContentType="application/vnd.openxmlformats-officedocument.drawingml.diagramColors+xml"/>
  <Override PartName="/ppt/diagrams/colors12.xml" ContentType="application/vnd.openxmlformats-officedocument.drawingml.diagramColors+xml"/>
  <Override PartName="/ppt/diagrams/colors13.xml" ContentType="application/vnd.openxmlformats-officedocument.drawingml.diagramColors+xml"/>
  <Override PartName="/ppt/diagrams/colors14.xml" ContentType="application/vnd.openxmlformats-officedocument.drawingml.diagramColors+xml"/>
  <Override PartName="/ppt/diagrams/colors15.xml" ContentType="application/vnd.openxmlformats-officedocument.drawingml.diagramColors+xml"/>
  <Override PartName="/ppt/diagrams/colors16.xml" ContentType="application/vnd.openxmlformats-officedocument.drawingml.diagramColors+xml"/>
  <Override PartName="/ppt/diagrams/colors17.xml" ContentType="application/vnd.openxmlformats-officedocument.drawingml.diagramColors+xml"/>
  <Override PartName="/ppt/diagrams/colors18.xml" ContentType="application/vnd.openxmlformats-officedocument.drawingml.diagramColors+xml"/>
  <Override PartName="/ppt/diagrams/colors19.xml" ContentType="application/vnd.openxmlformats-officedocument.drawingml.diagramColors+xml"/>
  <Override PartName="/ppt/diagrams/colors2.xml" ContentType="application/vnd.openxmlformats-officedocument.drawingml.diagramColors+xml"/>
  <Override PartName="/ppt/diagrams/colors20.xml" ContentType="application/vnd.openxmlformats-officedocument.drawingml.diagramColors+xml"/>
  <Override PartName="/ppt/diagrams/colors21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colors9.xml" ContentType="application/vnd.openxmlformats-officedocument.drawingml.diagramColors+xml"/>
  <Override PartName="/ppt/diagrams/data1.xml" ContentType="application/vnd.openxmlformats-officedocument.drawingml.diagramData+xml"/>
  <Override PartName="/ppt/diagrams/data10.xml" ContentType="application/vnd.openxmlformats-officedocument.drawingml.diagramData+xml"/>
  <Override PartName="/ppt/diagrams/data11.xml" ContentType="application/vnd.openxmlformats-officedocument.drawingml.diagramData+xml"/>
  <Override PartName="/ppt/diagrams/data12.xml" ContentType="application/vnd.openxmlformats-officedocument.drawingml.diagramData+xml"/>
  <Override PartName="/ppt/diagrams/data13.xml" ContentType="application/vnd.openxmlformats-officedocument.drawingml.diagramData+xml"/>
  <Override PartName="/ppt/diagrams/data14.xml" ContentType="application/vnd.openxmlformats-officedocument.drawingml.diagramData+xml"/>
  <Override PartName="/ppt/diagrams/data15.xml" ContentType="application/vnd.openxmlformats-officedocument.drawingml.diagramData+xml"/>
  <Override PartName="/ppt/diagrams/data16.xml" ContentType="application/vnd.openxmlformats-officedocument.drawingml.diagramData+xml"/>
  <Override PartName="/ppt/diagrams/data17.xml" ContentType="application/vnd.openxmlformats-officedocument.drawingml.diagramData+xml"/>
  <Override PartName="/ppt/diagrams/data18.xml" ContentType="application/vnd.openxmlformats-officedocument.drawingml.diagramData+xml"/>
  <Override PartName="/ppt/diagrams/data19.xml" ContentType="application/vnd.openxmlformats-officedocument.drawingml.diagramData+xml"/>
  <Override PartName="/ppt/diagrams/data2.xml" ContentType="application/vnd.openxmlformats-officedocument.drawingml.diagramData+xml"/>
  <Override PartName="/ppt/diagrams/data20.xml" ContentType="application/vnd.openxmlformats-officedocument.drawingml.diagramData+xml"/>
  <Override PartName="/ppt/diagrams/data21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rawing1.xml" ContentType="application/vnd.ms-office.drawingml.diagramDrawing+xml"/>
  <Override PartName="/ppt/diagrams/drawing10.xml" ContentType="application/vnd.ms-office.drawingml.diagramDrawing+xml"/>
  <Override PartName="/ppt/diagrams/drawing11.xml" ContentType="application/vnd.ms-office.drawingml.diagramDrawing+xml"/>
  <Override PartName="/ppt/diagrams/drawing12.xml" ContentType="application/vnd.ms-office.drawingml.diagramDrawing+xml"/>
  <Override PartName="/ppt/diagrams/drawing13.xml" ContentType="application/vnd.ms-office.drawingml.diagramDrawing+xml"/>
  <Override PartName="/ppt/diagrams/drawing14.xml" ContentType="application/vnd.ms-office.drawingml.diagramDrawing+xml"/>
  <Override PartName="/ppt/diagrams/drawing15.xml" ContentType="application/vnd.ms-office.drawingml.diagramDrawing+xml"/>
  <Override PartName="/ppt/diagrams/drawing16.xml" ContentType="application/vnd.ms-office.drawingml.diagramDrawing+xml"/>
  <Override PartName="/ppt/diagrams/drawing17.xml" ContentType="application/vnd.ms-office.drawingml.diagramDrawing+xml"/>
  <Override PartName="/ppt/diagrams/drawing18.xml" ContentType="application/vnd.ms-office.drawingml.diagramDrawing+xml"/>
  <Override PartName="/ppt/diagrams/drawing19.xml" ContentType="application/vnd.ms-office.drawingml.diagramDrawing+xml"/>
  <Override PartName="/ppt/diagrams/drawing2.xml" ContentType="application/vnd.ms-office.drawingml.diagramDrawing+xml"/>
  <Override PartName="/ppt/diagrams/drawing20.xml" ContentType="application/vnd.ms-office.drawingml.diagramDrawing+xml"/>
  <Override PartName="/ppt/diagrams/drawing21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drawing9.xml" ContentType="application/vnd.ms-office.drawingml.diagramDrawing+xml"/>
  <Override PartName="/ppt/diagrams/layout1.xml" ContentType="application/vnd.openxmlformats-officedocument.drawingml.diagramLayout+xml"/>
  <Override PartName="/ppt/diagrams/layout10.xml" ContentType="application/vnd.openxmlformats-officedocument.drawingml.diagramLayout+xml"/>
  <Override PartName="/ppt/diagrams/layout11.xml" ContentType="application/vnd.openxmlformats-officedocument.drawingml.diagramLayout+xml"/>
  <Override PartName="/ppt/diagrams/layout12.xml" ContentType="application/vnd.openxmlformats-officedocument.drawingml.diagramLayout+xml"/>
  <Override PartName="/ppt/diagrams/layout13.xml" ContentType="application/vnd.openxmlformats-officedocument.drawingml.diagramLayout+xml"/>
  <Override PartName="/ppt/diagrams/layout14.xml" ContentType="application/vnd.openxmlformats-officedocument.drawingml.diagramLayout+xml"/>
  <Override PartName="/ppt/diagrams/layout15.xml" ContentType="application/vnd.openxmlformats-officedocument.drawingml.diagramLayout+xml"/>
  <Override PartName="/ppt/diagrams/layout16.xml" ContentType="application/vnd.openxmlformats-officedocument.drawingml.diagramLayout+xml"/>
  <Override PartName="/ppt/diagrams/layout17.xml" ContentType="application/vnd.openxmlformats-officedocument.drawingml.diagramLayout+xml"/>
  <Override PartName="/ppt/diagrams/layout18.xml" ContentType="application/vnd.openxmlformats-officedocument.drawingml.diagramLayout+xml"/>
  <Override PartName="/ppt/diagrams/layout19.xml" ContentType="application/vnd.openxmlformats-officedocument.drawingml.diagramLayout+xml"/>
  <Override PartName="/ppt/diagrams/layout2.xml" ContentType="application/vnd.openxmlformats-officedocument.drawingml.diagramLayout+xml"/>
  <Override PartName="/ppt/diagrams/layout20.xml" ContentType="application/vnd.openxmlformats-officedocument.drawingml.diagramLayout+xml"/>
  <Override PartName="/ppt/diagrams/layout21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layout9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10.xml" ContentType="application/vnd.openxmlformats-officedocument.drawingml.diagramStyle+xml"/>
  <Override PartName="/ppt/diagrams/quickStyle11.xml" ContentType="application/vnd.openxmlformats-officedocument.drawingml.diagramStyle+xml"/>
  <Override PartName="/ppt/diagrams/quickStyle12.xml" ContentType="application/vnd.openxmlformats-officedocument.drawingml.diagramStyle+xml"/>
  <Override PartName="/ppt/diagrams/quickStyle13.xml" ContentType="application/vnd.openxmlformats-officedocument.drawingml.diagramStyle+xml"/>
  <Override PartName="/ppt/diagrams/quickStyle14.xml" ContentType="application/vnd.openxmlformats-officedocument.drawingml.diagramStyle+xml"/>
  <Override PartName="/ppt/diagrams/quickStyle15.xml" ContentType="application/vnd.openxmlformats-officedocument.drawingml.diagramStyle+xml"/>
  <Override PartName="/ppt/diagrams/quickStyle16.xml" ContentType="application/vnd.openxmlformats-officedocument.drawingml.diagramStyle+xml"/>
  <Override PartName="/ppt/diagrams/quickStyle17.xml" ContentType="application/vnd.openxmlformats-officedocument.drawingml.diagramStyle+xml"/>
  <Override PartName="/ppt/diagrams/quickStyle18.xml" ContentType="application/vnd.openxmlformats-officedocument.drawingml.diagramStyle+xml"/>
  <Override PartName="/ppt/diagrams/quickStyle19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20.xml" ContentType="application/vnd.openxmlformats-officedocument.drawingml.diagramStyle+xml"/>
  <Override PartName="/ppt/diagrams/quickStyle21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media/image10.svg" ContentType="image/svg+xml"/>
  <Override PartName="/ppt/media/image12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4.svg" ContentType="image/svg+xml"/>
  <Override PartName="/ppt/media/image42.svg" ContentType="image/svg+xml"/>
  <Override PartName="/ppt/media/image6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9" r:id="rId2"/>
    <p:sldId id="357" r:id="rId3"/>
    <p:sldId id="257" r:id="rId4"/>
    <p:sldId id="258" r:id="rId5"/>
    <p:sldId id="259" r:id="rId6"/>
    <p:sldId id="260" r:id="rId7"/>
    <p:sldId id="261" r:id="rId8"/>
    <p:sldId id="262" r:id="rId9"/>
    <p:sldId id="278" r:id="rId10"/>
    <p:sldId id="358" r:id="rId11"/>
    <p:sldId id="279" r:id="rId12"/>
    <p:sldId id="280" r:id="rId13"/>
    <p:sldId id="281" r:id="rId14"/>
    <p:sldId id="282" r:id="rId15"/>
    <p:sldId id="283" r:id="rId16"/>
    <p:sldId id="284" r:id="rId17"/>
    <p:sldId id="360" r:id="rId18"/>
    <p:sldId id="361" r:id="rId19"/>
    <p:sldId id="374" r:id="rId20"/>
    <p:sldId id="362" r:id="rId21"/>
    <p:sldId id="375" r:id="rId22"/>
    <p:sldId id="363" r:id="rId23"/>
    <p:sldId id="376" r:id="rId24"/>
    <p:sldId id="364" r:id="rId25"/>
    <p:sldId id="377" r:id="rId26"/>
    <p:sldId id="285" r:id="rId27"/>
    <p:sldId id="263" r:id="rId28"/>
    <p:sldId id="286" r:id="rId29"/>
    <p:sldId id="287" r:id="rId30"/>
    <p:sldId id="288" r:id="rId31"/>
    <p:sldId id="289" r:id="rId32"/>
    <p:sldId id="290" r:id="rId33"/>
    <p:sldId id="295" r:id="rId34"/>
    <p:sldId id="264" r:id="rId35"/>
    <p:sldId id="291" r:id="rId36"/>
    <p:sldId id="292" r:id="rId37"/>
    <p:sldId id="267" r:id="rId38"/>
    <p:sldId id="268" r:id="rId39"/>
    <p:sldId id="269" r:id="rId40"/>
    <p:sldId id="366" r:id="rId41"/>
    <p:sldId id="293" r:id="rId42"/>
    <p:sldId id="294" r:id="rId43"/>
    <p:sldId id="296" r:id="rId44"/>
    <p:sldId id="297" r:id="rId45"/>
    <p:sldId id="298" r:id="rId46"/>
    <p:sldId id="367" r:id="rId47"/>
    <p:sldId id="333" r:id="rId48"/>
    <p:sldId id="334" r:id="rId49"/>
    <p:sldId id="299" r:id="rId50"/>
    <p:sldId id="300" r:id="rId51"/>
    <p:sldId id="301" r:id="rId52"/>
    <p:sldId id="313" r:id="rId53"/>
    <p:sldId id="314" r:id="rId54"/>
    <p:sldId id="315" r:id="rId55"/>
    <p:sldId id="302" r:id="rId56"/>
    <p:sldId id="303" r:id="rId57"/>
    <p:sldId id="316" r:id="rId58"/>
    <p:sldId id="317" r:id="rId59"/>
    <p:sldId id="318" r:id="rId60"/>
    <p:sldId id="319" r:id="rId61"/>
    <p:sldId id="304" r:id="rId62"/>
    <p:sldId id="320" r:id="rId63"/>
    <p:sldId id="321" r:id="rId64"/>
    <p:sldId id="327" r:id="rId65"/>
    <p:sldId id="328" r:id="rId66"/>
    <p:sldId id="329" r:id="rId67"/>
    <p:sldId id="330" r:id="rId68"/>
    <p:sldId id="331" r:id="rId69"/>
    <p:sldId id="332" r:id="rId70"/>
    <p:sldId id="270" r:id="rId71"/>
    <p:sldId id="271" r:id="rId72"/>
    <p:sldId id="322" r:id="rId73"/>
    <p:sldId id="323" r:id="rId74"/>
    <p:sldId id="324" r:id="rId75"/>
    <p:sldId id="325" r:id="rId76"/>
    <p:sldId id="326" r:id="rId77"/>
    <p:sldId id="378" r:id="rId78"/>
    <p:sldId id="379" r:id="rId79"/>
    <p:sldId id="369" r:id="rId80"/>
    <p:sldId id="370" r:id="rId81"/>
    <p:sldId id="275" r:id="rId82"/>
    <p:sldId id="393" r:id="rId83"/>
    <p:sldId id="394" r:id="rId84"/>
    <p:sldId id="395" r:id="rId85"/>
    <p:sldId id="402" r:id="rId86"/>
    <p:sldId id="403" r:id="rId87"/>
    <p:sldId id="404" r:id="rId88"/>
    <p:sldId id="405" r:id="rId89"/>
    <p:sldId id="406" r:id="rId90"/>
    <p:sldId id="407" r:id="rId91"/>
    <p:sldId id="409" r:id="rId92"/>
    <p:sldId id="408" r:id="rId93"/>
    <p:sldId id="410" r:id="rId94"/>
    <p:sldId id="411" r:id="rId95"/>
    <p:sldId id="412" r:id="rId96"/>
    <p:sldId id="335" r:id="rId97"/>
    <p:sldId id="336" r:id="rId98"/>
    <p:sldId id="380" r:id="rId99"/>
    <p:sldId id="381" r:id="rId100"/>
    <p:sldId id="382" r:id="rId101"/>
    <p:sldId id="383" r:id="rId102"/>
    <p:sldId id="384" r:id="rId103"/>
    <p:sldId id="365" r:id="rId104"/>
    <p:sldId id="385" r:id="rId105"/>
    <p:sldId id="386" r:id="rId106"/>
    <p:sldId id="368" r:id="rId107"/>
    <p:sldId id="387" r:id="rId108"/>
    <p:sldId id="388" r:id="rId109"/>
    <p:sldId id="371" r:id="rId110"/>
    <p:sldId id="372" r:id="rId111"/>
    <p:sldId id="337" r:id="rId112"/>
    <p:sldId id="339" r:id="rId113"/>
    <p:sldId id="338" r:id="rId114"/>
    <p:sldId id="340" r:id="rId115"/>
    <p:sldId id="373" r:id="rId116"/>
    <p:sldId id="389" r:id="rId117"/>
    <p:sldId id="390" r:id="rId118"/>
    <p:sldId id="391" r:id="rId119"/>
    <p:sldId id="392" r:id="rId120"/>
    <p:sldId id="417" r:id="rId121"/>
    <p:sldId id="419" r:id="rId122"/>
    <p:sldId id="418" r:id="rId123"/>
    <p:sldId id="421" r:id="rId124"/>
    <p:sldId id="413" r:id="rId125"/>
    <p:sldId id="414" r:id="rId126"/>
    <p:sldId id="415" r:id="rId127"/>
    <p:sldId id="416" r:id="rId128"/>
    <p:sldId id="422" r:id="rId129"/>
    <p:sldId id="423" r:id="rId130"/>
    <p:sldId id="341" r:id="rId131"/>
    <p:sldId id="342" r:id="rId132"/>
    <p:sldId id="343" r:id="rId133"/>
    <p:sldId id="344" r:id="rId134"/>
    <p:sldId id="345" r:id="rId135"/>
    <p:sldId id="346" r:id="rId136"/>
    <p:sldId id="347" r:id="rId137"/>
    <p:sldId id="348" r:id="rId138"/>
    <p:sldId id="349" r:id="rId139"/>
    <p:sldId id="350" r:id="rId140"/>
    <p:sldId id="351" r:id="rId141"/>
    <p:sldId id="352" r:id="rId142"/>
    <p:sldId id="353" r:id="rId143"/>
    <p:sldId id="354" r:id="rId144"/>
    <p:sldId id="355" r:id="rId145"/>
    <p:sldId id="356" r:id="rId1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presProps" Target="presProps.xml"/><Relationship Id="rId148" Type="http://schemas.openxmlformats.org/officeDocument/2006/relationships/viewProps" Target="viewProps.xml"/><Relationship Id="rId149" Type="http://schemas.openxmlformats.org/officeDocument/2006/relationships/theme" Target="theme/theme1.xml"/><Relationship Id="rId150" Type="http://schemas.openxmlformats.org/officeDocument/2006/relationships/tableStyles" Target="tableStyles.xml"/></Relationships>
</file>

<file path=ppt/diagrams/_rels/data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diagrams/_rels/data3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/Relationships>
</file>

<file path=ppt/diagrams/_rels/data9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svg"/><Relationship Id="rId3" Type="http://schemas.openxmlformats.org/officeDocument/2006/relationships/image" Target="../media/image22.png"/><Relationship Id="rId4" Type="http://schemas.openxmlformats.org/officeDocument/2006/relationships/image" Target="../media/image23.svg"/><Relationship Id="rId5" Type="http://schemas.openxmlformats.org/officeDocument/2006/relationships/image" Target="../media/image24.png"/><Relationship Id="rId6" Type="http://schemas.openxmlformats.org/officeDocument/2006/relationships/image" Target="../media/image25.svg"/><Relationship Id="rId7" Type="http://schemas.openxmlformats.org/officeDocument/2006/relationships/image" Target="../media/image26.png"/><Relationship Id="rId8" Type="http://schemas.openxmlformats.org/officeDocument/2006/relationships/image" Target="../media/image27.svg"/></Relationships>
</file>

<file path=ppt/diagrams/_rels/data16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sv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diagrams/_rels/data20.xml.rels><?xml version='1.0' encoding='UTF-8' standalone='yes'?>
<Relationships xmlns="http://schemas.openxmlformats.org/package/2006/relationships"><Relationship Id="rId1" Type="http://schemas.openxmlformats.org/officeDocument/2006/relationships/image" Target="../media/image69.png"/><Relationship Id="rId2" Type="http://schemas.openxmlformats.org/officeDocument/2006/relationships/image" Target="../media/image70.svg"/><Relationship Id="rId3" Type="http://schemas.openxmlformats.org/officeDocument/2006/relationships/image" Target="../media/image71.png"/><Relationship Id="rId4" Type="http://schemas.openxmlformats.org/officeDocument/2006/relationships/image" Target="../media/image72.svg"/><Relationship Id="rId5" Type="http://schemas.openxmlformats.org/officeDocument/2006/relationships/image" Target="../media/image73.png"/><Relationship Id="rId6" Type="http://schemas.openxmlformats.org/officeDocument/2006/relationships/image" Target="../media/image74.svg"/></Relationships>
</file>

<file path=ppt/diagrams/_rels/data2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20.png"/><Relationship Id="rId4" Type="http://schemas.openxmlformats.org/officeDocument/2006/relationships/image" Target="../media/image21.svg"/></Relationships>
</file>

<file path=ppt/diagrams/_rels/drawing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diagrams/_rels/drawing3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/Relationships>
</file>

<file path=ppt/diagrams/_rels/drawing9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svg"/><Relationship Id="rId3" Type="http://schemas.openxmlformats.org/officeDocument/2006/relationships/image" Target="../media/image22.png"/><Relationship Id="rId4" Type="http://schemas.openxmlformats.org/officeDocument/2006/relationships/image" Target="../media/image23.svg"/><Relationship Id="rId5" Type="http://schemas.openxmlformats.org/officeDocument/2006/relationships/image" Target="../media/image24.png"/><Relationship Id="rId6" Type="http://schemas.openxmlformats.org/officeDocument/2006/relationships/image" Target="../media/image25.svg"/><Relationship Id="rId7" Type="http://schemas.openxmlformats.org/officeDocument/2006/relationships/image" Target="../media/image26.png"/><Relationship Id="rId8" Type="http://schemas.openxmlformats.org/officeDocument/2006/relationships/image" Target="../media/image27.svg"/></Relationships>
</file>

<file path=ppt/diagrams/_rels/drawing16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sv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diagrams/_rels/drawing20.xml.rels><?xml version='1.0' encoding='UTF-8' standalone='yes'?>
<Relationships xmlns="http://schemas.openxmlformats.org/package/2006/relationships"><Relationship Id="rId1" Type="http://schemas.openxmlformats.org/officeDocument/2006/relationships/image" Target="../media/image69.png"/><Relationship Id="rId2" Type="http://schemas.openxmlformats.org/officeDocument/2006/relationships/image" Target="../media/image70.svg"/><Relationship Id="rId3" Type="http://schemas.openxmlformats.org/officeDocument/2006/relationships/image" Target="../media/image71.png"/><Relationship Id="rId4" Type="http://schemas.openxmlformats.org/officeDocument/2006/relationships/image" Target="../media/image72.svg"/><Relationship Id="rId5" Type="http://schemas.openxmlformats.org/officeDocument/2006/relationships/image" Target="../media/image73.png"/><Relationship Id="rId6" Type="http://schemas.openxmlformats.org/officeDocument/2006/relationships/image" Target="../media/image74.svg"/></Relationships>
</file>

<file path=ppt/diagrams/_rels/drawing2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20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EF98A6-365F-475B-9264-AF960B1E50E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0CFDBD-6382-449E-B2E1-00E4B01AFF97}">
      <dgm:prSet/>
      <dgm:spPr/>
      <dgm:t>
        <a:bodyPr/>
        <a:lstStyle/>
        <a:p>
          <a:r>
            <a:rPr lang="en-SG"/>
            <a:t>Company Management</a:t>
          </a:r>
          <a:endParaRPr lang="en-US"/>
        </a:p>
      </dgm:t>
    </dgm:pt>
    <dgm:pt modelId="{91AE0488-541B-4227-8397-99067EF9F60B}" type="parTrans" cxnId="{B25DB544-105A-429C-ACC6-566B41DE7438}">
      <dgm:prSet/>
      <dgm:spPr/>
      <dgm:t>
        <a:bodyPr/>
        <a:lstStyle/>
        <a:p>
          <a:endParaRPr lang="en-US"/>
        </a:p>
      </dgm:t>
    </dgm:pt>
    <dgm:pt modelId="{3EA85370-AB6D-4EA3-90B5-744FFC01927D}" type="sibTrans" cxnId="{B25DB544-105A-429C-ACC6-566B41DE7438}">
      <dgm:prSet/>
      <dgm:spPr/>
      <dgm:t>
        <a:bodyPr/>
        <a:lstStyle/>
        <a:p>
          <a:endParaRPr lang="en-US"/>
        </a:p>
      </dgm:t>
    </dgm:pt>
    <dgm:pt modelId="{D2B22191-5C26-4927-95DD-DAF755C784ED}">
      <dgm:prSet/>
      <dgm:spPr/>
      <dgm:t>
        <a:bodyPr/>
        <a:lstStyle/>
        <a:p>
          <a:r>
            <a:rPr lang="en-SG"/>
            <a:t>Competitors</a:t>
          </a:r>
          <a:endParaRPr lang="en-US"/>
        </a:p>
      </dgm:t>
    </dgm:pt>
    <dgm:pt modelId="{40D398F9-DDA9-47A9-A85B-CE8C9D9D787F}" type="parTrans" cxnId="{1DD13B7B-980B-4304-981C-38668420A96B}">
      <dgm:prSet/>
      <dgm:spPr/>
      <dgm:t>
        <a:bodyPr/>
        <a:lstStyle/>
        <a:p>
          <a:endParaRPr lang="en-US"/>
        </a:p>
      </dgm:t>
    </dgm:pt>
    <dgm:pt modelId="{EB5F7B87-980B-47D2-AD55-67CECF961F8F}" type="sibTrans" cxnId="{1DD13B7B-980B-4304-981C-38668420A96B}">
      <dgm:prSet/>
      <dgm:spPr/>
      <dgm:t>
        <a:bodyPr/>
        <a:lstStyle/>
        <a:p>
          <a:endParaRPr lang="en-US"/>
        </a:p>
      </dgm:t>
    </dgm:pt>
    <dgm:pt modelId="{77F67D79-1E68-426E-A0AE-1174E33707EF}">
      <dgm:prSet/>
      <dgm:spPr/>
      <dgm:t>
        <a:bodyPr/>
        <a:lstStyle/>
        <a:p>
          <a:r>
            <a:rPr lang="en-SG"/>
            <a:t>Customers</a:t>
          </a:r>
          <a:endParaRPr lang="en-US"/>
        </a:p>
      </dgm:t>
    </dgm:pt>
    <dgm:pt modelId="{4ADC1709-626A-4EEB-B287-AD53DA7909A7}" type="parTrans" cxnId="{5A762A7A-3B2B-42DC-982B-3533FE9002A1}">
      <dgm:prSet/>
      <dgm:spPr/>
      <dgm:t>
        <a:bodyPr/>
        <a:lstStyle/>
        <a:p>
          <a:endParaRPr lang="en-US"/>
        </a:p>
      </dgm:t>
    </dgm:pt>
    <dgm:pt modelId="{9AB52A5B-D2DE-44F1-9AB7-57A7B2BFE29E}" type="sibTrans" cxnId="{5A762A7A-3B2B-42DC-982B-3533FE9002A1}">
      <dgm:prSet/>
      <dgm:spPr/>
      <dgm:t>
        <a:bodyPr/>
        <a:lstStyle/>
        <a:p>
          <a:endParaRPr lang="en-US"/>
        </a:p>
      </dgm:t>
    </dgm:pt>
    <dgm:pt modelId="{B05C8725-F9EF-4AC3-9B5F-8379561434D0}">
      <dgm:prSet/>
      <dgm:spPr/>
      <dgm:t>
        <a:bodyPr/>
        <a:lstStyle/>
        <a:p>
          <a:r>
            <a:rPr lang="en-SG"/>
            <a:t>Employees</a:t>
          </a:r>
          <a:endParaRPr lang="en-US"/>
        </a:p>
      </dgm:t>
    </dgm:pt>
    <dgm:pt modelId="{7F0BAABD-0ABB-4671-A11E-8D05034800B8}" type="parTrans" cxnId="{92CDC065-4B8F-4522-BCA0-1DAEA0272ACD}">
      <dgm:prSet/>
      <dgm:spPr/>
      <dgm:t>
        <a:bodyPr/>
        <a:lstStyle/>
        <a:p>
          <a:endParaRPr lang="en-US"/>
        </a:p>
      </dgm:t>
    </dgm:pt>
    <dgm:pt modelId="{DE5547D9-A26E-47EA-A82C-E8B74558B222}" type="sibTrans" cxnId="{92CDC065-4B8F-4522-BCA0-1DAEA0272ACD}">
      <dgm:prSet/>
      <dgm:spPr/>
      <dgm:t>
        <a:bodyPr/>
        <a:lstStyle/>
        <a:p>
          <a:endParaRPr lang="en-US"/>
        </a:p>
      </dgm:t>
    </dgm:pt>
    <dgm:pt modelId="{E7339A77-ED52-413C-A9E4-EE8877E227A6}">
      <dgm:prSet/>
      <dgm:spPr/>
      <dgm:t>
        <a:bodyPr/>
        <a:lstStyle/>
        <a:p>
          <a:r>
            <a:rPr lang="en-SG"/>
            <a:t>Governments</a:t>
          </a:r>
          <a:endParaRPr lang="en-US"/>
        </a:p>
      </dgm:t>
    </dgm:pt>
    <dgm:pt modelId="{F5D1340A-6144-46D9-BC8F-D3F561F4D6F1}" type="parTrans" cxnId="{750B1D2D-5160-46C8-A610-B637FD59806D}">
      <dgm:prSet/>
      <dgm:spPr/>
      <dgm:t>
        <a:bodyPr/>
        <a:lstStyle/>
        <a:p>
          <a:endParaRPr lang="en-US"/>
        </a:p>
      </dgm:t>
    </dgm:pt>
    <dgm:pt modelId="{C57179C3-0943-4127-8EF1-B537AED2E70D}" type="sibTrans" cxnId="{750B1D2D-5160-46C8-A610-B637FD59806D}">
      <dgm:prSet/>
      <dgm:spPr/>
      <dgm:t>
        <a:bodyPr/>
        <a:lstStyle/>
        <a:p>
          <a:endParaRPr lang="en-US"/>
        </a:p>
      </dgm:t>
    </dgm:pt>
    <dgm:pt modelId="{4017DA5C-4193-44D0-9DE0-2138D008C052}">
      <dgm:prSet/>
      <dgm:spPr/>
      <dgm:t>
        <a:bodyPr/>
        <a:lstStyle/>
        <a:p>
          <a:r>
            <a:rPr lang="en-SG"/>
            <a:t>Investment Analysts</a:t>
          </a:r>
          <a:endParaRPr lang="en-US"/>
        </a:p>
      </dgm:t>
    </dgm:pt>
    <dgm:pt modelId="{67EDC097-0331-40E2-A970-B9D4D18AB496}" type="parTrans" cxnId="{D8F8ACAD-06A5-4D8D-B49D-722523C63F54}">
      <dgm:prSet/>
      <dgm:spPr/>
      <dgm:t>
        <a:bodyPr/>
        <a:lstStyle/>
        <a:p>
          <a:endParaRPr lang="en-US"/>
        </a:p>
      </dgm:t>
    </dgm:pt>
    <dgm:pt modelId="{E6836B57-F949-481F-8CE4-CC59D8C7414E}" type="sibTrans" cxnId="{D8F8ACAD-06A5-4D8D-B49D-722523C63F54}">
      <dgm:prSet/>
      <dgm:spPr/>
      <dgm:t>
        <a:bodyPr/>
        <a:lstStyle/>
        <a:p>
          <a:endParaRPr lang="en-US"/>
        </a:p>
      </dgm:t>
    </dgm:pt>
    <dgm:pt modelId="{12C8AA17-D892-4A1C-BC02-354012DE8E97}">
      <dgm:prSet/>
      <dgm:spPr/>
      <dgm:t>
        <a:bodyPr/>
        <a:lstStyle/>
        <a:p>
          <a:r>
            <a:rPr lang="en-SG"/>
            <a:t>Investors</a:t>
          </a:r>
          <a:endParaRPr lang="en-US"/>
        </a:p>
      </dgm:t>
    </dgm:pt>
    <dgm:pt modelId="{AC53E0D3-6750-4B96-95D7-1AA246FF8FE2}" type="parTrans" cxnId="{6F3C621A-B660-44DA-BE0D-20983AEE2C25}">
      <dgm:prSet/>
      <dgm:spPr/>
      <dgm:t>
        <a:bodyPr/>
        <a:lstStyle/>
        <a:p>
          <a:endParaRPr lang="en-US"/>
        </a:p>
      </dgm:t>
    </dgm:pt>
    <dgm:pt modelId="{648BC1F6-F046-4852-9A33-06AE98BD5F83}" type="sibTrans" cxnId="{6F3C621A-B660-44DA-BE0D-20983AEE2C25}">
      <dgm:prSet/>
      <dgm:spPr/>
      <dgm:t>
        <a:bodyPr/>
        <a:lstStyle/>
        <a:p>
          <a:endParaRPr lang="en-US"/>
        </a:p>
      </dgm:t>
    </dgm:pt>
    <dgm:pt modelId="{2AAD464D-7B9B-41AE-BBB1-20FE91F67391}">
      <dgm:prSet/>
      <dgm:spPr/>
      <dgm:t>
        <a:bodyPr/>
        <a:lstStyle/>
        <a:p>
          <a:r>
            <a:rPr lang="en-SG"/>
            <a:t>Lenders</a:t>
          </a:r>
          <a:endParaRPr lang="en-US"/>
        </a:p>
      </dgm:t>
    </dgm:pt>
    <dgm:pt modelId="{48354002-D91B-4224-A042-587ECCF7F8B4}" type="parTrans" cxnId="{58DA12A1-894E-48EF-B9B5-3839EC04E7BB}">
      <dgm:prSet/>
      <dgm:spPr/>
      <dgm:t>
        <a:bodyPr/>
        <a:lstStyle/>
        <a:p>
          <a:endParaRPr lang="en-US"/>
        </a:p>
      </dgm:t>
    </dgm:pt>
    <dgm:pt modelId="{DE0B17AC-7EFB-464A-9150-6B81F774E2B0}" type="sibTrans" cxnId="{58DA12A1-894E-48EF-B9B5-3839EC04E7BB}">
      <dgm:prSet/>
      <dgm:spPr/>
      <dgm:t>
        <a:bodyPr/>
        <a:lstStyle/>
        <a:p>
          <a:endParaRPr lang="en-US"/>
        </a:p>
      </dgm:t>
    </dgm:pt>
    <dgm:pt modelId="{8C713672-222F-452B-8F2A-313B1C4E8F7A}">
      <dgm:prSet/>
      <dgm:spPr/>
      <dgm:t>
        <a:bodyPr/>
        <a:lstStyle/>
        <a:p>
          <a:r>
            <a:rPr lang="en-SG"/>
            <a:t>Rating Agencies</a:t>
          </a:r>
          <a:endParaRPr lang="en-US"/>
        </a:p>
      </dgm:t>
    </dgm:pt>
    <dgm:pt modelId="{D13E926B-F122-4090-95B9-E01A2D517CAF}" type="parTrans" cxnId="{D50C1A6A-7351-48A5-83BA-CEC5B35B5C2E}">
      <dgm:prSet/>
      <dgm:spPr/>
      <dgm:t>
        <a:bodyPr/>
        <a:lstStyle/>
        <a:p>
          <a:endParaRPr lang="en-US"/>
        </a:p>
      </dgm:t>
    </dgm:pt>
    <dgm:pt modelId="{57C65D04-1EFA-4EAA-8720-326249D40C95}" type="sibTrans" cxnId="{D50C1A6A-7351-48A5-83BA-CEC5B35B5C2E}">
      <dgm:prSet/>
      <dgm:spPr/>
      <dgm:t>
        <a:bodyPr/>
        <a:lstStyle/>
        <a:p>
          <a:endParaRPr lang="en-US"/>
        </a:p>
      </dgm:t>
    </dgm:pt>
    <dgm:pt modelId="{8735781B-149F-43C6-A47B-A7D936CFC182}">
      <dgm:prSet/>
      <dgm:spPr/>
      <dgm:t>
        <a:bodyPr/>
        <a:lstStyle/>
        <a:p>
          <a:r>
            <a:rPr lang="en-SG"/>
            <a:t>Suppliers</a:t>
          </a:r>
          <a:endParaRPr lang="en-US"/>
        </a:p>
      </dgm:t>
    </dgm:pt>
    <dgm:pt modelId="{F17BD99A-F9CE-4554-B395-25349A46CCFD}" type="parTrans" cxnId="{FDCA76A8-097D-489C-8E12-FF3D603FAC89}">
      <dgm:prSet/>
      <dgm:spPr/>
      <dgm:t>
        <a:bodyPr/>
        <a:lstStyle/>
        <a:p>
          <a:endParaRPr lang="en-US"/>
        </a:p>
      </dgm:t>
    </dgm:pt>
    <dgm:pt modelId="{46C3805E-8167-4D62-8318-6F03EFAFE5A9}" type="sibTrans" cxnId="{FDCA76A8-097D-489C-8E12-FF3D603FAC89}">
      <dgm:prSet/>
      <dgm:spPr/>
      <dgm:t>
        <a:bodyPr/>
        <a:lstStyle/>
        <a:p>
          <a:endParaRPr lang="en-US"/>
        </a:p>
      </dgm:t>
    </dgm:pt>
    <dgm:pt modelId="{0ACFCE82-01BD-42A9-AB01-4B8692C0393E}" type="pres">
      <dgm:prSet presAssocID="{74EF98A6-365F-475B-9264-AF960B1E50E9}" presName="vert0" presStyleCnt="0">
        <dgm:presLayoutVars>
          <dgm:dir/>
          <dgm:animOne val="branch"/>
          <dgm:animLvl val="lvl"/>
        </dgm:presLayoutVars>
      </dgm:prSet>
      <dgm:spPr/>
    </dgm:pt>
    <dgm:pt modelId="{55B27D4F-FA14-4EC2-911C-47AD36C635FE}" type="pres">
      <dgm:prSet presAssocID="{F90CFDBD-6382-449E-B2E1-00E4B01AFF97}" presName="thickLine" presStyleLbl="alignNode1" presStyleIdx="0" presStyleCnt="10"/>
      <dgm:spPr/>
    </dgm:pt>
    <dgm:pt modelId="{B1ED4318-41A0-4F6E-A8CF-8EC6F0637322}" type="pres">
      <dgm:prSet presAssocID="{F90CFDBD-6382-449E-B2E1-00E4B01AFF97}" presName="horz1" presStyleCnt="0"/>
      <dgm:spPr/>
    </dgm:pt>
    <dgm:pt modelId="{AB145A10-EAB5-48D3-BD3E-28336D0142A5}" type="pres">
      <dgm:prSet presAssocID="{F90CFDBD-6382-449E-B2E1-00E4B01AFF97}" presName="tx1" presStyleLbl="revTx" presStyleIdx="0" presStyleCnt="10"/>
      <dgm:spPr/>
    </dgm:pt>
    <dgm:pt modelId="{7E256738-321A-43AF-B48D-0F29E174634C}" type="pres">
      <dgm:prSet presAssocID="{F90CFDBD-6382-449E-B2E1-00E4B01AFF97}" presName="vert1" presStyleCnt="0"/>
      <dgm:spPr/>
    </dgm:pt>
    <dgm:pt modelId="{CB4DFAE8-A777-486A-986A-F0AF726C3F72}" type="pres">
      <dgm:prSet presAssocID="{D2B22191-5C26-4927-95DD-DAF755C784ED}" presName="thickLine" presStyleLbl="alignNode1" presStyleIdx="1" presStyleCnt="10"/>
      <dgm:spPr/>
    </dgm:pt>
    <dgm:pt modelId="{3FAD2341-675D-4D26-8C9C-6866A3C6C036}" type="pres">
      <dgm:prSet presAssocID="{D2B22191-5C26-4927-95DD-DAF755C784ED}" presName="horz1" presStyleCnt="0"/>
      <dgm:spPr/>
    </dgm:pt>
    <dgm:pt modelId="{AF8D1C2F-31E9-4E3C-BD8B-3BFFB24D3C72}" type="pres">
      <dgm:prSet presAssocID="{D2B22191-5C26-4927-95DD-DAF755C784ED}" presName="tx1" presStyleLbl="revTx" presStyleIdx="1" presStyleCnt="10"/>
      <dgm:spPr/>
    </dgm:pt>
    <dgm:pt modelId="{E9DFBF72-53C4-41EE-9129-E07C0FE3CCC6}" type="pres">
      <dgm:prSet presAssocID="{D2B22191-5C26-4927-95DD-DAF755C784ED}" presName="vert1" presStyleCnt="0"/>
      <dgm:spPr/>
    </dgm:pt>
    <dgm:pt modelId="{8E2E7363-498B-4EEA-8248-401011ABEBAE}" type="pres">
      <dgm:prSet presAssocID="{77F67D79-1E68-426E-A0AE-1174E33707EF}" presName="thickLine" presStyleLbl="alignNode1" presStyleIdx="2" presStyleCnt="10"/>
      <dgm:spPr/>
    </dgm:pt>
    <dgm:pt modelId="{109238E0-E0E2-4429-B683-76E9BEE3A647}" type="pres">
      <dgm:prSet presAssocID="{77F67D79-1E68-426E-A0AE-1174E33707EF}" presName="horz1" presStyleCnt="0"/>
      <dgm:spPr/>
    </dgm:pt>
    <dgm:pt modelId="{84182576-FE5D-493E-BA31-FC286E736F5E}" type="pres">
      <dgm:prSet presAssocID="{77F67D79-1E68-426E-A0AE-1174E33707EF}" presName="tx1" presStyleLbl="revTx" presStyleIdx="2" presStyleCnt="10"/>
      <dgm:spPr/>
    </dgm:pt>
    <dgm:pt modelId="{A9E2D01C-FDA8-43AC-91FC-FBAAB7B11711}" type="pres">
      <dgm:prSet presAssocID="{77F67D79-1E68-426E-A0AE-1174E33707EF}" presName="vert1" presStyleCnt="0"/>
      <dgm:spPr/>
    </dgm:pt>
    <dgm:pt modelId="{008D756B-0D0C-4B8C-91EE-53534964D6ED}" type="pres">
      <dgm:prSet presAssocID="{B05C8725-F9EF-4AC3-9B5F-8379561434D0}" presName="thickLine" presStyleLbl="alignNode1" presStyleIdx="3" presStyleCnt="10"/>
      <dgm:spPr/>
    </dgm:pt>
    <dgm:pt modelId="{D82F28B1-584F-4923-B797-909BEB119062}" type="pres">
      <dgm:prSet presAssocID="{B05C8725-F9EF-4AC3-9B5F-8379561434D0}" presName="horz1" presStyleCnt="0"/>
      <dgm:spPr/>
    </dgm:pt>
    <dgm:pt modelId="{2EBCEAE9-1CEE-4FC0-85FD-464E3CF976F4}" type="pres">
      <dgm:prSet presAssocID="{B05C8725-F9EF-4AC3-9B5F-8379561434D0}" presName="tx1" presStyleLbl="revTx" presStyleIdx="3" presStyleCnt="10"/>
      <dgm:spPr/>
    </dgm:pt>
    <dgm:pt modelId="{4B707A9A-66C7-406A-92F2-8E61AD08435A}" type="pres">
      <dgm:prSet presAssocID="{B05C8725-F9EF-4AC3-9B5F-8379561434D0}" presName="vert1" presStyleCnt="0"/>
      <dgm:spPr/>
    </dgm:pt>
    <dgm:pt modelId="{5B4932F2-3784-46ED-BE3A-B01C55166F2A}" type="pres">
      <dgm:prSet presAssocID="{E7339A77-ED52-413C-A9E4-EE8877E227A6}" presName="thickLine" presStyleLbl="alignNode1" presStyleIdx="4" presStyleCnt="10"/>
      <dgm:spPr/>
    </dgm:pt>
    <dgm:pt modelId="{60681A38-3F25-4AA9-89FF-931AD312608B}" type="pres">
      <dgm:prSet presAssocID="{E7339A77-ED52-413C-A9E4-EE8877E227A6}" presName="horz1" presStyleCnt="0"/>
      <dgm:spPr/>
    </dgm:pt>
    <dgm:pt modelId="{3D3795B4-BE78-44BF-92F5-6B77AED09DB5}" type="pres">
      <dgm:prSet presAssocID="{E7339A77-ED52-413C-A9E4-EE8877E227A6}" presName="tx1" presStyleLbl="revTx" presStyleIdx="4" presStyleCnt="10"/>
      <dgm:spPr/>
    </dgm:pt>
    <dgm:pt modelId="{753D6B86-FE7F-4AD1-8DBD-3987A13DFBCF}" type="pres">
      <dgm:prSet presAssocID="{E7339A77-ED52-413C-A9E4-EE8877E227A6}" presName="vert1" presStyleCnt="0"/>
      <dgm:spPr/>
    </dgm:pt>
    <dgm:pt modelId="{6218706B-E0FE-43A3-8411-D8CD7A51509B}" type="pres">
      <dgm:prSet presAssocID="{4017DA5C-4193-44D0-9DE0-2138D008C052}" presName="thickLine" presStyleLbl="alignNode1" presStyleIdx="5" presStyleCnt="10"/>
      <dgm:spPr/>
    </dgm:pt>
    <dgm:pt modelId="{348ED5B0-49A6-4A07-83F4-D151EBA47904}" type="pres">
      <dgm:prSet presAssocID="{4017DA5C-4193-44D0-9DE0-2138D008C052}" presName="horz1" presStyleCnt="0"/>
      <dgm:spPr/>
    </dgm:pt>
    <dgm:pt modelId="{D34F226F-5F64-4A4B-9E5A-0ED59B0DCED8}" type="pres">
      <dgm:prSet presAssocID="{4017DA5C-4193-44D0-9DE0-2138D008C052}" presName="tx1" presStyleLbl="revTx" presStyleIdx="5" presStyleCnt="10"/>
      <dgm:spPr/>
    </dgm:pt>
    <dgm:pt modelId="{108ED7AB-BBAD-4637-8498-831DFE7EE0AB}" type="pres">
      <dgm:prSet presAssocID="{4017DA5C-4193-44D0-9DE0-2138D008C052}" presName="vert1" presStyleCnt="0"/>
      <dgm:spPr/>
    </dgm:pt>
    <dgm:pt modelId="{E2C9E698-EFF8-42A7-A61B-19038E596BED}" type="pres">
      <dgm:prSet presAssocID="{12C8AA17-D892-4A1C-BC02-354012DE8E97}" presName="thickLine" presStyleLbl="alignNode1" presStyleIdx="6" presStyleCnt="10"/>
      <dgm:spPr/>
    </dgm:pt>
    <dgm:pt modelId="{F0E9E65D-72D5-4252-B694-C9B2DF04E0EF}" type="pres">
      <dgm:prSet presAssocID="{12C8AA17-D892-4A1C-BC02-354012DE8E97}" presName="horz1" presStyleCnt="0"/>
      <dgm:spPr/>
    </dgm:pt>
    <dgm:pt modelId="{9A547181-FEBC-4467-A499-AD1E2AAECA97}" type="pres">
      <dgm:prSet presAssocID="{12C8AA17-D892-4A1C-BC02-354012DE8E97}" presName="tx1" presStyleLbl="revTx" presStyleIdx="6" presStyleCnt="10"/>
      <dgm:spPr/>
    </dgm:pt>
    <dgm:pt modelId="{A6825675-DBFF-4820-AC08-E9D0A93616B2}" type="pres">
      <dgm:prSet presAssocID="{12C8AA17-D892-4A1C-BC02-354012DE8E97}" presName="vert1" presStyleCnt="0"/>
      <dgm:spPr/>
    </dgm:pt>
    <dgm:pt modelId="{D2A6618A-B1BC-4893-84FF-95300BFC4FAE}" type="pres">
      <dgm:prSet presAssocID="{2AAD464D-7B9B-41AE-BBB1-20FE91F67391}" presName="thickLine" presStyleLbl="alignNode1" presStyleIdx="7" presStyleCnt="10"/>
      <dgm:spPr/>
    </dgm:pt>
    <dgm:pt modelId="{1CA43492-47B6-4748-A8B9-AD850E688C29}" type="pres">
      <dgm:prSet presAssocID="{2AAD464D-7B9B-41AE-BBB1-20FE91F67391}" presName="horz1" presStyleCnt="0"/>
      <dgm:spPr/>
    </dgm:pt>
    <dgm:pt modelId="{8A5D8867-0D08-4718-B668-014CCEAC0B98}" type="pres">
      <dgm:prSet presAssocID="{2AAD464D-7B9B-41AE-BBB1-20FE91F67391}" presName="tx1" presStyleLbl="revTx" presStyleIdx="7" presStyleCnt="10"/>
      <dgm:spPr/>
    </dgm:pt>
    <dgm:pt modelId="{5DB3A4E2-05E8-41D0-A63D-4C1F6E536A1E}" type="pres">
      <dgm:prSet presAssocID="{2AAD464D-7B9B-41AE-BBB1-20FE91F67391}" presName="vert1" presStyleCnt="0"/>
      <dgm:spPr/>
    </dgm:pt>
    <dgm:pt modelId="{F4F43BB2-8ADC-4B16-B3F9-BC43094C83FA}" type="pres">
      <dgm:prSet presAssocID="{8C713672-222F-452B-8F2A-313B1C4E8F7A}" presName="thickLine" presStyleLbl="alignNode1" presStyleIdx="8" presStyleCnt="10"/>
      <dgm:spPr/>
    </dgm:pt>
    <dgm:pt modelId="{39C84ADE-3180-4EBB-AE4E-60C342D2B8C7}" type="pres">
      <dgm:prSet presAssocID="{8C713672-222F-452B-8F2A-313B1C4E8F7A}" presName="horz1" presStyleCnt="0"/>
      <dgm:spPr/>
    </dgm:pt>
    <dgm:pt modelId="{450D536D-D648-4CB8-8A0B-90AE5C34C8AA}" type="pres">
      <dgm:prSet presAssocID="{8C713672-222F-452B-8F2A-313B1C4E8F7A}" presName="tx1" presStyleLbl="revTx" presStyleIdx="8" presStyleCnt="10"/>
      <dgm:spPr/>
    </dgm:pt>
    <dgm:pt modelId="{1935B615-BA0A-4673-9917-910C0A37E60D}" type="pres">
      <dgm:prSet presAssocID="{8C713672-222F-452B-8F2A-313B1C4E8F7A}" presName="vert1" presStyleCnt="0"/>
      <dgm:spPr/>
    </dgm:pt>
    <dgm:pt modelId="{15B82E8D-D901-4880-AC60-2B9F122B345A}" type="pres">
      <dgm:prSet presAssocID="{8735781B-149F-43C6-A47B-A7D936CFC182}" presName="thickLine" presStyleLbl="alignNode1" presStyleIdx="9" presStyleCnt="10"/>
      <dgm:spPr/>
    </dgm:pt>
    <dgm:pt modelId="{0D68B687-4684-4302-92AD-37EA71897521}" type="pres">
      <dgm:prSet presAssocID="{8735781B-149F-43C6-A47B-A7D936CFC182}" presName="horz1" presStyleCnt="0"/>
      <dgm:spPr/>
    </dgm:pt>
    <dgm:pt modelId="{7B08A158-6622-49C4-B72F-8E00351E992D}" type="pres">
      <dgm:prSet presAssocID="{8735781B-149F-43C6-A47B-A7D936CFC182}" presName="tx1" presStyleLbl="revTx" presStyleIdx="9" presStyleCnt="10"/>
      <dgm:spPr/>
    </dgm:pt>
    <dgm:pt modelId="{EF02C101-FF62-4B75-8918-8CB7DD7AB86B}" type="pres">
      <dgm:prSet presAssocID="{8735781B-149F-43C6-A47B-A7D936CFC182}" presName="vert1" presStyleCnt="0"/>
      <dgm:spPr/>
    </dgm:pt>
  </dgm:ptLst>
  <dgm:cxnLst>
    <dgm:cxn modelId="{6F3C621A-B660-44DA-BE0D-20983AEE2C25}" srcId="{74EF98A6-365F-475B-9264-AF960B1E50E9}" destId="{12C8AA17-D892-4A1C-BC02-354012DE8E97}" srcOrd="6" destOrd="0" parTransId="{AC53E0D3-6750-4B96-95D7-1AA246FF8FE2}" sibTransId="{648BC1F6-F046-4852-9A33-06AE98BD5F83}"/>
    <dgm:cxn modelId="{ED8FF220-5249-4F93-A50C-F04BABCFFF07}" type="presOf" srcId="{2AAD464D-7B9B-41AE-BBB1-20FE91F67391}" destId="{8A5D8867-0D08-4718-B668-014CCEAC0B98}" srcOrd="0" destOrd="0" presId="urn:microsoft.com/office/officeart/2008/layout/LinedList"/>
    <dgm:cxn modelId="{750B1D2D-5160-46C8-A610-B637FD59806D}" srcId="{74EF98A6-365F-475B-9264-AF960B1E50E9}" destId="{E7339A77-ED52-413C-A9E4-EE8877E227A6}" srcOrd="4" destOrd="0" parTransId="{F5D1340A-6144-46D9-BC8F-D3F561F4D6F1}" sibTransId="{C57179C3-0943-4127-8EF1-B537AED2E70D}"/>
    <dgm:cxn modelId="{1335C433-180C-4003-8F3D-7D84F40EE85F}" type="presOf" srcId="{E7339A77-ED52-413C-A9E4-EE8877E227A6}" destId="{3D3795B4-BE78-44BF-92F5-6B77AED09DB5}" srcOrd="0" destOrd="0" presId="urn:microsoft.com/office/officeart/2008/layout/LinedList"/>
    <dgm:cxn modelId="{A6AD833C-AD12-4236-AFF2-93F3CDB750C5}" type="presOf" srcId="{4017DA5C-4193-44D0-9DE0-2138D008C052}" destId="{D34F226F-5F64-4A4B-9E5A-0ED59B0DCED8}" srcOrd="0" destOrd="0" presId="urn:microsoft.com/office/officeart/2008/layout/LinedList"/>
    <dgm:cxn modelId="{B25DB544-105A-429C-ACC6-566B41DE7438}" srcId="{74EF98A6-365F-475B-9264-AF960B1E50E9}" destId="{F90CFDBD-6382-449E-B2E1-00E4B01AFF97}" srcOrd="0" destOrd="0" parTransId="{91AE0488-541B-4227-8397-99067EF9F60B}" sibTransId="{3EA85370-AB6D-4EA3-90B5-744FFC01927D}"/>
    <dgm:cxn modelId="{F1BB2C45-B697-45DD-BDC7-70FF5E05377D}" type="presOf" srcId="{12C8AA17-D892-4A1C-BC02-354012DE8E97}" destId="{9A547181-FEBC-4467-A499-AD1E2AAECA97}" srcOrd="0" destOrd="0" presId="urn:microsoft.com/office/officeart/2008/layout/LinedList"/>
    <dgm:cxn modelId="{3AF32453-BE55-4745-BD49-205057903DE7}" type="presOf" srcId="{D2B22191-5C26-4927-95DD-DAF755C784ED}" destId="{AF8D1C2F-31E9-4E3C-BD8B-3BFFB24D3C72}" srcOrd="0" destOrd="0" presId="urn:microsoft.com/office/officeart/2008/layout/LinedList"/>
    <dgm:cxn modelId="{92CDC065-4B8F-4522-BCA0-1DAEA0272ACD}" srcId="{74EF98A6-365F-475B-9264-AF960B1E50E9}" destId="{B05C8725-F9EF-4AC3-9B5F-8379561434D0}" srcOrd="3" destOrd="0" parTransId="{7F0BAABD-0ABB-4671-A11E-8D05034800B8}" sibTransId="{DE5547D9-A26E-47EA-A82C-E8B74558B222}"/>
    <dgm:cxn modelId="{D50C1A6A-7351-48A5-83BA-CEC5B35B5C2E}" srcId="{74EF98A6-365F-475B-9264-AF960B1E50E9}" destId="{8C713672-222F-452B-8F2A-313B1C4E8F7A}" srcOrd="8" destOrd="0" parTransId="{D13E926B-F122-4090-95B9-E01A2D517CAF}" sibTransId="{57C65D04-1EFA-4EAA-8720-326249D40C95}"/>
    <dgm:cxn modelId="{62CD7B70-1465-4524-A247-731A8107EF7C}" type="presOf" srcId="{77F67D79-1E68-426E-A0AE-1174E33707EF}" destId="{84182576-FE5D-493E-BA31-FC286E736F5E}" srcOrd="0" destOrd="0" presId="urn:microsoft.com/office/officeart/2008/layout/LinedList"/>
    <dgm:cxn modelId="{C3231673-DEDF-468A-AA76-04D4E29EBCB8}" type="presOf" srcId="{B05C8725-F9EF-4AC3-9B5F-8379561434D0}" destId="{2EBCEAE9-1CEE-4FC0-85FD-464E3CF976F4}" srcOrd="0" destOrd="0" presId="urn:microsoft.com/office/officeart/2008/layout/LinedList"/>
    <dgm:cxn modelId="{5A762A7A-3B2B-42DC-982B-3533FE9002A1}" srcId="{74EF98A6-365F-475B-9264-AF960B1E50E9}" destId="{77F67D79-1E68-426E-A0AE-1174E33707EF}" srcOrd="2" destOrd="0" parTransId="{4ADC1709-626A-4EEB-B287-AD53DA7909A7}" sibTransId="{9AB52A5B-D2DE-44F1-9AB7-57A7B2BFE29E}"/>
    <dgm:cxn modelId="{1DD13B7B-980B-4304-981C-38668420A96B}" srcId="{74EF98A6-365F-475B-9264-AF960B1E50E9}" destId="{D2B22191-5C26-4927-95DD-DAF755C784ED}" srcOrd="1" destOrd="0" parTransId="{40D398F9-DDA9-47A9-A85B-CE8C9D9D787F}" sibTransId="{EB5F7B87-980B-47D2-AD55-67CECF961F8F}"/>
    <dgm:cxn modelId="{67311089-5134-437F-9FAB-1B06912A9E4B}" type="presOf" srcId="{74EF98A6-365F-475B-9264-AF960B1E50E9}" destId="{0ACFCE82-01BD-42A9-AB01-4B8692C0393E}" srcOrd="0" destOrd="0" presId="urn:microsoft.com/office/officeart/2008/layout/LinedList"/>
    <dgm:cxn modelId="{DDFD9C8B-5B09-435E-8A69-BB2CA9CF862A}" type="presOf" srcId="{8C713672-222F-452B-8F2A-313B1C4E8F7A}" destId="{450D536D-D648-4CB8-8A0B-90AE5C34C8AA}" srcOrd="0" destOrd="0" presId="urn:microsoft.com/office/officeart/2008/layout/LinedList"/>
    <dgm:cxn modelId="{9BD55D92-F787-44EB-BB56-E23943AE75B3}" type="presOf" srcId="{F90CFDBD-6382-449E-B2E1-00E4B01AFF97}" destId="{AB145A10-EAB5-48D3-BD3E-28336D0142A5}" srcOrd="0" destOrd="0" presId="urn:microsoft.com/office/officeart/2008/layout/LinedList"/>
    <dgm:cxn modelId="{58DA12A1-894E-48EF-B9B5-3839EC04E7BB}" srcId="{74EF98A6-365F-475B-9264-AF960B1E50E9}" destId="{2AAD464D-7B9B-41AE-BBB1-20FE91F67391}" srcOrd="7" destOrd="0" parTransId="{48354002-D91B-4224-A042-587ECCF7F8B4}" sibTransId="{DE0B17AC-7EFB-464A-9150-6B81F774E2B0}"/>
    <dgm:cxn modelId="{FDCA76A8-097D-489C-8E12-FF3D603FAC89}" srcId="{74EF98A6-365F-475B-9264-AF960B1E50E9}" destId="{8735781B-149F-43C6-A47B-A7D936CFC182}" srcOrd="9" destOrd="0" parTransId="{F17BD99A-F9CE-4554-B395-25349A46CCFD}" sibTransId="{46C3805E-8167-4D62-8318-6F03EFAFE5A9}"/>
    <dgm:cxn modelId="{D8F8ACAD-06A5-4D8D-B49D-722523C63F54}" srcId="{74EF98A6-365F-475B-9264-AF960B1E50E9}" destId="{4017DA5C-4193-44D0-9DE0-2138D008C052}" srcOrd="5" destOrd="0" parTransId="{67EDC097-0331-40E2-A970-B9D4D18AB496}" sibTransId="{E6836B57-F949-481F-8CE4-CC59D8C7414E}"/>
    <dgm:cxn modelId="{456386B3-E2C9-40E2-94F1-0C3356E77702}" type="presOf" srcId="{8735781B-149F-43C6-A47B-A7D936CFC182}" destId="{7B08A158-6622-49C4-B72F-8E00351E992D}" srcOrd="0" destOrd="0" presId="urn:microsoft.com/office/officeart/2008/layout/LinedList"/>
    <dgm:cxn modelId="{1B914240-AB87-432F-ABCA-091CDAE66998}" type="presParOf" srcId="{0ACFCE82-01BD-42A9-AB01-4B8692C0393E}" destId="{55B27D4F-FA14-4EC2-911C-47AD36C635FE}" srcOrd="0" destOrd="0" presId="urn:microsoft.com/office/officeart/2008/layout/LinedList"/>
    <dgm:cxn modelId="{796A91E1-BCCA-455D-BD5C-CD7AB2A257D1}" type="presParOf" srcId="{0ACFCE82-01BD-42A9-AB01-4B8692C0393E}" destId="{B1ED4318-41A0-4F6E-A8CF-8EC6F0637322}" srcOrd="1" destOrd="0" presId="urn:microsoft.com/office/officeart/2008/layout/LinedList"/>
    <dgm:cxn modelId="{F5FD8ABC-FF34-47AA-9D75-5AEB51E3067D}" type="presParOf" srcId="{B1ED4318-41A0-4F6E-A8CF-8EC6F0637322}" destId="{AB145A10-EAB5-48D3-BD3E-28336D0142A5}" srcOrd="0" destOrd="0" presId="urn:microsoft.com/office/officeart/2008/layout/LinedList"/>
    <dgm:cxn modelId="{1763B230-D1C3-40D4-80EB-228E3422A9E4}" type="presParOf" srcId="{B1ED4318-41A0-4F6E-A8CF-8EC6F0637322}" destId="{7E256738-321A-43AF-B48D-0F29E174634C}" srcOrd="1" destOrd="0" presId="urn:microsoft.com/office/officeart/2008/layout/LinedList"/>
    <dgm:cxn modelId="{3FF16ECA-2894-4462-9EB0-E579207FEF05}" type="presParOf" srcId="{0ACFCE82-01BD-42A9-AB01-4B8692C0393E}" destId="{CB4DFAE8-A777-486A-986A-F0AF726C3F72}" srcOrd="2" destOrd="0" presId="urn:microsoft.com/office/officeart/2008/layout/LinedList"/>
    <dgm:cxn modelId="{EED743E5-A4F0-498A-B2DC-878E1EB57432}" type="presParOf" srcId="{0ACFCE82-01BD-42A9-AB01-4B8692C0393E}" destId="{3FAD2341-675D-4D26-8C9C-6866A3C6C036}" srcOrd="3" destOrd="0" presId="urn:microsoft.com/office/officeart/2008/layout/LinedList"/>
    <dgm:cxn modelId="{B7E065DC-A76E-4DC5-B046-5B8A6845F56E}" type="presParOf" srcId="{3FAD2341-675D-4D26-8C9C-6866A3C6C036}" destId="{AF8D1C2F-31E9-4E3C-BD8B-3BFFB24D3C72}" srcOrd="0" destOrd="0" presId="urn:microsoft.com/office/officeart/2008/layout/LinedList"/>
    <dgm:cxn modelId="{B4BA8804-46D9-4275-A431-542342035B57}" type="presParOf" srcId="{3FAD2341-675D-4D26-8C9C-6866A3C6C036}" destId="{E9DFBF72-53C4-41EE-9129-E07C0FE3CCC6}" srcOrd="1" destOrd="0" presId="urn:microsoft.com/office/officeart/2008/layout/LinedList"/>
    <dgm:cxn modelId="{7979E016-5F43-4015-B8BA-AC76ECBF1D4E}" type="presParOf" srcId="{0ACFCE82-01BD-42A9-AB01-4B8692C0393E}" destId="{8E2E7363-498B-4EEA-8248-401011ABEBAE}" srcOrd="4" destOrd="0" presId="urn:microsoft.com/office/officeart/2008/layout/LinedList"/>
    <dgm:cxn modelId="{C59EF3AB-2F69-4CB1-B0ED-76E831ABB3B0}" type="presParOf" srcId="{0ACFCE82-01BD-42A9-AB01-4B8692C0393E}" destId="{109238E0-E0E2-4429-B683-76E9BEE3A647}" srcOrd="5" destOrd="0" presId="urn:microsoft.com/office/officeart/2008/layout/LinedList"/>
    <dgm:cxn modelId="{D2BF8256-18B6-48C6-B200-C162A46935BB}" type="presParOf" srcId="{109238E0-E0E2-4429-B683-76E9BEE3A647}" destId="{84182576-FE5D-493E-BA31-FC286E736F5E}" srcOrd="0" destOrd="0" presId="urn:microsoft.com/office/officeart/2008/layout/LinedList"/>
    <dgm:cxn modelId="{434F7E0F-473C-4CC3-9187-3B5BF1157C56}" type="presParOf" srcId="{109238E0-E0E2-4429-B683-76E9BEE3A647}" destId="{A9E2D01C-FDA8-43AC-91FC-FBAAB7B11711}" srcOrd="1" destOrd="0" presId="urn:microsoft.com/office/officeart/2008/layout/LinedList"/>
    <dgm:cxn modelId="{79E41F59-C1C8-417E-AEE2-F1B84DCDEB95}" type="presParOf" srcId="{0ACFCE82-01BD-42A9-AB01-4B8692C0393E}" destId="{008D756B-0D0C-4B8C-91EE-53534964D6ED}" srcOrd="6" destOrd="0" presId="urn:microsoft.com/office/officeart/2008/layout/LinedList"/>
    <dgm:cxn modelId="{D1671D54-009A-42B5-A409-094CCFABAB16}" type="presParOf" srcId="{0ACFCE82-01BD-42A9-AB01-4B8692C0393E}" destId="{D82F28B1-584F-4923-B797-909BEB119062}" srcOrd="7" destOrd="0" presId="urn:microsoft.com/office/officeart/2008/layout/LinedList"/>
    <dgm:cxn modelId="{0D12F867-276F-413B-927F-B80BE7D2F6F0}" type="presParOf" srcId="{D82F28B1-584F-4923-B797-909BEB119062}" destId="{2EBCEAE9-1CEE-4FC0-85FD-464E3CF976F4}" srcOrd="0" destOrd="0" presId="urn:microsoft.com/office/officeart/2008/layout/LinedList"/>
    <dgm:cxn modelId="{942C7E5B-D361-4935-91A4-38CF7A7B74D3}" type="presParOf" srcId="{D82F28B1-584F-4923-B797-909BEB119062}" destId="{4B707A9A-66C7-406A-92F2-8E61AD08435A}" srcOrd="1" destOrd="0" presId="urn:microsoft.com/office/officeart/2008/layout/LinedList"/>
    <dgm:cxn modelId="{65706048-5D05-4B52-97B5-DE8DAAE4FDD1}" type="presParOf" srcId="{0ACFCE82-01BD-42A9-AB01-4B8692C0393E}" destId="{5B4932F2-3784-46ED-BE3A-B01C55166F2A}" srcOrd="8" destOrd="0" presId="urn:microsoft.com/office/officeart/2008/layout/LinedList"/>
    <dgm:cxn modelId="{57276DF7-FA79-4C28-8C8C-AE24FAE590AC}" type="presParOf" srcId="{0ACFCE82-01BD-42A9-AB01-4B8692C0393E}" destId="{60681A38-3F25-4AA9-89FF-931AD312608B}" srcOrd="9" destOrd="0" presId="urn:microsoft.com/office/officeart/2008/layout/LinedList"/>
    <dgm:cxn modelId="{B11B6655-9A60-4045-873C-5BF789C70D2E}" type="presParOf" srcId="{60681A38-3F25-4AA9-89FF-931AD312608B}" destId="{3D3795B4-BE78-44BF-92F5-6B77AED09DB5}" srcOrd="0" destOrd="0" presId="urn:microsoft.com/office/officeart/2008/layout/LinedList"/>
    <dgm:cxn modelId="{667566F5-FEAA-4762-9313-C8E6397E66D0}" type="presParOf" srcId="{60681A38-3F25-4AA9-89FF-931AD312608B}" destId="{753D6B86-FE7F-4AD1-8DBD-3987A13DFBCF}" srcOrd="1" destOrd="0" presId="urn:microsoft.com/office/officeart/2008/layout/LinedList"/>
    <dgm:cxn modelId="{9B69794D-EB33-447D-8543-7E1454FBDEA5}" type="presParOf" srcId="{0ACFCE82-01BD-42A9-AB01-4B8692C0393E}" destId="{6218706B-E0FE-43A3-8411-D8CD7A51509B}" srcOrd="10" destOrd="0" presId="urn:microsoft.com/office/officeart/2008/layout/LinedList"/>
    <dgm:cxn modelId="{673281A2-D868-42B3-8E5C-222A2ED45088}" type="presParOf" srcId="{0ACFCE82-01BD-42A9-AB01-4B8692C0393E}" destId="{348ED5B0-49A6-4A07-83F4-D151EBA47904}" srcOrd="11" destOrd="0" presId="urn:microsoft.com/office/officeart/2008/layout/LinedList"/>
    <dgm:cxn modelId="{382AAC1C-5528-4AB3-85C9-983816F65A41}" type="presParOf" srcId="{348ED5B0-49A6-4A07-83F4-D151EBA47904}" destId="{D34F226F-5F64-4A4B-9E5A-0ED59B0DCED8}" srcOrd="0" destOrd="0" presId="urn:microsoft.com/office/officeart/2008/layout/LinedList"/>
    <dgm:cxn modelId="{8772F40D-7052-4356-BF30-1DD72B5F9CD2}" type="presParOf" srcId="{348ED5B0-49A6-4A07-83F4-D151EBA47904}" destId="{108ED7AB-BBAD-4637-8498-831DFE7EE0AB}" srcOrd="1" destOrd="0" presId="urn:microsoft.com/office/officeart/2008/layout/LinedList"/>
    <dgm:cxn modelId="{B9B0C9A5-CBC5-42E8-B4A2-E7C3FC7DF0CF}" type="presParOf" srcId="{0ACFCE82-01BD-42A9-AB01-4B8692C0393E}" destId="{E2C9E698-EFF8-42A7-A61B-19038E596BED}" srcOrd="12" destOrd="0" presId="urn:microsoft.com/office/officeart/2008/layout/LinedList"/>
    <dgm:cxn modelId="{FACCD194-F2E0-40E8-B880-B667D0C366A4}" type="presParOf" srcId="{0ACFCE82-01BD-42A9-AB01-4B8692C0393E}" destId="{F0E9E65D-72D5-4252-B694-C9B2DF04E0EF}" srcOrd="13" destOrd="0" presId="urn:microsoft.com/office/officeart/2008/layout/LinedList"/>
    <dgm:cxn modelId="{B6E51ECE-FD1A-4C61-9622-8EE8E5F8A5B6}" type="presParOf" srcId="{F0E9E65D-72D5-4252-B694-C9B2DF04E0EF}" destId="{9A547181-FEBC-4467-A499-AD1E2AAECA97}" srcOrd="0" destOrd="0" presId="urn:microsoft.com/office/officeart/2008/layout/LinedList"/>
    <dgm:cxn modelId="{BBEAC505-E853-4101-BBA5-FAE6C8E0F704}" type="presParOf" srcId="{F0E9E65D-72D5-4252-B694-C9B2DF04E0EF}" destId="{A6825675-DBFF-4820-AC08-E9D0A93616B2}" srcOrd="1" destOrd="0" presId="urn:microsoft.com/office/officeart/2008/layout/LinedList"/>
    <dgm:cxn modelId="{A07640F0-A598-4363-8E24-419CA0757838}" type="presParOf" srcId="{0ACFCE82-01BD-42A9-AB01-4B8692C0393E}" destId="{D2A6618A-B1BC-4893-84FF-95300BFC4FAE}" srcOrd="14" destOrd="0" presId="urn:microsoft.com/office/officeart/2008/layout/LinedList"/>
    <dgm:cxn modelId="{C39D2AB6-E40A-4346-91E0-FEFD07C9DDA2}" type="presParOf" srcId="{0ACFCE82-01BD-42A9-AB01-4B8692C0393E}" destId="{1CA43492-47B6-4748-A8B9-AD850E688C29}" srcOrd="15" destOrd="0" presId="urn:microsoft.com/office/officeart/2008/layout/LinedList"/>
    <dgm:cxn modelId="{F2F7DB02-4E7F-4237-A338-697E19DABC82}" type="presParOf" srcId="{1CA43492-47B6-4748-A8B9-AD850E688C29}" destId="{8A5D8867-0D08-4718-B668-014CCEAC0B98}" srcOrd="0" destOrd="0" presId="urn:microsoft.com/office/officeart/2008/layout/LinedList"/>
    <dgm:cxn modelId="{8DC9B034-476E-447F-9F82-9D8193994500}" type="presParOf" srcId="{1CA43492-47B6-4748-A8B9-AD850E688C29}" destId="{5DB3A4E2-05E8-41D0-A63D-4C1F6E536A1E}" srcOrd="1" destOrd="0" presId="urn:microsoft.com/office/officeart/2008/layout/LinedList"/>
    <dgm:cxn modelId="{F7A64D49-C560-4663-AC7E-09B6BD3EE9DA}" type="presParOf" srcId="{0ACFCE82-01BD-42A9-AB01-4B8692C0393E}" destId="{F4F43BB2-8ADC-4B16-B3F9-BC43094C83FA}" srcOrd="16" destOrd="0" presId="urn:microsoft.com/office/officeart/2008/layout/LinedList"/>
    <dgm:cxn modelId="{7582E242-07E0-4A49-BD72-363D257C153A}" type="presParOf" srcId="{0ACFCE82-01BD-42A9-AB01-4B8692C0393E}" destId="{39C84ADE-3180-4EBB-AE4E-60C342D2B8C7}" srcOrd="17" destOrd="0" presId="urn:microsoft.com/office/officeart/2008/layout/LinedList"/>
    <dgm:cxn modelId="{C6EEA42E-B885-4BC4-9877-405AF0684694}" type="presParOf" srcId="{39C84ADE-3180-4EBB-AE4E-60C342D2B8C7}" destId="{450D536D-D648-4CB8-8A0B-90AE5C34C8AA}" srcOrd="0" destOrd="0" presId="urn:microsoft.com/office/officeart/2008/layout/LinedList"/>
    <dgm:cxn modelId="{AAF26FFC-E800-4B34-9B5A-84C94F5792E0}" type="presParOf" srcId="{39C84ADE-3180-4EBB-AE4E-60C342D2B8C7}" destId="{1935B615-BA0A-4673-9917-910C0A37E60D}" srcOrd="1" destOrd="0" presId="urn:microsoft.com/office/officeart/2008/layout/LinedList"/>
    <dgm:cxn modelId="{654F0E44-86EF-4706-B7BE-CE725788C8E7}" type="presParOf" srcId="{0ACFCE82-01BD-42A9-AB01-4B8692C0393E}" destId="{15B82E8D-D901-4880-AC60-2B9F122B345A}" srcOrd="18" destOrd="0" presId="urn:microsoft.com/office/officeart/2008/layout/LinedList"/>
    <dgm:cxn modelId="{2AFFA259-D7DF-478A-9981-F854E91AE0F3}" type="presParOf" srcId="{0ACFCE82-01BD-42A9-AB01-4B8692C0393E}" destId="{0D68B687-4684-4302-92AD-37EA71897521}" srcOrd="19" destOrd="0" presId="urn:microsoft.com/office/officeart/2008/layout/LinedList"/>
    <dgm:cxn modelId="{48BAE869-D0A6-421D-A971-1D38E2BD13A8}" type="presParOf" srcId="{0D68B687-4684-4302-92AD-37EA71897521}" destId="{7B08A158-6622-49C4-B72F-8E00351E992D}" srcOrd="0" destOrd="0" presId="urn:microsoft.com/office/officeart/2008/layout/LinedList"/>
    <dgm:cxn modelId="{5C2D0DFF-8BE3-4315-9E37-BB2E70DE8B25}" type="presParOf" srcId="{0D68B687-4684-4302-92AD-37EA71897521}" destId="{EF02C101-FF62-4B75-8918-8CB7DD7AB86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0ECDA8-35C2-45B5-99B4-35F1446FD22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082B50F-D6B4-4D41-9243-FA8628B6D3C4}">
      <dgm:prSet/>
      <dgm:spPr/>
      <dgm:t>
        <a:bodyPr/>
        <a:lstStyle/>
        <a:p>
          <a:r>
            <a:rPr lang="en-SG"/>
            <a:t>Statement of Financial Position</a:t>
          </a:r>
          <a:endParaRPr lang="en-US"/>
        </a:p>
      </dgm:t>
    </dgm:pt>
    <dgm:pt modelId="{E425F9EB-F1F6-43FA-9395-F7B9A1B00B00}" type="parTrans" cxnId="{83DC85FC-6586-4E5B-984C-2369560A7513}">
      <dgm:prSet/>
      <dgm:spPr/>
      <dgm:t>
        <a:bodyPr/>
        <a:lstStyle/>
        <a:p>
          <a:endParaRPr lang="en-US"/>
        </a:p>
      </dgm:t>
    </dgm:pt>
    <dgm:pt modelId="{BEEA3553-8211-4BF7-97F0-8138A0BE52D6}" type="sibTrans" cxnId="{83DC85FC-6586-4E5B-984C-2369560A7513}">
      <dgm:prSet/>
      <dgm:spPr/>
      <dgm:t>
        <a:bodyPr/>
        <a:lstStyle/>
        <a:p>
          <a:endParaRPr lang="en-US"/>
        </a:p>
      </dgm:t>
    </dgm:pt>
    <dgm:pt modelId="{176D7C3A-5F49-4934-8EB7-0458ADDE87FF}">
      <dgm:prSet/>
      <dgm:spPr/>
      <dgm:t>
        <a:bodyPr/>
        <a:lstStyle/>
        <a:p>
          <a:r>
            <a:rPr lang="en-SG"/>
            <a:t>Balance Sheet</a:t>
          </a:r>
          <a:endParaRPr lang="en-US"/>
        </a:p>
      </dgm:t>
    </dgm:pt>
    <dgm:pt modelId="{A0C86631-76C5-4A35-BC26-8CF95E1F6485}" type="parTrans" cxnId="{190A5BCB-7CFA-4ED5-BC20-A8D7C3964E85}">
      <dgm:prSet/>
      <dgm:spPr/>
      <dgm:t>
        <a:bodyPr/>
        <a:lstStyle/>
        <a:p>
          <a:endParaRPr lang="en-US"/>
        </a:p>
      </dgm:t>
    </dgm:pt>
    <dgm:pt modelId="{B2CDB206-9CA9-4C90-8A2E-D46A480319C9}" type="sibTrans" cxnId="{190A5BCB-7CFA-4ED5-BC20-A8D7C3964E85}">
      <dgm:prSet/>
      <dgm:spPr/>
      <dgm:t>
        <a:bodyPr/>
        <a:lstStyle/>
        <a:p>
          <a:endParaRPr lang="en-US"/>
        </a:p>
      </dgm:t>
    </dgm:pt>
    <dgm:pt modelId="{1B6E4B05-4F77-497F-803D-506CC7FE3D54}">
      <dgm:prSet/>
      <dgm:spPr/>
      <dgm:t>
        <a:bodyPr/>
        <a:lstStyle/>
        <a:p>
          <a:r>
            <a:rPr lang="en-SG"/>
            <a:t>Statement of Financial Results</a:t>
          </a:r>
          <a:endParaRPr lang="en-US"/>
        </a:p>
      </dgm:t>
    </dgm:pt>
    <dgm:pt modelId="{D44E813A-2FC5-4D02-9A31-AD97DDDF4591}" type="parTrans" cxnId="{5CF70C21-E4AE-43BD-98AD-4652461872DD}">
      <dgm:prSet/>
      <dgm:spPr/>
      <dgm:t>
        <a:bodyPr/>
        <a:lstStyle/>
        <a:p>
          <a:endParaRPr lang="en-US"/>
        </a:p>
      </dgm:t>
    </dgm:pt>
    <dgm:pt modelId="{C7DFF8EA-9830-49FA-B69B-9ADA099A3763}" type="sibTrans" cxnId="{5CF70C21-E4AE-43BD-98AD-4652461872DD}">
      <dgm:prSet/>
      <dgm:spPr/>
      <dgm:t>
        <a:bodyPr/>
        <a:lstStyle/>
        <a:p>
          <a:endParaRPr lang="en-US"/>
        </a:p>
      </dgm:t>
    </dgm:pt>
    <dgm:pt modelId="{F43D2008-D5D7-4734-B5C6-61BDB5BD3863}">
      <dgm:prSet/>
      <dgm:spPr/>
      <dgm:t>
        <a:bodyPr/>
        <a:lstStyle/>
        <a:p>
          <a:r>
            <a:rPr lang="en-SG"/>
            <a:t>Profit and Loss Statement</a:t>
          </a:r>
          <a:endParaRPr lang="en-US"/>
        </a:p>
      </dgm:t>
    </dgm:pt>
    <dgm:pt modelId="{DE7F7DE2-2CB1-49C2-A7C5-ADCBF432D74C}" type="parTrans" cxnId="{E45C7DFB-B41F-4BF5-BAA2-F7BFA7CEF8F1}">
      <dgm:prSet/>
      <dgm:spPr/>
      <dgm:t>
        <a:bodyPr/>
        <a:lstStyle/>
        <a:p>
          <a:endParaRPr lang="en-US"/>
        </a:p>
      </dgm:t>
    </dgm:pt>
    <dgm:pt modelId="{B241FCFF-A2CD-4F4D-808A-A83D82ADD43D}" type="sibTrans" cxnId="{E45C7DFB-B41F-4BF5-BAA2-F7BFA7CEF8F1}">
      <dgm:prSet/>
      <dgm:spPr/>
      <dgm:t>
        <a:bodyPr/>
        <a:lstStyle/>
        <a:p>
          <a:endParaRPr lang="en-US"/>
        </a:p>
      </dgm:t>
    </dgm:pt>
    <dgm:pt modelId="{96C2F967-5154-4EC1-A89B-AC69F627D99C}">
      <dgm:prSet/>
      <dgm:spPr/>
      <dgm:t>
        <a:bodyPr/>
        <a:lstStyle/>
        <a:p>
          <a:r>
            <a:rPr lang="en-SG"/>
            <a:t>Cash Flows</a:t>
          </a:r>
          <a:endParaRPr lang="en-US"/>
        </a:p>
      </dgm:t>
    </dgm:pt>
    <dgm:pt modelId="{B75A0F38-B338-4526-8D04-60CDA2211BC0}" type="parTrans" cxnId="{6902E05D-5677-4E8F-A247-DC41A61CAAF9}">
      <dgm:prSet/>
      <dgm:spPr/>
      <dgm:t>
        <a:bodyPr/>
        <a:lstStyle/>
        <a:p>
          <a:endParaRPr lang="en-US"/>
        </a:p>
      </dgm:t>
    </dgm:pt>
    <dgm:pt modelId="{1FAC78A9-5A57-45C3-A303-8AE6B6A3D9C0}" type="sibTrans" cxnId="{6902E05D-5677-4E8F-A247-DC41A61CAAF9}">
      <dgm:prSet/>
      <dgm:spPr/>
      <dgm:t>
        <a:bodyPr/>
        <a:lstStyle/>
        <a:p>
          <a:endParaRPr lang="en-US"/>
        </a:p>
      </dgm:t>
    </dgm:pt>
    <dgm:pt modelId="{027C5FB8-7C46-4775-B1FE-E80A2E35EC0F}">
      <dgm:prSet/>
      <dgm:spPr/>
      <dgm:t>
        <a:bodyPr/>
        <a:lstStyle/>
        <a:p>
          <a:r>
            <a:rPr lang="en-SG"/>
            <a:t>Cash Flows statement</a:t>
          </a:r>
          <a:endParaRPr lang="en-US"/>
        </a:p>
      </dgm:t>
    </dgm:pt>
    <dgm:pt modelId="{511B7F12-D969-437A-9DB6-5B0AE2CBE88B}" type="parTrans" cxnId="{A6A36126-690F-4D83-872C-F1919B0F9B41}">
      <dgm:prSet/>
      <dgm:spPr/>
      <dgm:t>
        <a:bodyPr/>
        <a:lstStyle/>
        <a:p>
          <a:endParaRPr lang="en-US"/>
        </a:p>
      </dgm:t>
    </dgm:pt>
    <dgm:pt modelId="{FB9B1619-4C9B-4116-B2AD-971B5F8ECD17}" type="sibTrans" cxnId="{A6A36126-690F-4D83-872C-F1919B0F9B41}">
      <dgm:prSet/>
      <dgm:spPr/>
      <dgm:t>
        <a:bodyPr/>
        <a:lstStyle/>
        <a:p>
          <a:endParaRPr lang="en-US"/>
        </a:p>
      </dgm:t>
    </dgm:pt>
    <dgm:pt modelId="{D228C2E9-8DB3-4BA9-A153-F691D65D2CDE}" type="pres">
      <dgm:prSet presAssocID="{010ECDA8-35C2-45B5-99B4-35F1446FD227}" presName="root" presStyleCnt="0">
        <dgm:presLayoutVars>
          <dgm:dir/>
          <dgm:resizeHandles val="exact"/>
        </dgm:presLayoutVars>
      </dgm:prSet>
      <dgm:spPr/>
    </dgm:pt>
    <dgm:pt modelId="{89CDA377-85E6-4E4D-95D2-E34E2329B808}" type="pres">
      <dgm:prSet presAssocID="{B082B50F-D6B4-4D41-9243-FA8628B6D3C4}" presName="compNode" presStyleCnt="0"/>
      <dgm:spPr/>
    </dgm:pt>
    <dgm:pt modelId="{04ACA710-EFFD-4C8C-BFFA-4B76CF665F88}" type="pres">
      <dgm:prSet presAssocID="{B082B50F-D6B4-4D41-9243-FA8628B6D3C4}" presName="bgRect" presStyleLbl="bgShp" presStyleIdx="0" presStyleCnt="3"/>
      <dgm:spPr/>
    </dgm:pt>
    <dgm:pt modelId="{3FA304E5-7151-402D-9551-2C115E9894D5}" type="pres">
      <dgm:prSet presAssocID="{B082B50F-D6B4-4D41-9243-FA8628B6D3C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38DCB862-3743-4248-B142-44D5631BD3D3}" type="pres">
      <dgm:prSet presAssocID="{B082B50F-D6B4-4D41-9243-FA8628B6D3C4}" presName="spaceRect" presStyleCnt="0"/>
      <dgm:spPr/>
    </dgm:pt>
    <dgm:pt modelId="{7399FEA2-1F0E-41CE-B4E7-C88164F2CB07}" type="pres">
      <dgm:prSet presAssocID="{B082B50F-D6B4-4D41-9243-FA8628B6D3C4}" presName="parTx" presStyleLbl="revTx" presStyleIdx="0" presStyleCnt="6">
        <dgm:presLayoutVars>
          <dgm:chMax val="0"/>
          <dgm:chPref val="0"/>
        </dgm:presLayoutVars>
      </dgm:prSet>
      <dgm:spPr/>
    </dgm:pt>
    <dgm:pt modelId="{21540E47-FDDE-4A5C-B1D1-CDDC0DB08DE3}" type="pres">
      <dgm:prSet presAssocID="{B082B50F-D6B4-4D41-9243-FA8628B6D3C4}" presName="desTx" presStyleLbl="revTx" presStyleIdx="1" presStyleCnt="6">
        <dgm:presLayoutVars/>
      </dgm:prSet>
      <dgm:spPr/>
    </dgm:pt>
    <dgm:pt modelId="{31702DF3-5511-4A64-BC14-2FD901173973}" type="pres">
      <dgm:prSet presAssocID="{BEEA3553-8211-4BF7-97F0-8138A0BE52D6}" presName="sibTrans" presStyleCnt="0"/>
      <dgm:spPr/>
    </dgm:pt>
    <dgm:pt modelId="{E2506813-66E8-4CD3-A661-031465E754DD}" type="pres">
      <dgm:prSet presAssocID="{1B6E4B05-4F77-497F-803D-506CC7FE3D54}" presName="compNode" presStyleCnt="0"/>
      <dgm:spPr/>
    </dgm:pt>
    <dgm:pt modelId="{AD5040D1-6711-4056-B684-A0574C68DE7B}" type="pres">
      <dgm:prSet presAssocID="{1B6E4B05-4F77-497F-803D-506CC7FE3D54}" presName="bgRect" presStyleLbl="bgShp" presStyleIdx="1" presStyleCnt="3"/>
      <dgm:spPr/>
    </dgm:pt>
    <dgm:pt modelId="{7E827195-ABA0-4DB4-8CE3-CF1CBDFC81FE}" type="pres">
      <dgm:prSet presAssocID="{1B6E4B05-4F77-497F-803D-506CC7FE3D5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82FDC6D-8D27-4AA5-8A6C-777011A1F062}" type="pres">
      <dgm:prSet presAssocID="{1B6E4B05-4F77-497F-803D-506CC7FE3D54}" presName="spaceRect" presStyleCnt="0"/>
      <dgm:spPr/>
    </dgm:pt>
    <dgm:pt modelId="{B963E736-531F-4094-B1C2-FFFB5DA1FC8A}" type="pres">
      <dgm:prSet presAssocID="{1B6E4B05-4F77-497F-803D-506CC7FE3D54}" presName="parTx" presStyleLbl="revTx" presStyleIdx="2" presStyleCnt="6">
        <dgm:presLayoutVars>
          <dgm:chMax val="0"/>
          <dgm:chPref val="0"/>
        </dgm:presLayoutVars>
      </dgm:prSet>
      <dgm:spPr/>
    </dgm:pt>
    <dgm:pt modelId="{1F64BF50-59F9-4F9B-8BB5-8601F51DE7A2}" type="pres">
      <dgm:prSet presAssocID="{1B6E4B05-4F77-497F-803D-506CC7FE3D54}" presName="desTx" presStyleLbl="revTx" presStyleIdx="3" presStyleCnt="6">
        <dgm:presLayoutVars/>
      </dgm:prSet>
      <dgm:spPr/>
    </dgm:pt>
    <dgm:pt modelId="{29715000-F01A-47BE-8E20-78ADD976F0CF}" type="pres">
      <dgm:prSet presAssocID="{C7DFF8EA-9830-49FA-B69B-9ADA099A3763}" presName="sibTrans" presStyleCnt="0"/>
      <dgm:spPr/>
    </dgm:pt>
    <dgm:pt modelId="{0A14A90B-37A8-4D7C-B8CD-C6C7152BB27D}" type="pres">
      <dgm:prSet presAssocID="{96C2F967-5154-4EC1-A89B-AC69F627D99C}" presName="compNode" presStyleCnt="0"/>
      <dgm:spPr/>
    </dgm:pt>
    <dgm:pt modelId="{63DB22A9-877C-4D69-AD25-011B825791A6}" type="pres">
      <dgm:prSet presAssocID="{96C2F967-5154-4EC1-A89B-AC69F627D99C}" presName="bgRect" presStyleLbl="bgShp" presStyleIdx="2" presStyleCnt="3"/>
      <dgm:spPr/>
    </dgm:pt>
    <dgm:pt modelId="{FC5DB394-48D7-4726-83D9-B340AA18F504}" type="pres">
      <dgm:prSet presAssocID="{96C2F967-5154-4EC1-A89B-AC69F627D99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5B208511-BC76-4073-A7A6-2B63EF07FFAA}" type="pres">
      <dgm:prSet presAssocID="{96C2F967-5154-4EC1-A89B-AC69F627D99C}" presName="spaceRect" presStyleCnt="0"/>
      <dgm:spPr/>
    </dgm:pt>
    <dgm:pt modelId="{B59E42B2-5BD3-4E41-B6D6-103BE13FEF10}" type="pres">
      <dgm:prSet presAssocID="{96C2F967-5154-4EC1-A89B-AC69F627D99C}" presName="parTx" presStyleLbl="revTx" presStyleIdx="4" presStyleCnt="6">
        <dgm:presLayoutVars>
          <dgm:chMax val="0"/>
          <dgm:chPref val="0"/>
        </dgm:presLayoutVars>
      </dgm:prSet>
      <dgm:spPr/>
    </dgm:pt>
    <dgm:pt modelId="{814EE892-A617-45C3-8DF8-F3B45758FF0C}" type="pres">
      <dgm:prSet presAssocID="{96C2F967-5154-4EC1-A89B-AC69F627D99C}" presName="desTx" presStyleLbl="revTx" presStyleIdx="5" presStyleCnt="6">
        <dgm:presLayoutVars/>
      </dgm:prSet>
      <dgm:spPr/>
    </dgm:pt>
  </dgm:ptLst>
  <dgm:cxnLst>
    <dgm:cxn modelId="{F700DB01-4EBE-4A4A-BA5D-8B0D81B4B9B7}" type="presOf" srcId="{F43D2008-D5D7-4734-B5C6-61BDB5BD3863}" destId="{1F64BF50-59F9-4F9B-8BB5-8601F51DE7A2}" srcOrd="0" destOrd="0" presId="urn:microsoft.com/office/officeart/2018/2/layout/IconVerticalSolidList"/>
    <dgm:cxn modelId="{0458BD13-4E0C-4FC9-A205-459527607661}" type="presOf" srcId="{96C2F967-5154-4EC1-A89B-AC69F627D99C}" destId="{B59E42B2-5BD3-4E41-B6D6-103BE13FEF10}" srcOrd="0" destOrd="0" presId="urn:microsoft.com/office/officeart/2018/2/layout/IconVerticalSolidList"/>
    <dgm:cxn modelId="{5CF70C21-E4AE-43BD-98AD-4652461872DD}" srcId="{010ECDA8-35C2-45B5-99B4-35F1446FD227}" destId="{1B6E4B05-4F77-497F-803D-506CC7FE3D54}" srcOrd="1" destOrd="0" parTransId="{D44E813A-2FC5-4D02-9A31-AD97DDDF4591}" sibTransId="{C7DFF8EA-9830-49FA-B69B-9ADA099A3763}"/>
    <dgm:cxn modelId="{3558B524-B643-4DA6-BE4F-E5A11865A82A}" type="presOf" srcId="{B082B50F-D6B4-4D41-9243-FA8628B6D3C4}" destId="{7399FEA2-1F0E-41CE-B4E7-C88164F2CB07}" srcOrd="0" destOrd="0" presId="urn:microsoft.com/office/officeart/2018/2/layout/IconVerticalSolidList"/>
    <dgm:cxn modelId="{A6A36126-690F-4D83-872C-F1919B0F9B41}" srcId="{96C2F967-5154-4EC1-A89B-AC69F627D99C}" destId="{027C5FB8-7C46-4775-B1FE-E80A2E35EC0F}" srcOrd="0" destOrd="0" parTransId="{511B7F12-D969-437A-9DB6-5B0AE2CBE88B}" sibTransId="{FB9B1619-4C9B-4116-B2AD-971B5F8ECD17}"/>
    <dgm:cxn modelId="{C132C234-FF5B-4915-BC1B-6FD820F9C946}" type="presOf" srcId="{1B6E4B05-4F77-497F-803D-506CC7FE3D54}" destId="{B963E736-531F-4094-B1C2-FFFB5DA1FC8A}" srcOrd="0" destOrd="0" presId="urn:microsoft.com/office/officeart/2018/2/layout/IconVerticalSolidList"/>
    <dgm:cxn modelId="{48578643-E822-421D-A1CB-2FD4EC2EDF5C}" type="presOf" srcId="{010ECDA8-35C2-45B5-99B4-35F1446FD227}" destId="{D228C2E9-8DB3-4BA9-A153-F691D65D2CDE}" srcOrd="0" destOrd="0" presId="urn:microsoft.com/office/officeart/2018/2/layout/IconVerticalSolidList"/>
    <dgm:cxn modelId="{6902E05D-5677-4E8F-A247-DC41A61CAAF9}" srcId="{010ECDA8-35C2-45B5-99B4-35F1446FD227}" destId="{96C2F967-5154-4EC1-A89B-AC69F627D99C}" srcOrd="2" destOrd="0" parTransId="{B75A0F38-B338-4526-8D04-60CDA2211BC0}" sibTransId="{1FAC78A9-5A57-45C3-A303-8AE6B6A3D9C0}"/>
    <dgm:cxn modelId="{FDB17C97-154B-45A4-BB69-A8293119556C}" type="presOf" srcId="{027C5FB8-7C46-4775-B1FE-E80A2E35EC0F}" destId="{814EE892-A617-45C3-8DF8-F3B45758FF0C}" srcOrd="0" destOrd="0" presId="urn:microsoft.com/office/officeart/2018/2/layout/IconVerticalSolidList"/>
    <dgm:cxn modelId="{1EFB56BC-F073-43FD-BEF3-E4D39B3C0C34}" type="presOf" srcId="{176D7C3A-5F49-4934-8EB7-0458ADDE87FF}" destId="{21540E47-FDDE-4A5C-B1D1-CDDC0DB08DE3}" srcOrd="0" destOrd="0" presId="urn:microsoft.com/office/officeart/2018/2/layout/IconVerticalSolidList"/>
    <dgm:cxn modelId="{190A5BCB-7CFA-4ED5-BC20-A8D7C3964E85}" srcId="{B082B50F-D6B4-4D41-9243-FA8628B6D3C4}" destId="{176D7C3A-5F49-4934-8EB7-0458ADDE87FF}" srcOrd="0" destOrd="0" parTransId="{A0C86631-76C5-4A35-BC26-8CF95E1F6485}" sibTransId="{B2CDB206-9CA9-4C90-8A2E-D46A480319C9}"/>
    <dgm:cxn modelId="{E45C7DFB-B41F-4BF5-BAA2-F7BFA7CEF8F1}" srcId="{1B6E4B05-4F77-497F-803D-506CC7FE3D54}" destId="{F43D2008-D5D7-4734-B5C6-61BDB5BD3863}" srcOrd="0" destOrd="0" parTransId="{DE7F7DE2-2CB1-49C2-A7C5-ADCBF432D74C}" sibTransId="{B241FCFF-A2CD-4F4D-808A-A83D82ADD43D}"/>
    <dgm:cxn modelId="{83DC85FC-6586-4E5B-984C-2369560A7513}" srcId="{010ECDA8-35C2-45B5-99B4-35F1446FD227}" destId="{B082B50F-D6B4-4D41-9243-FA8628B6D3C4}" srcOrd="0" destOrd="0" parTransId="{E425F9EB-F1F6-43FA-9395-F7B9A1B00B00}" sibTransId="{BEEA3553-8211-4BF7-97F0-8138A0BE52D6}"/>
    <dgm:cxn modelId="{51854E53-2641-48AB-9214-E7A5B9BFDA3C}" type="presParOf" srcId="{D228C2E9-8DB3-4BA9-A153-F691D65D2CDE}" destId="{89CDA377-85E6-4E4D-95D2-E34E2329B808}" srcOrd="0" destOrd="0" presId="urn:microsoft.com/office/officeart/2018/2/layout/IconVerticalSolidList"/>
    <dgm:cxn modelId="{0DEFC863-8367-4B1E-BF08-851CAB6B6490}" type="presParOf" srcId="{89CDA377-85E6-4E4D-95D2-E34E2329B808}" destId="{04ACA710-EFFD-4C8C-BFFA-4B76CF665F88}" srcOrd="0" destOrd="0" presId="urn:microsoft.com/office/officeart/2018/2/layout/IconVerticalSolidList"/>
    <dgm:cxn modelId="{6D89FF3D-EBD1-4CFA-951A-77C00C035EAB}" type="presParOf" srcId="{89CDA377-85E6-4E4D-95D2-E34E2329B808}" destId="{3FA304E5-7151-402D-9551-2C115E9894D5}" srcOrd="1" destOrd="0" presId="urn:microsoft.com/office/officeart/2018/2/layout/IconVerticalSolidList"/>
    <dgm:cxn modelId="{A9339E13-0E2A-42AD-9002-B4A7C9B3CC90}" type="presParOf" srcId="{89CDA377-85E6-4E4D-95D2-E34E2329B808}" destId="{38DCB862-3743-4248-B142-44D5631BD3D3}" srcOrd="2" destOrd="0" presId="urn:microsoft.com/office/officeart/2018/2/layout/IconVerticalSolidList"/>
    <dgm:cxn modelId="{8A4EB370-EA7F-4CA0-BAE4-11B88DE556E8}" type="presParOf" srcId="{89CDA377-85E6-4E4D-95D2-E34E2329B808}" destId="{7399FEA2-1F0E-41CE-B4E7-C88164F2CB07}" srcOrd="3" destOrd="0" presId="urn:microsoft.com/office/officeart/2018/2/layout/IconVerticalSolidList"/>
    <dgm:cxn modelId="{AE18217A-E44A-4BC7-AC24-D08F27921776}" type="presParOf" srcId="{89CDA377-85E6-4E4D-95D2-E34E2329B808}" destId="{21540E47-FDDE-4A5C-B1D1-CDDC0DB08DE3}" srcOrd="4" destOrd="0" presId="urn:microsoft.com/office/officeart/2018/2/layout/IconVerticalSolidList"/>
    <dgm:cxn modelId="{F46D38AA-6E66-48A4-8C34-25782827C543}" type="presParOf" srcId="{D228C2E9-8DB3-4BA9-A153-F691D65D2CDE}" destId="{31702DF3-5511-4A64-BC14-2FD901173973}" srcOrd="1" destOrd="0" presId="urn:microsoft.com/office/officeart/2018/2/layout/IconVerticalSolidList"/>
    <dgm:cxn modelId="{992FF919-55CB-4AD8-9C82-FB4C024D8445}" type="presParOf" srcId="{D228C2E9-8DB3-4BA9-A153-F691D65D2CDE}" destId="{E2506813-66E8-4CD3-A661-031465E754DD}" srcOrd="2" destOrd="0" presId="urn:microsoft.com/office/officeart/2018/2/layout/IconVerticalSolidList"/>
    <dgm:cxn modelId="{AA6C136C-5BD7-4978-9BF6-B2A7D61E6B66}" type="presParOf" srcId="{E2506813-66E8-4CD3-A661-031465E754DD}" destId="{AD5040D1-6711-4056-B684-A0574C68DE7B}" srcOrd="0" destOrd="0" presId="urn:microsoft.com/office/officeart/2018/2/layout/IconVerticalSolidList"/>
    <dgm:cxn modelId="{5DA95F13-6C8E-4F9C-864B-48BCBA9C38A1}" type="presParOf" srcId="{E2506813-66E8-4CD3-A661-031465E754DD}" destId="{7E827195-ABA0-4DB4-8CE3-CF1CBDFC81FE}" srcOrd="1" destOrd="0" presId="urn:microsoft.com/office/officeart/2018/2/layout/IconVerticalSolidList"/>
    <dgm:cxn modelId="{9085C561-DBE5-4A89-A6BD-60FF600D1744}" type="presParOf" srcId="{E2506813-66E8-4CD3-A661-031465E754DD}" destId="{A82FDC6D-8D27-4AA5-8A6C-777011A1F062}" srcOrd="2" destOrd="0" presId="urn:microsoft.com/office/officeart/2018/2/layout/IconVerticalSolidList"/>
    <dgm:cxn modelId="{74736F32-465E-4588-B503-B3C66550215C}" type="presParOf" srcId="{E2506813-66E8-4CD3-A661-031465E754DD}" destId="{B963E736-531F-4094-B1C2-FFFB5DA1FC8A}" srcOrd="3" destOrd="0" presId="urn:microsoft.com/office/officeart/2018/2/layout/IconVerticalSolidList"/>
    <dgm:cxn modelId="{49BD97CD-154D-4705-A82E-48714680AD4C}" type="presParOf" srcId="{E2506813-66E8-4CD3-A661-031465E754DD}" destId="{1F64BF50-59F9-4F9B-8BB5-8601F51DE7A2}" srcOrd="4" destOrd="0" presId="urn:microsoft.com/office/officeart/2018/2/layout/IconVerticalSolidList"/>
    <dgm:cxn modelId="{3259E417-5F67-44FE-9308-0735E27A8C55}" type="presParOf" srcId="{D228C2E9-8DB3-4BA9-A153-F691D65D2CDE}" destId="{29715000-F01A-47BE-8E20-78ADD976F0CF}" srcOrd="3" destOrd="0" presId="urn:microsoft.com/office/officeart/2018/2/layout/IconVerticalSolidList"/>
    <dgm:cxn modelId="{04B42B61-DF8D-4999-B908-5EDE87A9505F}" type="presParOf" srcId="{D228C2E9-8DB3-4BA9-A153-F691D65D2CDE}" destId="{0A14A90B-37A8-4D7C-B8CD-C6C7152BB27D}" srcOrd="4" destOrd="0" presId="urn:microsoft.com/office/officeart/2018/2/layout/IconVerticalSolidList"/>
    <dgm:cxn modelId="{07D461AC-0CC7-4FFA-9F39-5F12EF891182}" type="presParOf" srcId="{0A14A90B-37A8-4D7C-B8CD-C6C7152BB27D}" destId="{63DB22A9-877C-4D69-AD25-011B825791A6}" srcOrd="0" destOrd="0" presId="urn:microsoft.com/office/officeart/2018/2/layout/IconVerticalSolidList"/>
    <dgm:cxn modelId="{87078041-1CAA-4808-821E-173AC8C1ACC6}" type="presParOf" srcId="{0A14A90B-37A8-4D7C-B8CD-C6C7152BB27D}" destId="{FC5DB394-48D7-4726-83D9-B340AA18F504}" srcOrd="1" destOrd="0" presId="urn:microsoft.com/office/officeart/2018/2/layout/IconVerticalSolidList"/>
    <dgm:cxn modelId="{8A220E6E-8E4C-46F0-9BBE-9227824DBA5D}" type="presParOf" srcId="{0A14A90B-37A8-4D7C-B8CD-C6C7152BB27D}" destId="{5B208511-BC76-4073-A7A6-2B63EF07FFAA}" srcOrd="2" destOrd="0" presId="urn:microsoft.com/office/officeart/2018/2/layout/IconVerticalSolidList"/>
    <dgm:cxn modelId="{5503DDEA-042B-447D-A816-9CEB90301BC6}" type="presParOf" srcId="{0A14A90B-37A8-4D7C-B8CD-C6C7152BB27D}" destId="{B59E42B2-5BD3-4E41-B6D6-103BE13FEF10}" srcOrd="3" destOrd="0" presId="urn:microsoft.com/office/officeart/2018/2/layout/IconVerticalSolidList"/>
    <dgm:cxn modelId="{D6D63938-BEA1-4551-BFB4-F330DFC0C088}" type="presParOf" srcId="{0A14A90B-37A8-4D7C-B8CD-C6C7152BB27D}" destId="{814EE892-A617-45C3-8DF8-F3B45758FF0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817B78-9D29-490E-BEB2-66E5B61AC25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C6458BF-2ECE-4EB0-9A3B-13A7A22E3889}">
      <dgm:prSet/>
      <dgm:spPr/>
      <dgm:t>
        <a:bodyPr/>
        <a:lstStyle/>
        <a:p>
          <a:r>
            <a:rPr lang="en-SG"/>
            <a:t>Cash accounting records business transactions when cash flows into business</a:t>
          </a:r>
          <a:endParaRPr lang="en-US"/>
        </a:p>
      </dgm:t>
    </dgm:pt>
    <dgm:pt modelId="{88F4A98D-2978-4759-8A2D-C96DFB7241F4}" type="parTrans" cxnId="{B2DEBCD8-242E-4222-A41C-A6EAA11F62D4}">
      <dgm:prSet/>
      <dgm:spPr/>
      <dgm:t>
        <a:bodyPr/>
        <a:lstStyle/>
        <a:p>
          <a:endParaRPr lang="en-US"/>
        </a:p>
      </dgm:t>
    </dgm:pt>
    <dgm:pt modelId="{671C69DD-208A-4951-90A2-1238F90C552A}" type="sibTrans" cxnId="{B2DEBCD8-242E-4222-A41C-A6EAA11F62D4}">
      <dgm:prSet/>
      <dgm:spPr/>
      <dgm:t>
        <a:bodyPr/>
        <a:lstStyle/>
        <a:p>
          <a:endParaRPr lang="en-US"/>
        </a:p>
      </dgm:t>
    </dgm:pt>
    <dgm:pt modelId="{83116265-05C7-4923-BC0C-76959AF0EFC5}">
      <dgm:prSet/>
      <dgm:spPr/>
      <dgm:t>
        <a:bodyPr/>
        <a:lstStyle/>
        <a:p>
          <a:r>
            <a:rPr lang="en-SG"/>
            <a:t>Accrual Accounting records business transactions when they are incurred regardless of when money actually changes hands</a:t>
          </a:r>
          <a:endParaRPr lang="en-US"/>
        </a:p>
      </dgm:t>
    </dgm:pt>
    <dgm:pt modelId="{3C0E3E64-0A6F-4AE7-BE9A-6847ED5BAFDC}" type="parTrans" cxnId="{165C8721-5926-49A7-93C0-BDE55ABFDF2A}">
      <dgm:prSet/>
      <dgm:spPr/>
      <dgm:t>
        <a:bodyPr/>
        <a:lstStyle/>
        <a:p>
          <a:endParaRPr lang="en-US"/>
        </a:p>
      </dgm:t>
    </dgm:pt>
    <dgm:pt modelId="{A50C8A57-7D20-46CE-B6D0-781CDDDBDE07}" type="sibTrans" cxnId="{165C8721-5926-49A7-93C0-BDE55ABFDF2A}">
      <dgm:prSet/>
      <dgm:spPr/>
      <dgm:t>
        <a:bodyPr/>
        <a:lstStyle/>
        <a:p>
          <a:endParaRPr lang="en-US"/>
        </a:p>
      </dgm:t>
    </dgm:pt>
    <dgm:pt modelId="{2C122BF9-943D-4134-8EF6-8750AA041C32}">
      <dgm:prSet/>
      <dgm:spPr/>
      <dgm:t>
        <a:bodyPr/>
        <a:lstStyle/>
        <a:p>
          <a:r>
            <a:rPr lang="en-SG"/>
            <a:t>Financial Statements use accrual accounting</a:t>
          </a:r>
          <a:endParaRPr lang="en-US"/>
        </a:p>
      </dgm:t>
    </dgm:pt>
    <dgm:pt modelId="{3C99F2C6-324C-4FD8-AF11-19F3771466F3}" type="parTrans" cxnId="{7E2DFEC9-547F-4FEB-B20D-5EF842BBD080}">
      <dgm:prSet/>
      <dgm:spPr/>
      <dgm:t>
        <a:bodyPr/>
        <a:lstStyle/>
        <a:p>
          <a:endParaRPr lang="en-US"/>
        </a:p>
      </dgm:t>
    </dgm:pt>
    <dgm:pt modelId="{3E985121-80EC-4C73-ACD3-AD2392F87C07}" type="sibTrans" cxnId="{7E2DFEC9-547F-4FEB-B20D-5EF842BBD080}">
      <dgm:prSet/>
      <dgm:spPr/>
      <dgm:t>
        <a:bodyPr/>
        <a:lstStyle/>
        <a:p>
          <a:endParaRPr lang="en-US"/>
        </a:p>
      </dgm:t>
    </dgm:pt>
    <dgm:pt modelId="{368E8CBF-DAF9-4020-94F6-24233A37DA49}" type="pres">
      <dgm:prSet presAssocID="{11817B78-9D29-490E-BEB2-66E5B61AC253}" presName="root" presStyleCnt="0">
        <dgm:presLayoutVars>
          <dgm:dir/>
          <dgm:resizeHandles val="exact"/>
        </dgm:presLayoutVars>
      </dgm:prSet>
      <dgm:spPr/>
    </dgm:pt>
    <dgm:pt modelId="{5C439C44-1561-4E01-98A6-DB0CAE2E8F00}" type="pres">
      <dgm:prSet presAssocID="{CC6458BF-2ECE-4EB0-9A3B-13A7A22E3889}" presName="compNode" presStyleCnt="0"/>
      <dgm:spPr/>
    </dgm:pt>
    <dgm:pt modelId="{A125CE2A-61CE-4307-8C9E-810BF0A3F199}" type="pres">
      <dgm:prSet presAssocID="{CC6458BF-2ECE-4EB0-9A3B-13A7A22E3889}" presName="bgRect" presStyleLbl="bgShp" presStyleIdx="0" presStyleCnt="3"/>
      <dgm:spPr/>
    </dgm:pt>
    <dgm:pt modelId="{4F4EED72-DA21-4521-AE99-9945C0D6A10C}" type="pres">
      <dgm:prSet presAssocID="{CC6458BF-2ECE-4EB0-9A3B-13A7A22E388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44BC691-8F10-4B5D-88EC-00552CA50DBF}" type="pres">
      <dgm:prSet presAssocID="{CC6458BF-2ECE-4EB0-9A3B-13A7A22E3889}" presName="spaceRect" presStyleCnt="0"/>
      <dgm:spPr/>
    </dgm:pt>
    <dgm:pt modelId="{956DE35F-7FE0-47BA-8981-9830D3FC23A0}" type="pres">
      <dgm:prSet presAssocID="{CC6458BF-2ECE-4EB0-9A3B-13A7A22E3889}" presName="parTx" presStyleLbl="revTx" presStyleIdx="0" presStyleCnt="3">
        <dgm:presLayoutVars>
          <dgm:chMax val="0"/>
          <dgm:chPref val="0"/>
        </dgm:presLayoutVars>
      </dgm:prSet>
      <dgm:spPr/>
    </dgm:pt>
    <dgm:pt modelId="{D25CBA85-7C69-433D-805F-436B33F13392}" type="pres">
      <dgm:prSet presAssocID="{671C69DD-208A-4951-90A2-1238F90C552A}" presName="sibTrans" presStyleCnt="0"/>
      <dgm:spPr/>
    </dgm:pt>
    <dgm:pt modelId="{100D6E85-EC66-409D-99C3-777D97676327}" type="pres">
      <dgm:prSet presAssocID="{83116265-05C7-4923-BC0C-76959AF0EFC5}" presName="compNode" presStyleCnt="0"/>
      <dgm:spPr/>
    </dgm:pt>
    <dgm:pt modelId="{49940007-3C66-40CC-BAED-E8563B3618D9}" type="pres">
      <dgm:prSet presAssocID="{83116265-05C7-4923-BC0C-76959AF0EFC5}" presName="bgRect" presStyleLbl="bgShp" presStyleIdx="1" presStyleCnt="3"/>
      <dgm:spPr/>
    </dgm:pt>
    <dgm:pt modelId="{72C2F402-8BBD-42CC-B344-C03457E2BD92}" type="pres">
      <dgm:prSet presAssocID="{83116265-05C7-4923-BC0C-76959AF0EFC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D4FAA183-23F6-4843-984E-1CA503E3FE78}" type="pres">
      <dgm:prSet presAssocID="{83116265-05C7-4923-BC0C-76959AF0EFC5}" presName="spaceRect" presStyleCnt="0"/>
      <dgm:spPr/>
    </dgm:pt>
    <dgm:pt modelId="{5FCEE617-7520-4FF0-9842-82021A8E82DB}" type="pres">
      <dgm:prSet presAssocID="{83116265-05C7-4923-BC0C-76959AF0EFC5}" presName="parTx" presStyleLbl="revTx" presStyleIdx="1" presStyleCnt="3">
        <dgm:presLayoutVars>
          <dgm:chMax val="0"/>
          <dgm:chPref val="0"/>
        </dgm:presLayoutVars>
      </dgm:prSet>
      <dgm:spPr/>
    </dgm:pt>
    <dgm:pt modelId="{374A1532-3BED-46B5-8D0E-B6FEC22FF107}" type="pres">
      <dgm:prSet presAssocID="{A50C8A57-7D20-46CE-B6D0-781CDDDBDE07}" presName="sibTrans" presStyleCnt="0"/>
      <dgm:spPr/>
    </dgm:pt>
    <dgm:pt modelId="{5006935E-45D6-4608-AC8E-8D63B523F8BE}" type="pres">
      <dgm:prSet presAssocID="{2C122BF9-943D-4134-8EF6-8750AA041C32}" presName="compNode" presStyleCnt="0"/>
      <dgm:spPr/>
    </dgm:pt>
    <dgm:pt modelId="{432D99B3-C26E-4926-AC62-12776D9BB0A5}" type="pres">
      <dgm:prSet presAssocID="{2C122BF9-943D-4134-8EF6-8750AA041C32}" presName="bgRect" presStyleLbl="bgShp" presStyleIdx="2" presStyleCnt="3"/>
      <dgm:spPr/>
    </dgm:pt>
    <dgm:pt modelId="{2BC8B87F-2E96-41C5-A287-0C1442AED19E}" type="pres">
      <dgm:prSet presAssocID="{2C122BF9-943D-4134-8EF6-8750AA041C3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95302192-4317-4563-A8E7-ABCEE7269591}" type="pres">
      <dgm:prSet presAssocID="{2C122BF9-943D-4134-8EF6-8750AA041C32}" presName="spaceRect" presStyleCnt="0"/>
      <dgm:spPr/>
    </dgm:pt>
    <dgm:pt modelId="{6469BDA4-AFD5-4D8A-A901-BBFEA938D7AF}" type="pres">
      <dgm:prSet presAssocID="{2C122BF9-943D-4134-8EF6-8750AA041C3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65C8721-5926-49A7-93C0-BDE55ABFDF2A}" srcId="{11817B78-9D29-490E-BEB2-66E5B61AC253}" destId="{83116265-05C7-4923-BC0C-76959AF0EFC5}" srcOrd="1" destOrd="0" parTransId="{3C0E3E64-0A6F-4AE7-BE9A-6847ED5BAFDC}" sibTransId="{A50C8A57-7D20-46CE-B6D0-781CDDDBDE07}"/>
    <dgm:cxn modelId="{70710198-F16A-49EF-8E26-1785051EA548}" type="presOf" srcId="{11817B78-9D29-490E-BEB2-66E5B61AC253}" destId="{368E8CBF-DAF9-4020-94F6-24233A37DA49}" srcOrd="0" destOrd="0" presId="urn:microsoft.com/office/officeart/2018/2/layout/IconVerticalSolidList"/>
    <dgm:cxn modelId="{7E2DFEC9-547F-4FEB-B20D-5EF842BBD080}" srcId="{11817B78-9D29-490E-BEB2-66E5B61AC253}" destId="{2C122BF9-943D-4134-8EF6-8750AA041C32}" srcOrd="2" destOrd="0" parTransId="{3C99F2C6-324C-4FD8-AF11-19F3771466F3}" sibTransId="{3E985121-80EC-4C73-ACD3-AD2392F87C07}"/>
    <dgm:cxn modelId="{A3CAAAD6-E5BA-4194-BB46-6A3AE7A975FB}" type="presOf" srcId="{2C122BF9-943D-4134-8EF6-8750AA041C32}" destId="{6469BDA4-AFD5-4D8A-A901-BBFEA938D7AF}" srcOrd="0" destOrd="0" presId="urn:microsoft.com/office/officeart/2018/2/layout/IconVerticalSolidList"/>
    <dgm:cxn modelId="{B2DEBCD8-242E-4222-A41C-A6EAA11F62D4}" srcId="{11817B78-9D29-490E-BEB2-66E5B61AC253}" destId="{CC6458BF-2ECE-4EB0-9A3B-13A7A22E3889}" srcOrd="0" destOrd="0" parTransId="{88F4A98D-2978-4759-8A2D-C96DFB7241F4}" sibTransId="{671C69DD-208A-4951-90A2-1238F90C552A}"/>
    <dgm:cxn modelId="{417CF2F9-12EC-4453-B2F6-6BC6C3C68654}" type="presOf" srcId="{CC6458BF-2ECE-4EB0-9A3B-13A7A22E3889}" destId="{956DE35F-7FE0-47BA-8981-9830D3FC23A0}" srcOrd="0" destOrd="0" presId="urn:microsoft.com/office/officeart/2018/2/layout/IconVerticalSolidList"/>
    <dgm:cxn modelId="{9546CBFB-3D6C-4242-AD70-0B0559C16D67}" type="presOf" srcId="{83116265-05C7-4923-BC0C-76959AF0EFC5}" destId="{5FCEE617-7520-4FF0-9842-82021A8E82DB}" srcOrd="0" destOrd="0" presId="urn:microsoft.com/office/officeart/2018/2/layout/IconVerticalSolidList"/>
    <dgm:cxn modelId="{DC6EA96A-A4BC-43D8-BE3B-3C11925D5899}" type="presParOf" srcId="{368E8CBF-DAF9-4020-94F6-24233A37DA49}" destId="{5C439C44-1561-4E01-98A6-DB0CAE2E8F00}" srcOrd="0" destOrd="0" presId="urn:microsoft.com/office/officeart/2018/2/layout/IconVerticalSolidList"/>
    <dgm:cxn modelId="{7C1B27AF-84A5-4AF4-83D6-4808E534B477}" type="presParOf" srcId="{5C439C44-1561-4E01-98A6-DB0CAE2E8F00}" destId="{A125CE2A-61CE-4307-8C9E-810BF0A3F199}" srcOrd="0" destOrd="0" presId="urn:microsoft.com/office/officeart/2018/2/layout/IconVerticalSolidList"/>
    <dgm:cxn modelId="{014EAE1A-DBA6-4BD3-8ADB-E64C2EC35AC4}" type="presParOf" srcId="{5C439C44-1561-4E01-98A6-DB0CAE2E8F00}" destId="{4F4EED72-DA21-4521-AE99-9945C0D6A10C}" srcOrd="1" destOrd="0" presId="urn:microsoft.com/office/officeart/2018/2/layout/IconVerticalSolidList"/>
    <dgm:cxn modelId="{9F2A2835-079D-4101-9493-0C43C6CD855D}" type="presParOf" srcId="{5C439C44-1561-4E01-98A6-DB0CAE2E8F00}" destId="{A44BC691-8F10-4B5D-88EC-00552CA50DBF}" srcOrd="2" destOrd="0" presId="urn:microsoft.com/office/officeart/2018/2/layout/IconVerticalSolidList"/>
    <dgm:cxn modelId="{56F6444A-30B0-4751-8877-7C518295ECBA}" type="presParOf" srcId="{5C439C44-1561-4E01-98A6-DB0CAE2E8F00}" destId="{956DE35F-7FE0-47BA-8981-9830D3FC23A0}" srcOrd="3" destOrd="0" presId="urn:microsoft.com/office/officeart/2018/2/layout/IconVerticalSolidList"/>
    <dgm:cxn modelId="{F6FC2EE8-6B50-4078-AD23-BBFC3DD1D020}" type="presParOf" srcId="{368E8CBF-DAF9-4020-94F6-24233A37DA49}" destId="{D25CBA85-7C69-433D-805F-436B33F13392}" srcOrd="1" destOrd="0" presId="urn:microsoft.com/office/officeart/2018/2/layout/IconVerticalSolidList"/>
    <dgm:cxn modelId="{C5B7CF59-13A1-4340-9280-7EA8C5AE8D69}" type="presParOf" srcId="{368E8CBF-DAF9-4020-94F6-24233A37DA49}" destId="{100D6E85-EC66-409D-99C3-777D97676327}" srcOrd="2" destOrd="0" presId="urn:microsoft.com/office/officeart/2018/2/layout/IconVerticalSolidList"/>
    <dgm:cxn modelId="{93821B3B-2CDD-48A0-A1E5-93A7281DA765}" type="presParOf" srcId="{100D6E85-EC66-409D-99C3-777D97676327}" destId="{49940007-3C66-40CC-BAED-E8563B3618D9}" srcOrd="0" destOrd="0" presId="urn:microsoft.com/office/officeart/2018/2/layout/IconVerticalSolidList"/>
    <dgm:cxn modelId="{0916FC22-C9A7-4DEF-9500-5C872BA742B0}" type="presParOf" srcId="{100D6E85-EC66-409D-99C3-777D97676327}" destId="{72C2F402-8BBD-42CC-B344-C03457E2BD92}" srcOrd="1" destOrd="0" presId="urn:microsoft.com/office/officeart/2018/2/layout/IconVerticalSolidList"/>
    <dgm:cxn modelId="{09EB0C7E-DB72-42B0-BEE6-93A352601012}" type="presParOf" srcId="{100D6E85-EC66-409D-99C3-777D97676327}" destId="{D4FAA183-23F6-4843-984E-1CA503E3FE78}" srcOrd="2" destOrd="0" presId="urn:microsoft.com/office/officeart/2018/2/layout/IconVerticalSolidList"/>
    <dgm:cxn modelId="{C1870B6D-12F6-4A11-AADD-64B2B835F0BA}" type="presParOf" srcId="{100D6E85-EC66-409D-99C3-777D97676327}" destId="{5FCEE617-7520-4FF0-9842-82021A8E82DB}" srcOrd="3" destOrd="0" presId="urn:microsoft.com/office/officeart/2018/2/layout/IconVerticalSolidList"/>
    <dgm:cxn modelId="{6B85967E-B7CB-4759-A1CB-501DFBA3F913}" type="presParOf" srcId="{368E8CBF-DAF9-4020-94F6-24233A37DA49}" destId="{374A1532-3BED-46B5-8D0E-B6FEC22FF107}" srcOrd="3" destOrd="0" presId="urn:microsoft.com/office/officeart/2018/2/layout/IconVerticalSolidList"/>
    <dgm:cxn modelId="{1CB690CD-DBDF-48FD-BF6B-CD24ED257C1A}" type="presParOf" srcId="{368E8CBF-DAF9-4020-94F6-24233A37DA49}" destId="{5006935E-45D6-4608-AC8E-8D63B523F8BE}" srcOrd="4" destOrd="0" presId="urn:microsoft.com/office/officeart/2018/2/layout/IconVerticalSolidList"/>
    <dgm:cxn modelId="{174ADD4E-8329-419A-8F8E-AC2450C5607D}" type="presParOf" srcId="{5006935E-45D6-4608-AC8E-8D63B523F8BE}" destId="{432D99B3-C26E-4926-AC62-12776D9BB0A5}" srcOrd="0" destOrd="0" presId="urn:microsoft.com/office/officeart/2018/2/layout/IconVerticalSolidList"/>
    <dgm:cxn modelId="{3B84E8B7-3E50-47A3-BCE0-721BBC308064}" type="presParOf" srcId="{5006935E-45D6-4608-AC8E-8D63B523F8BE}" destId="{2BC8B87F-2E96-41C5-A287-0C1442AED19E}" srcOrd="1" destOrd="0" presId="urn:microsoft.com/office/officeart/2018/2/layout/IconVerticalSolidList"/>
    <dgm:cxn modelId="{A9CE6E77-BBA5-41DE-B830-45E85B1F9104}" type="presParOf" srcId="{5006935E-45D6-4608-AC8E-8D63B523F8BE}" destId="{95302192-4317-4563-A8E7-ABCEE7269591}" srcOrd="2" destOrd="0" presId="urn:microsoft.com/office/officeart/2018/2/layout/IconVerticalSolidList"/>
    <dgm:cxn modelId="{7AD1719A-F323-4785-89A5-79F73AF199CF}" type="presParOf" srcId="{5006935E-45D6-4608-AC8E-8D63B523F8BE}" destId="{6469BDA4-AFD5-4D8A-A901-BBFEA938D7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8A261C3-E44A-4954-A007-E9DD442485D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CCDE907-6629-45D9-B118-090031F9AB6E}">
      <dgm:prSet/>
      <dgm:spPr/>
      <dgm:t>
        <a:bodyPr/>
        <a:lstStyle/>
        <a:p>
          <a:r>
            <a:rPr lang="en-US"/>
            <a:t>Merchandise</a:t>
          </a:r>
        </a:p>
      </dgm:t>
    </dgm:pt>
    <dgm:pt modelId="{2F52F62C-B220-4C29-A5B7-9D67D4F775A2}" type="parTrans" cxnId="{F5193639-5A97-4D7D-A05F-CB004182CF2E}">
      <dgm:prSet/>
      <dgm:spPr/>
      <dgm:t>
        <a:bodyPr/>
        <a:lstStyle/>
        <a:p>
          <a:endParaRPr lang="en-US"/>
        </a:p>
      </dgm:t>
    </dgm:pt>
    <dgm:pt modelId="{F5B3CBE5-3E63-4889-BA18-D6594635F604}" type="sibTrans" cxnId="{F5193639-5A97-4D7D-A05F-CB004182CF2E}">
      <dgm:prSet/>
      <dgm:spPr/>
      <dgm:t>
        <a:bodyPr/>
        <a:lstStyle/>
        <a:p>
          <a:endParaRPr lang="en-US"/>
        </a:p>
      </dgm:t>
    </dgm:pt>
    <dgm:pt modelId="{1565BCC1-D4CB-4028-B04E-663713436C55}">
      <dgm:prSet/>
      <dgm:spPr/>
      <dgm:t>
        <a:bodyPr/>
        <a:lstStyle/>
        <a:p>
          <a:r>
            <a:rPr lang="en-US"/>
            <a:t>Raw materials</a:t>
          </a:r>
        </a:p>
      </dgm:t>
    </dgm:pt>
    <dgm:pt modelId="{94BA73AA-B594-4146-A6A9-57ACA64F08A3}" type="parTrans" cxnId="{7F5CD3F9-AF8F-4E7B-807C-F842FEEAFC05}">
      <dgm:prSet/>
      <dgm:spPr/>
      <dgm:t>
        <a:bodyPr/>
        <a:lstStyle/>
        <a:p>
          <a:endParaRPr lang="en-US"/>
        </a:p>
      </dgm:t>
    </dgm:pt>
    <dgm:pt modelId="{1FC5BB6A-4AF8-4435-A1DA-FBDD65963E07}" type="sibTrans" cxnId="{7F5CD3F9-AF8F-4E7B-807C-F842FEEAFC05}">
      <dgm:prSet/>
      <dgm:spPr/>
      <dgm:t>
        <a:bodyPr/>
        <a:lstStyle/>
        <a:p>
          <a:endParaRPr lang="en-US"/>
        </a:p>
      </dgm:t>
    </dgm:pt>
    <dgm:pt modelId="{9BEFCE19-61A7-4FDE-B7F0-22E61DE964BB}">
      <dgm:prSet/>
      <dgm:spPr/>
      <dgm:t>
        <a:bodyPr/>
        <a:lstStyle/>
        <a:p>
          <a:r>
            <a:rPr lang="en-US"/>
            <a:t>Work-in-progress </a:t>
          </a:r>
        </a:p>
      </dgm:t>
    </dgm:pt>
    <dgm:pt modelId="{A4ACCECF-0BBD-450B-9BA2-80997AF00925}" type="parTrans" cxnId="{FE847B57-7E1B-4F9F-823A-F64232796D33}">
      <dgm:prSet/>
      <dgm:spPr/>
      <dgm:t>
        <a:bodyPr/>
        <a:lstStyle/>
        <a:p>
          <a:endParaRPr lang="en-US"/>
        </a:p>
      </dgm:t>
    </dgm:pt>
    <dgm:pt modelId="{6DEB8B48-2C5C-4211-8ADB-18C0FCC45764}" type="sibTrans" cxnId="{FE847B57-7E1B-4F9F-823A-F64232796D33}">
      <dgm:prSet/>
      <dgm:spPr/>
      <dgm:t>
        <a:bodyPr/>
        <a:lstStyle/>
        <a:p>
          <a:endParaRPr lang="en-US"/>
        </a:p>
      </dgm:t>
    </dgm:pt>
    <dgm:pt modelId="{34EBA248-33C9-4C45-BD7A-E733B0539D4B}">
      <dgm:prSet/>
      <dgm:spPr/>
      <dgm:t>
        <a:bodyPr/>
        <a:lstStyle/>
        <a:p>
          <a:r>
            <a:rPr lang="en-US"/>
            <a:t>Finished products</a:t>
          </a:r>
        </a:p>
      </dgm:t>
    </dgm:pt>
    <dgm:pt modelId="{F5D2187D-5029-4831-BFE3-DCC6BE5D0954}" type="parTrans" cxnId="{7C696B2F-72E0-49FE-AC95-F457BCB372B8}">
      <dgm:prSet/>
      <dgm:spPr/>
      <dgm:t>
        <a:bodyPr/>
        <a:lstStyle/>
        <a:p>
          <a:endParaRPr lang="en-US"/>
        </a:p>
      </dgm:t>
    </dgm:pt>
    <dgm:pt modelId="{0D2F2488-D471-4318-8C2B-1ACDA4BC44B9}" type="sibTrans" cxnId="{7C696B2F-72E0-49FE-AC95-F457BCB372B8}">
      <dgm:prSet/>
      <dgm:spPr/>
      <dgm:t>
        <a:bodyPr/>
        <a:lstStyle/>
        <a:p>
          <a:endParaRPr lang="en-US"/>
        </a:p>
      </dgm:t>
    </dgm:pt>
    <dgm:pt modelId="{8EE1379C-8FB9-411D-AE29-C01FF90F8DBC}" type="pres">
      <dgm:prSet presAssocID="{D8A261C3-E44A-4954-A007-E9DD442485DF}" presName="vert0" presStyleCnt="0">
        <dgm:presLayoutVars>
          <dgm:dir/>
          <dgm:animOne val="branch"/>
          <dgm:animLvl val="lvl"/>
        </dgm:presLayoutVars>
      </dgm:prSet>
      <dgm:spPr/>
    </dgm:pt>
    <dgm:pt modelId="{4973FE3A-7741-42A0-8230-12CDDDC8B91C}" type="pres">
      <dgm:prSet presAssocID="{FCCDE907-6629-45D9-B118-090031F9AB6E}" presName="thickLine" presStyleLbl="alignNode1" presStyleIdx="0" presStyleCnt="4"/>
      <dgm:spPr/>
    </dgm:pt>
    <dgm:pt modelId="{69D955DC-4CC2-402F-8E20-8F27DFF969A2}" type="pres">
      <dgm:prSet presAssocID="{FCCDE907-6629-45D9-B118-090031F9AB6E}" presName="horz1" presStyleCnt="0"/>
      <dgm:spPr/>
    </dgm:pt>
    <dgm:pt modelId="{2D91454C-CBFD-4E0F-94BC-4FF8DEA078A1}" type="pres">
      <dgm:prSet presAssocID="{FCCDE907-6629-45D9-B118-090031F9AB6E}" presName="tx1" presStyleLbl="revTx" presStyleIdx="0" presStyleCnt="4"/>
      <dgm:spPr/>
    </dgm:pt>
    <dgm:pt modelId="{8D98E99B-8206-4A9E-8192-B83B5BC60A50}" type="pres">
      <dgm:prSet presAssocID="{FCCDE907-6629-45D9-B118-090031F9AB6E}" presName="vert1" presStyleCnt="0"/>
      <dgm:spPr/>
    </dgm:pt>
    <dgm:pt modelId="{23B873BE-133A-4BF3-AAD4-B0D4240EC390}" type="pres">
      <dgm:prSet presAssocID="{1565BCC1-D4CB-4028-B04E-663713436C55}" presName="thickLine" presStyleLbl="alignNode1" presStyleIdx="1" presStyleCnt="4"/>
      <dgm:spPr/>
    </dgm:pt>
    <dgm:pt modelId="{0CEB0648-BA4F-46F6-9457-CEBAE6D20446}" type="pres">
      <dgm:prSet presAssocID="{1565BCC1-D4CB-4028-B04E-663713436C55}" presName="horz1" presStyleCnt="0"/>
      <dgm:spPr/>
    </dgm:pt>
    <dgm:pt modelId="{EF76AD1F-E48F-4616-B41D-76FDF0495660}" type="pres">
      <dgm:prSet presAssocID="{1565BCC1-D4CB-4028-B04E-663713436C55}" presName="tx1" presStyleLbl="revTx" presStyleIdx="1" presStyleCnt="4"/>
      <dgm:spPr/>
    </dgm:pt>
    <dgm:pt modelId="{76BD3C41-6D90-4870-911B-594A361CB911}" type="pres">
      <dgm:prSet presAssocID="{1565BCC1-D4CB-4028-B04E-663713436C55}" presName="vert1" presStyleCnt="0"/>
      <dgm:spPr/>
    </dgm:pt>
    <dgm:pt modelId="{A58B9487-674F-4F18-B8A3-94274179BA06}" type="pres">
      <dgm:prSet presAssocID="{9BEFCE19-61A7-4FDE-B7F0-22E61DE964BB}" presName="thickLine" presStyleLbl="alignNode1" presStyleIdx="2" presStyleCnt="4"/>
      <dgm:spPr/>
    </dgm:pt>
    <dgm:pt modelId="{F10F6E40-C2BE-4BCE-851C-D83A0E524CFC}" type="pres">
      <dgm:prSet presAssocID="{9BEFCE19-61A7-4FDE-B7F0-22E61DE964BB}" presName="horz1" presStyleCnt="0"/>
      <dgm:spPr/>
    </dgm:pt>
    <dgm:pt modelId="{008F7167-5EF0-4DE9-AAE0-DE200FBEAB58}" type="pres">
      <dgm:prSet presAssocID="{9BEFCE19-61A7-4FDE-B7F0-22E61DE964BB}" presName="tx1" presStyleLbl="revTx" presStyleIdx="2" presStyleCnt="4"/>
      <dgm:spPr/>
    </dgm:pt>
    <dgm:pt modelId="{A7896A35-4EF2-488A-BE3E-CD91E18127F4}" type="pres">
      <dgm:prSet presAssocID="{9BEFCE19-61A7-4FDE-B7F0-22E61DE964BB}" presName="vert1" presStyleCnt="0"/>
      <dgm:spPr/>
    </dgm:pt>
    <dgm:pt modelId="{DD722F73-FAB6-405B-B220-31FE4B7B325D}" type="pres">
      <dgm:prSet presAssocID="{34EBA248-33C9-4C45-BD7A-E733B0539D4B}" presName="thickLine" presStyleLbl="alignNode1" presStyleIdx="3" presStyleCnt="4"/>
      <dgm:spPr/>
    </dgm:pt>
    <dgm:pt modelId="{C9230DA3-5F1B-48BB-AF18-AA9C18EDEC27}" type="pres">
      <dgm:prSet presAssocID="{34EBA248-33C9-4C45-BD7A-E733B0539D4B}" presName="horz1" presStyleCnt="0"/>
      <dgm:spPr/>
    </dgm:pt>
    <dgm:pt modelId="{5847F00F-EEBE-43FD-81CD-4EB46E2580BA}" type="pres">
      <dgm:prSet presAssocID="{34EBA248-33C9-4C45-BD7A-E733B0539D4B}" presName="tx1" presStyleLbl="revTx" presStyleIdx="3" presStyleCnt="4"/>
      <dgm:spPr/>
    </dgm:pt>
    <dgm:pt modelId="{768045BF-554E-4F03-82B6-88727686E0D4}" type="pres">
      <dgm:prSet presAssocID="{34EBA248-33C9-4C45-BD7A-E733B0539D4B}" presName="vert1" presStyleCnt="0"/>
      <dgm:spPr/>
    </dgm:pt>
  </dgm:ptLst>
  <dgm:cxnLst>
    <dgm:cxn modelId="{7C696B2F-72E0-49FE-AC95-F457BCB372B8}" srcId="{D8A261C3-E44A-4954-A007-E9DD442485DF}" destId="{34EBA248-33C9-4C45-BD7A-E733B0539D4B}" srcOrd="3" destOrd="0" parTransId="{F5D2187D-5029-4831-BFE3-DCC6BE5D0954}" sibTransId="{0D2F2488-D471-4318-8C2B-1ACDA4BC44B9}"/>
    <dgm:cxn modelId="{F5193639-5A97-4D7D-A05F-CB004182CF2E}" srcId="{D8A261C3-E44A-4954-A007-E9DD442485DF}" destId="{FCCDE907-6629-45D9-B118-090031F9AB6E}" srcOrd="0" destOrd="0" parTransId="{2F52F62C-B220-4C29-A5B7-9D67D4F775A2}" sibTransId="{F5B3CBE5-3E63-4889-BA18-D6594635F604}"/>
    <dgm:cxn modelId="{7AB86A3A-6F4A-4CE1-B7B8-7FE70202A3AB}" type="presOf" srcId="{34EBA248-33C9-4C45-BD7A-E733B0539D4B}" destId="{5847F00F-EEBE-43FD-81CD-4EB46E2580BA}" srcOrd="0" destOrd="0" presId="urn:microsoft.com/office/officeart/2008/layout/LinedList"/>
    <dgm:cxn modelId="{FE847B57-7E1B-4F9F-823A-F64232796D33}" srcId="{D8A261C3-E44A-4954-A007-E9DD442485DF}" destId="{9BEFCE19-61A7-4FDE-B7F0-22E61DE964BB}" srcOrd="2" destOrd="0" parTransId="{A4ACCECF-0BBD-450B-9BA2-80997AF00925}" sibTransId="{6DEB8B48-2C5C-4211-8ADB-18C0FCC45764}"/>
    <dgm:cxn modelId="{D24D6987-B385-41BF-BC06-9DBB2F2581F6}" type="presOf" srcId="{D8A261C3-E44A-4954-A007-E9DD442485DF}" destId="{8EE1379C-8FB9-411D-AE29-C01FF90F8DBC}" srcOrd="0" destOrd="0" presId="urn:microsoft.com/office/officeart/2008/layout/LinedList"/>
    <dgm:cxn modelId="{08751C96-AFAA-4D04-BD2D-03651995806D}" type="presOf" srcId="{1565BCC1-D4CB-4028-B04E-663713436C55}" destId="{EF76AD1F-E48F-4616-B41D-76FDF0495660}" srcOrd="0" destOrd="0" presId="urn:microsoft.com/office/officeart/2008/layout/LinedList"/>
    <dgm:cxn modelId="{83A57F98-3509-4D50-9670-B78495567542}" type="presOf" srcId="{FCCDE907-6629-45D9-B118-090031F9AB6E}" destId="{2D91454C-CBFD-4E0F-94BC-4FF8DEA078A1}" srcOrd="0" destOrd="0" presId="urn:microsoft.com/office/officeart/2008/layout/LinedList"/>
    <dgm:cxn modelId="{18D62BCA-0BB8-46F0-9C3B-FCA1C84CAD38}" type="presOf" srcId="{9BEFCE19-61A7-4FDE-B7F0-22E61DE964BB}" destId="{008F7167-5EF0-4DE9-AAE0-DE200FBEAB58}" srcOrd="0" destOrd="0" presId="urn:microsoft.com/office/officeart/2008/layout/LinedList"/>
    <dgm:cxn modelId="{7F5CD3F9-AF8F-4E7B-807C-F842FEEAFC05}" srcId="{D8A261C3-E44A-4954-A007-E9DD442485DF}" destId="{1565BCC1-D4CB-4028-B04E-663713436C55}" srcOrd="1" destOrd="0" parTransId="{94BA73AA-B594-4146-A6A9-57ACA64F08A3}" sibTransId="{1FC5BB6A-4AF8-4435-A1DA-FBDD65963E07}"/>
    <dgm:cxn modelId="{07106197-78A9-4FA0-ABA8-82F3EA2B69D8}" type="presParOf" srcId="{8EE1379C-8FB9-411D-AE29-C01FF90F8DBC}" destId="{4973FE3A-7741-42A0-8230-12CDDDC8B91C}" srcOrd="0" destOrd="0" presId="urn:microsoft.com/office/officeart/2008/layout/LinedList"/>
    <dgm:cxn modelId="{32E782ED-708C-4C4E-B8D4-C24CB3760B41}" type="presParOf" srcId="{8EE1379C-8FB9-411D-AE29-C01FF90F8DBC}" destId="{69D955DC-4CC2-402F-8E20-8F27DFF969A2}" srcOrd="1" destOrd="0" presId="urn:microsoft.com/office/officeart/2008/layout/LinedList"/>
    <dgm:cxn modelId="{24DBE9DB-5811-4F2B-AD63-EAEA3033F61C}" type="presParOf" srcId="{69D955DC-4CC2-402F-8E20-8F27DFF969A2}" destId="{2D91454C-CBFD-4E0F-94BC-4FF8DEA078A1}" srcOrd="0" destOrd="0" presId="urn:microsoft.com/office/officeart/2008/layout/LinedList"/>
    <dgm:cxn modelId="{B9BA07D8-0480-47BB-A298-23213A853361}" type="presParOf" srcId="{69D955DC-4CC2-402F-8E20-8F27DFF969A2}" destId="{8D98E99B-8206-4A9E-8192-B83B5BC60A50}" srcOrd="1" destOrd="0" presId="urn:microsoft.com/office/officeart/2008/layout/LinedList"/>
    <dgm:cxn modelId="{A6E08062-8F6A-41EB-8803-6005CCE6DE03}" type="presParOf" srcId="{8EE1379C-8FB9-411D-AE29-C01FF90F8DBC}" destId="{23B873BE-133A-4BF3-AAD4-B0D4240EC390}" srcOrd="2" destOrd="0" presId="urn:microsoft.com/office/officeart/2008/layout/LinedList"/>
    <dgm:cxn modelId="{BA9B5A11-5952-4E44-8623-5E77FA43C7D8}" type="presParOf" srcId="{8EE1379C-8FB9-411D-AE29-C01FF90F8DBC}" destId="{0CEB0648-BA4F-46F6-9457-CEBAE6D20446}" srcOrd="3" destOrd="0" presId="urn:microsoft.com/office/officeart/2008/layout/LinedList"/>
    <dgm:cxn modelId="{4BE9D426-640F-49AF-8254-A2EE308D567A}" type="presParOf" srcId="{0CEB0648-BA4F-46F6-9457-CEBAE6D20446}" destId="{EF76AD1F-E48F-4616-B41D-76FDF0495660}" srcOrd="0" destOrd="0" presId="urn:microsoft.com/office/officeart/2008/layout/LinedList"/>
    <dgm:cxn modelId="{F43BC955-954E-494C-897D-D0F90C509992}" type="presParOf" srcId="{0CEB0648-BA4F-46F6-9457-CEBAE6D20446}" destId="{76BD3C41-6D90-4870-911B-594A361CB911}" srcOrd="1" destOrd="0" presId="urn:microsoft.com/office/officeart/2008/layout/LinedList"/>
    <dgm:cxn modelId="{D6CB0401-CD1B-44F0-8724-B7EC2E56CAB3}" type="presParOf" srcId="{8EE1379C-8FB9-411D-AE29-C01FF90F8DBC}" destId="{A58B9487-674F-4F18-B8A3-94274179BA06}" srcOrd="4" destOrd="0" presId="urn:microsoft.com/office/officeart/2008/layout/LinedList"/>
    <dgm:cxn modelId="{4CB6E177-FF28-4677-9800-A16E362019CE}" type="presParOf" srcId="{8EE1379C-8FB9-411D-AE29-C01FF90F8DBC}" destId="{F10F6E40-C2BE-4BCE-851C-D83A0E524CFC}" srcOrd="5" destOrd="0" presId="urn:microsoft.com/office/officeart/2008/layout/LinedList"/>
    <dgm:cxn modelId="{502A7079-9FEA-4535-B196-9076763479C3}" type="presParOf" srcId="{F10F6E40-C2BE-4BCE-851C-D83A0E524CFC}" destId="{008F7167-5EF0-4DE9-AAE0-DE200FBEAB58}" srcOrd="0" destOrd="0" presId="urn:microsoft.com/office/officeart/2008/layout/LinedList"/>
    <dgm:cxn modelId="{01357093-2FC9-44F4-992B-DB91B9CEFEEA}" type="presParOf" srcId="{F10F6E40-C2BE-4BCE-851C-D83A0E524CFC}" destId="{A7896A35-4EF2-488A-BE3E-CD91E18127F4}" srcOrd="1" destOrd="0" presId="urn:microsoft.com/office/officeart/2008/layout/LinedList"/>
    <dgm:cxn modelId="{3BB762B3-8C7A-444D-A4C6-BA6B92963556}" type="presParOf" srcId="{8EE1379C-8FB9-411D-AE29-C01FF90F8DBC}" destId="{DD722F73-FAB6-405B-B220-31FE4B7B325D}" srcOrd="6" destOrd="0" presId="urn:microsoft.com/office/officeart/2008/layout/LinedList"/>
    <dgm:cxn modelId="{208AA3C1-2EA0-478B-9158-A15732DE061C}" type="presParOf" srcId="{8EE1379C-8FB9-411D-AE29-C01FF90F8DBC}" destId="{C9230DA3-5F1B-48BB-AF18-AA9C18EDEC27}" srcOrd="7" destOrd="0" presId="urn:microsoft.com/office/officeart/2008/layout/LinedList"/>
    <dgm:cxn modelId="{804716E2-8E0B-4808-8E47-FE906BF26790}" type="presParOf" srcId="{C9230DA3-5F1B-48BB-AF18-AA9C18EDEC27}" destId="{5847F00F-EEBE-43FD-81CD-4EB46E2580BA}" srcOrd="0" destOrd="0" presId="urn:microsoft.com/office/officeart/2008/layout/LinedList"/>
    <dgm:cxn modelId="{F7B1B1AE-D7E9-4D18-AEA4-E8105BD81FDB}" type="presParOf" srcId="{C9230DA3-5F1B-48BB-AF18-AA9C18EDEC27}" destId="{768045BF-554E-4F03-82B6-88727686E0D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620D173-82FC-4A8A-834A-D6594C03D6A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F9FCFB9-2DE3-4855-8075-F33CFD46DAC1}">
      <dgm:prSet/>
      <dgm:spPr/>
      <dgm:t>
        <a:bodyPr/>
        <a:lstStyle/>
        <a:p>
          <a:r>
            <a:rPr lang="en-SG"/>
            <a:t>Machinery</a:t>
          </a:r>
          <a:endParaRPr lang="en-US"/>
        </a:p>
      </dgm:t>
    </dgm:pt>
    <dgm:pt modelId="{66475E10-E44C-414B-A264-967B23340588}" type="parTrans" cxnId="{B31BF160-0343-4975-B5C5-371346FA6AE0}">
      <dgm:prSet/>
      <dgm:spPr/>
      <dgm:t>
        <a:bodyPr/>
        <a:lstStyle/>
        <a:p>
          <a:endParaRPr lang="en-US"/>
        </a:p>
      </dgm:t>
    </dgm:pt>
    <dgm:pt modelId="{0D2661F7-A962-42EA-B584-5B9B12F8C73C}" type="sibTrans" cxnId="{B31BF160-0343-4975-B5C5-371346FA6AE0}">
      <dgm:prSet/>
      <dgm:spPr/>
      <dgm:t>
        <a:bodyPr/>
        <a:lstStyle/>
        <a:p>
          <a:endParaRPr lang="en-US"/>
        </a:p>
      </dgm:t>
    </dgm:pt>
    <dgm:pt modelId="{46B255F2-121E-4156-A7ED-3E554F006F34}">
      <dgm:prSet/>
      <dgm:spPr/>
      <dgm:t>
        <a:bodyPr/>
        <a:lstStyle/>
        <a:p>
          <a:r>
            <a:rPr lang="en-SG"/>
            <a:t>Equipment</a:t>
          </a:r>
          <a:endParaRPr lang="en-US"/>
        </a:p>
      </dgm:t>
    </dgm:pt>
    <dgm:pt modelId="{59029E21-CB5A-4BB4-875F-87D3BDE8A433}" type="parTrans" cxnId="{325A3882-DAB6-47D6-A86B-1C7D0C437561}">
      <dgm:prSet/>
      <dgm:spPr/>
      <dgm:t>
        <a:bodyPr/>
        <a:lstStyle/>
        <a:p>
          <a:endParaRPr lang="en-US"/>
        </a:p>
      </dgm:t>
    </dgm:pt>
    <dgm:pt modelId="{3B6A0AAF-5E81-47E3-8902-46B9A80E7864}" type="sibTrans" cxnId="{325A3882-DAB6-47D6-A86B-1C7D0C437561}">
      <dgm:prSet/>
      <dgm:spPr/>
      <dgm:t>
        <a:bodyPr/>
        <a:lstStyle/>
        <a:p>
          <a:endParaRPr lang="en-US"/>
        </a:p>
      </dgm:t>
    </dgm:pt>
    <dgm:pt modelId="{01EBAE1F-C7B8-4801-BDF8-EF5870771960}">
      <dgm:prSet/>
      <dgm:spPr/>
      <dgm:t>
        <a:bodyPr/>
        <a:lstStyle/>
        <a:p>
          <a:r>
            <a:rPr lang="en-SG"/>
            <a:t>Vehicles</a:t>
          </a:r>
          <a:endParaRPr lang="en-US"/>
        </a:p>
      </dgm:t>
    </dgm:pt>
    <dgm:pt modelId="{060EB220-FDDB-48D9-BEA9-9CDF0B8AB575}" type="parTrans" cxnId="{D9B0C9C3-E660-4CBA-8671-D9C73F39E69C}">
      <dgm:prSet/>
      <dgm:spPr/>
      <dgm:t>
        <a:bodyPr/>
        <a:lstStyle/>
        <a:p>
          <a:endParaRPr lang="en-US"/>
        </a:p>
      </dgm:t>
    </dgm:pt>
    <dgm:pt modelId="{3C92F3B8-C253-4F91-AD95-3AF3F7093B87}" type="sibTrans" cxnId="{D9B0C9C3-E660-4CBA-8671-D9C73F39E69C}">
      <dgm:prSet/>
      <dgm:spPr/>
      <dgm:t>
        <a:bodyPr/>
        <a:lstStyle/>
        <a:p>
          <a:endParaRPr lang="en-US"/>
        </a:p>
      </dgm:t>
    </dgm:pt>
    <dgm:pt modelId="{CA509062-B66F-460A-B9E9-F2C7A01ABCB6}">
      <dgm:prSet/>
      <dgm:spPr/>
      <dgm:t>
        <a:bodyPr/>
        <a:lstStyle/>
        <a:p>
          <a:r>
            <a:rPr lang="en-SG"/>
            <a:t>Buildings</a:t>
          </a:r>
          <a:endParaRPr lang="en-US"/>
        </a:p>
      </dgm:t>
    </dgm:pt>
    <dgm:pt modelId="{06EBF0C3-9BBE-4ADE-B7F1-7185443ACEB0}" type="parTrans" cxnId="{98FF1914-0C0C-4394-B50F-05011DAA06CE}">
      <dgm:prSet/>
      <dgm:spPr/>
      <dgm:t>
        <a:bodyPr/>
        <a:lstStyle/>
        <a:p>
          <a:endParaRPr lang="en-US"/>
        </a:p>
      </dgm:t>
    </dgm:pt>
    <dgm:pt modelId="{DD03F2AB-4B9F-4668-A80E-363F6457FEAC}" type="sibTrans" cxnId="{98FF1914-0C0C-4394-B50F-05011DAA06CE}">
      <dgm:prSet/>
      <dgm:spPr/>
      <dgm:t>
        <a:bodyPr/>
        <a:lstStyle/>
        <a:p>
          <a:endParaRPr lang="en-US"/>
        </a:p>
      </dgm:t>
    </dgm:pt>
    <dgm:pt modelId="{ACE4B9C5-98DD-4702-AFD9-FB3AD9771E22}">
      <dgm:prSet/>
      <dgm:spPr/>
      <dgm:t>
        <a:bodyPr/>
        <a:lstStyle/>
        <a:p>
          <a:r>
            <a:rPr lang="en-SG"/>
            <a:t>Land</a:t>
          </a:r>
          <a:endParaRPr lang="en-US"/>
        </a:p>
      </dgm:t>
    </dgm:pt>
    <dgm:pt modelId="{350566C0-8953-4008-A759-F4D667CF0034}" type="parTrans" cxnId="{AE3068F3-31E8-4876-A907-1271E723AF60}">
      <dgm:prSet/>
      <dgm:spPr/>
      <dgm:t>
        <a:bodyPr/>
        <a:lstStyle/>
        <a:p>
          <a:endParaRPr lang="en-US"/>
        </a:p>
      </dgm:t>
    </dgm:pt>
    <dgm:pt modelId="{10DF36D7-AD4B-4775-99DB-03C5829131F6}" type="sibTrans" cxnId="{AE3068F3-31E8-4876-A907-1271E723AF60}">
      <dgm:prSet/>
      <dgm:spPr/>
      <dgm:t>
        <a:bodyPr/>
        <a:lstStyle/>
        <a:p>
          <a:endParaRPr lang="en-US"/>
        </a:p>
      </dgm:t>
    </dgm:pt>
    <dgm:pt modelId="{EE76DD35-0067-438F-A6EB-2ACFA9265C1A}">
      <dgm:prSet/>
      <dgm:spPr/>
      <dgm:t>
        <a:bodyPr/>
        <a:lstStyle/>
        <a:p>
          <a:r>
            <a:rPr lang="en-SG"/>
            <a:t>Office Equipment</a:t>
          </a:r>
          <a:endParaRPr lang="en-US"/>
        </a:p>
      </dgm:t>
    </dgm:pt>
    <dgm:pt modelId="{A6F4074C-F11E-4CEB-9F04-881A6D14F07B}" type="parTrans" cxnId="{BA1628FF-A6DC-406F-96E8-2CD340B83B6B}">
      <dgm:prSet/>
      <dgm:spPr/>
      <dgm:t>
        <a:bodyPr/>
        <a:lstStyle/>
        <a:p>
          <a:endParaRPr lang="en-US"/>
        </a:p>
      </dgm:t>
    </dgm:pt>
    <dgm:pt modelId="{07F60696-05A4-4206-B219-9172E2EBC42D}" type="sibTrans" cxnId="{BA1628FF-A6DC-406F-96E8-2CD340B83B6B}">
      <dgm:prSet/>
      <dgm:spPr/>
      <dgm:t>
        <a:bodyPr/>
        <a:lstStyle/>
        <a:p>
          <a:endParaRPr lang="en-US"/>
        </a:p>
      </dgm:t>
    </dgm:pt>
    <dgm:pt modelId="{1DB212E4-297F-405A-A519-8608F42141E4}">
      <dgm:prSet/>
      <dgm:spPr/>
      <dgm:t>
        <a:bodyPr/>
        <a:lstStyle/>
        <a:p>
          <a:r>
            <a:rPr lang="en-SG"/>
            <a:t>Furniture</a:t>
          </a:r>
          <a:endParaRPr lang="en-US"/>
        </a:p>
      </dgm:t>
    </dgm:pt>
    <dgm:pt modelId="{EFDE1A3C-7472-4914-BF81-46DE5E9A4C78}" type="parTrans" cxnId="{73029AF7-3BD6-44DD-89CD-E220720270E8}">
      <dgm:prSet/>
      <dgm:spPr/>
      <dgm:t>
        <a:bodyPr/>
        <a:lstStyle/>
        <a:p>
          <a:endParaRPr lang="en-US"/>
        </a:p>
      </dgm:t>
    </dgm:pt>
    <dgm:pt modelId="{CB15FE2F-DEDE-4145-9566-6C05C9195E37}" type="sibTrans" cxnId="{73029AF7-3BD6-44DD-89CD-E220720270E8}">
      <dgm:prSet/>
      <dgm:spPr/>
      <dgm:t>
        <a:bodyPr/>
        <a:lstStyle/>
        <a:p>
          <a:endParaRPr lang="en-US"/>
        </a:p>
      </dgm:t>
    </dgm:pt>
    <dgm:pt modelId="{9C8B7609-648F-47D2-972E-8C226512FA4C}">
      <dgm:prSet/>
      <dgm:spPr/>
      <dgm:t>
        <a:bodyPr/>
        <a:lstStyle/>
        <a:p>
          <a:r>
            <a:rPr lang="en-SG"/>
            <a:t>Fixtures</a:t>
          </a:r>
          <a:endParaRPr lang="en-US"/>
        </a:p>
      </dgm:t>
    </dgm:pt>
    <dgm:pt modelId="{7831DEEB-77BF-4C9E-9444-11AB362C59E8}" type="parTrans" cxnId="{6CEB2FDC-F84C-41CC-9FA1-23B8DFF0B7FF}">
      <dgm:prSet/>
      <dgm:spPr/>
      <dgm:t>
        <a:bodyPr/>
        <a:lstStyle/>
        <a:p>
          <a:endParaRPr lang="en-US"/>
        </a:p>
      </dgm:t>
    </dgm:pt>
    <dgm:pt modelId="{8044A01F-555A-47AE-9F2C-DFE9ABE57EB4}" type="sibTrans" cxnId="{6CEB2FDC-F84C-41CC-9FA1-23B8DFF0B7FF}">
      <dgm:prSet/>
      <dgm:spPr/>
      <dgm:t>
        <a:bodyPr/>
        <a:lstStyle/>
        <a:p>
          <a:endParaRPr lang="en-US"/>
        </a:p>
      </dgm:t>
    </dgm:pt>
    <dgm:pt modelId="{C3BE1F63-89F8-4C85-A77E-B318E21CAF17}" type="pres">
      <dgm:prSet presAssocID="{7620D173-82FC-4A8A-834A-D6594C03D6A3}" presName="vert0" presStyleCnt="0">
        <dgm:presLayoutVars>
          <dgm:dir/>
          <dgm:animOne val="branch"/>
          <dgm:animLvl val="lvl"/>
        </dgm:presLayoutVars>
      </dgm:prSet>
      <dgm:spPr/>
    </dgm:pt>
    <dgm:pt modelId="{CBADACF1-ACDE-4097-8C40-9BA31613DFCC}" type="pres">
      <dgm:prSet presAssocID="{DF9FCFB9-2DE3-4855-8075-F33CFD46DAC1}" presName="thickLine" presStyleLbl="alignNode1" presStyleIdx="0" presStyleCnt="8"/>
      <dgm:spPr/>
    </dgm:pt>
    <dgm:pt modelId="{5E66C076-3620-4E0D-B707-568A443F1603}" type="pres">
      <dgm:prSet presAssocID="{DF9FCFB9-2DE3-4855-8075-F33CFD46DAC1}" presName="horz1" presStyleCnt="0"/>
      <dgm:spPr/>
    </dgm:pt>
    <dgm:pt modelId="{AD58AC80-AF4B-44CC-82BE-068D9B304ECE}" type="pres">
      <dgm:prSet presAssocID="{DF9FCFB9-2DE3-4855-8075-F33CFD46DAC1}" presName="tx1" presStyleLbl="revTx" presStyleIdx="0" presStyleCnt="8"/>
      <dgm:spPr/>
    </dgm:pt>
    <dgm:pt modelId="{1E25D294-885D-45D8-A4CF-6872312D41CC}" type="pres">
      <dgm:prSet presAssocID="{DF9FCFB9-2DE3-4855-8075-F33CFD46DAC1}" presName="vert1" presStyleCnt="0"/>
      <dgm:spPr/>
    </dgm:pt>
    <dgm:pt modelId="{AF26B189-8A8A-4E53-A47B-B26C0A0DE65D}" type="pres">
      <dgm:prSet presAssocID="{46B255F2-121E-4156-A7ED-3E554F006F34}" presName="thickLine" presStyleLbl="alignNode1" presStyleIdx="1" presStyleCnt="8"/>
      <dgm:spPr/>
    </dgm:pt>
    <dgm:pt modelId="{E5B41F45-8BE9-43FA-BADF-8F399CAF24A0}" type="pres">
      <dgm:prSet presAssocID="{46B255F2-121E-4156-A7ED-3E554F006F34}" presName="horz1" presStyleCnt="0"/>
      <dgm:spPr/>
    </dgm:pt>
    <dgm:pt modelId="{B252B3FD-2D8D-4907-BB6B-5EDEA1D2ECE4}" type="pres">
      <dgm:prSet presAssocID="{46B255F2-121E-4156-A7ED-3E554F006F34}" presName="tx1" presStyleLbl="revTx" presStyleIdx="1" presStyleCnt="8"/>
      <dgm:spPr/>
    </dgm:pt>
    <dgm:pt modelId="{84939244-8F34-4C54-8C1E-493E9AD78E0C}" type="pres">
      <dgm:prSet presAssocID="{46B255F2-121E-4156-A7ED-3E554F006F34}" presName="vert1" presStyleCnt="0"/>
      <dgm:spPr/>
    </dgm:pt>
    <dgm:pt modelId="{9DA335E8-522F-430F-8268-B00B190E1DF4}" type="pres">
      <dgm:prSet presAssocID="{01EBAE1F-C7B8-4801-BDF8-EF5870771960}" presName="thickLine" presStyleLbl="alignNode1" presStyleIdx="2" presStyleCnt="8"/>
      <dgm:spPr/>
    </dgm:pt>
    <dgm:pt modelId="{1452CF2F-020E-406D-8EAE-C1D435E6FD34}" type="pres">
      <dgm:prSet presAssocID="{01EBAE1F-C7B8-4801-BDF8-EF5870771960}" presName="horz1" presStyleCnt="0"/>
      <dgm:spPr/>
    </dgm:pt>
    <dgm:pt modelId="{6D50B4C9-BE85-4A3D-9F8E-6A1D9733A233}" type="pres">
      <dgm:prSet presAssocID="{01EBAE1F-C7B8-4801-BDF8-EF5870771960}" presName="tx1" presStyleLbl="revTx" presStyleIdx="2" presStyleCnt="8"/>
      <dgm:spPr/>
    </dgm:pt>
    <dgm:pt modelId="{5763EED7-2DB5-46EF-9A89-52F185A2A82E}" type="pres">
      <dgm:prSet presAssocID="{01EBAE1F-C7B8-4801-BDF8-EF5870771960}" presName="vert1" presStyleCnt="0"/>
      <dgm:spPr/>
    </dgm:pt>
    <dgm:pt modelId="{4632EEFC-E958-4F31-A682-6C91AB786341}" type="pres">
      <dgm:prSet presAssocID="{CA509062-B66F-460A-B9E9-F2C7A01ABCB6}" presName="thickLine" presStyleLbl="alignNode1" presStyleIdx="3" presStyleCnt="8"/>
      <dgm:spPr/>
    </dgm:pt>
    <dgm:pt modelId="{7D23C563-E6A1-4913-8091-64F28A0EB6A5}" type="pres">
      <dgm:prSet presAssocID="{CA509062-B66F-460A-B9E9-F2C7A01ABCB6}" presName="horz1" presStyleCnt="0"/>
      <dgm:spPr/>
    </dgm:pt>
    <dgm:pt modelId="{C0E26982-8888-4630-9F48-1161116DD4F0}" type="pres">
      <dgm:prSet presAssocID="{CA509062-B66F-460A-B9E9-F2C7A01ABCB6}" presName="tx1" presStyleLbl="revTx" presStyleIdx="3" presStyleCnt="8"/>
      <dgm:spPr/>
    </dgm:pt>
    <dgm:pt modelId="{11183D64-7E6D-4D32-BE81-E1578E278956}" type="pres">
      <dgm:prSet presAssocID="{CA509062-B66F-460A-B9E9-F2C7A01ABCB6}" presName="vert1" presStyleCnt="0"/>
      <dgm:spPr/>
    </dgm:pt>
    <dgm:pt modelId="{F0443952-94A8-40D4-ADE0-A9B0E35D5C89}" type="pres">
      <dgm:prSet presAssocID="{ACE4B9C5-98DD-4702-AFD9-FB3AD9771E22}" presName="thickLine" presStyleLbl="alignNode1" presStyleIdx="4" presStyleCnt="8"/>
      <dgm:spPr/>
    </dgm:pt>
    <dgm:pt modelId="{30DCE89C-5032-4CFC-AAA9-92AFC6CDC6A2}" type="pres">
      <dgm:prSet presAssocID="{ACE4B9C5-98DD-4702-AFD9-FB3AD9771E22}" presName="horz1" presStyleCnt="0"/>
      <dgm:spPr/>
    </dgm:pt>
    <dgm:pt modelId="{1C1CF7BD-A21D-421D-9FCA-37B2B9391382}" type="pres">
      <dgm:prSet presAssocID="{ACE4B9C5-98DD-4702-AFD9-FB3AD9771E22}" presName="tx1" presStyleLbl="revTx" presStyleIdx="4" presStyleCnt="8"/>
      <dgm:spPr/>
    </dgm:pt>
    <dgm:pt modelId="{C0495A4A-97A4-4E99-81C1-0FB9A96FC394}" type="pres">
      <dgm:prSet presAssocID="{ACE4B9C5-98DD-4702-AFD9-FB3AD9771E22}" presName="vert1" presStyleCnt="0"/>
      <dgm:spPr/>
    </dgm:pt>
    <dgm:pt modelId="{57183B64-2358-485C-A49E-1E5007F0CA00}" type="pres">
      <dgm:prSet presAssocID="{EE76DD35-0067-438F-A6EB-2ACFA9265C1A}" presName="thickLine" presStyleLbl="alignNode1" presStyleIdx="5" presStyleCnt="8"/>
      <dgm:spPr/>
    </dgm:pt>
    <dgm:pt modelId="{FF57212F-F25C-4236-8EB2-2022D8CC745C}" type="pres">
      <dgm:prSet presAssocID="{EE76DD35-0067-438F-A6EB-2ACFA9265C1A}" presName="horz1" presStyleCnt="0"/>
      <dgm:spPr/>
    </dgm:pt>
    <dgm:pt modelId="{55326B52-2212-495A-A1FF-724DE79247A1}" type="pres">
      <dgm:prSet presAssocID="{EE76DD35-0067-438F-A6EB-2ACFA9265C1A}" presName="tx1" presStyleLbl="revTx" presStyleIdx="5" presStyleCnt="8"/>
      <dgm:spPr/>
    </dgm:pt>
    <dgm:pt modelId="{D0D51770-06B8-4357-A03D-EB802A6627EB}" type="pres">
      <dgm:prSet presAssocID="{EE76DD35-0067-438F-A6EB-2ACFA9265C1A}" presName="vert1" presStyleCnt="0"/>
      <dgm:spPr/>
    </dgm:pt>
    <dgm:pt modelId="{DABCE304-72BF-4AD4-9C3D-38769CAB1DB0}" type="pres">
      <dgm:prSet presAssocID="{1DB212E4-297F-405A-A519-8608F42141E4}" presName="thickLine" presStyleLbl="alignNode1" presStyleIdx="6" presStyleCnt="8"/>
      <dgm:spPr/>
    </dgm:pt>
    <dgm:pt modelId="{F1E38D18-5C9A-42ED-A022-AD043004818E}" type="pres">
      <dgm:prSet presAssocID="{1DB212E4-297F-405A-A519-8608F42141E4}" presName="horz1" presStyleCnt="0"/>
      <dgm:spPr/>
    </dgm:pt>
    <dgm:pt modelId="{997A384A-867D-4C6B-B083-0B5B9BC7D864}" type="pres">
      <dgm:prSet presAssocID="{1DB212E4-297F-405A-A519-8608F42141E4}" presName="tx1" presStyleLbl="revTx" presStyleIdx="6" presStyleCnt="8"/>
      <dgm:spPr/>
    </dgm:pt>
    <dgm:pt modelId="{D41AEBDD-10C5-482F-B85B-288D1EC53DCE}" type="pres">
      <dgm:prSet presAssocID="{1DB212E4-297F-405A-A519-8608F42141E4}" presName="vert1" presStyleCnt="0"/>
      <dgm:spPr/>
    </dgm:pt>
    <dgm:pt modelId="{F462F4DB-A1CA-4688-9643-B199B153CABE}" type="pres">
      <dgm:prSet presAssocID="{9C8B7609-648F-47D2-972E-8C226512FA4C}" presName="thickLine" presStyleLbl="alignNode1" presStyleIdx="7" presStyleCnt="8"/>
      <dgm:spPr/>
    </dgm:pt>
    <dgm:pt modelId="{EC0EFE55-5D0B-40AF-92FD-5FC9E9385973}" type="pres">
      <dgm:prSet presAssocID="{9C8B7609-648F-47D2-972E-8C226512FA4C}" presName="horz1" presStyleCnt="0"/>
      <dgm:spPr/>
    </dgm:pt>
    <dgm:pt modelId="{B375C29A-8036-49BD-8CD1-E5F988EF0693}" type="pres">
      <dgm:prSet presAssocID="{9C8B7609-648F-47D2-972E-8C226512FA4C}" presName="tx1" presStyleLbl="revTx" presStyleIdx="7" presStyleCnt="8"/>
      <dgm:spPr/>
    </dgm:pt>
    <dgm:pt modelId="{B3A4E698-E510-4AAE-B8FD-827799B23633}" type="pres">
      <dgm:prSet presAssocID="{9C8B7609-648F-47D2-972E-8C226512FA4C}" presName="vert1" presStyleCnt="0"/>
      <dgm:spPr/>
    </dgm:pt>
  </dgm:ptLst>
  <dgm:cxnLst>
    <dgm:cxn modelId="{98FF1914-0C0C-4394-B50F-05011DAA06CE}" srcId="{7620D173-82FC-4A8A-834A-D6594C03D6A3}" destId="{CA509062-B66F-460A-B9E9-F2C7A01ABCB6}" srcOrd="3" destOrd="0" parTransId="{06EBF0C3-9BBE-4ADE-B7F1-7185443ACEB0}" sibTransId="{DD03F2AB-4B9F-4668-A80E-363F6457FEAC}"/>
    <dgm:cxn modelId="{BBDB251F-E4F1-40CE-9EC1-04CDEF0B71B7}" type="presOf" srcId="{CA509062-B66F-460A-B9E9-F2C7A01ABCB6}" destId="{C0E26982-8888-4630-9F48-1161116DD4F0}" srcOrd="0" destOrd="0" presId="urn:microsoft.com/office/officeart/2008/layout/LinedList"/>
    <dgm:cxn modelId="{B31BF160-0343-4975-B5C5-371346FA6AE0}" srcId="{7620D173-82FC-4A8A-834A-D6594C03D6A3}" destId="{DF9FCFB9-2DE3-4855-8075-F33CFD46DAC1}" srcOrd="0" destOrd="0" parTransId="{66475E10-E44C-414B-A264-967B23340588}" sibTransId="{0D2661F7-A962-42EA-B584-5B9B12F8C73C}"/>
    <dgm:cxn modelId="{F9C69D62-85C9-4561-8E00-64F202B42EFE}" type="presOf" srcId="{ACE4B9C5-98DD-4702-AFD9-FB3AD9771E22}" destId="{1C1CF7BD-A21D-421D-9FCA-37B2B9391382}" srcOrd="0" destOrd="0" presId="urn:microsoft.com/office/officeart/2008/layout/LinedList"/>
    <dgm:cxn modelId="{DC8BFC66-F86F-4521-95D8-AC5448BA585D}" type="presOf" srcId="{1DB212E4-297F-405A-A519-8608F42141E4}" destId="{997A384A-867D-4C6B-B083-0B5B9BC7D864}" srcOrd="0" destOrd="0" presId="urn:microsoft.com/office/officeart/2008/layout/LinedList"/>
    <dgm:cxn modelId="{325A3882-DAB6-47D6-A86B-1C7D0C437561}" srcId="{7620D173-82FC-4A8A-834A-D6594C03D6A3}" destId="{46B255F2-121E-4156-A7ED-3E554F006F34}" srcOrd="1" destOrd="0" parTransId="{59029E21-CB5A-4BB4-875F-87D3BDE8A433}" sibTransId="{3B6A0AAF-5E81-47E3-8902-46B9A80E7864}"/>
    <dgm:cxn modelId="{CAA23BC1-DCB7-4F8C-88D7-845293AF9F69}" type="presOf" srcId="{EE76DD35-0067-438F-A6EB-2ACFA9265C1A}" destId="{55326B52-2212-495A-A1FF-724DE79247A1}" srcOrd="0" destOrd="0" presId="urn:microsoft.com/office/officeart/2008/layout/LinedList"/>
    <dgm:cxn modelId="{D9B0C9C3-E660-4CBA-8671-D9C73F39E69C}" srcId="{7620D173-82FC-4A8A-834A-D6594C03D6A3}" destId="{01EBAE1F-C7B8-4801-BDF8-EF5870771960}" srcOrd="2" destOrd="0" parTransId="{060EB220-FDDB-48D9-BEA9-9CDF0B8AB575}" sibTransId="{3C92F3B8-C253-4F91-AD95-3AF3F7093B87}"/>
    <dgm:cxn modelId="{4DF954C7-F54B-404A-9445-D65307436EC5}" type="presOf" srcId="{9C8B7609-648F-47D2-972E-8C226512FA4C}" destId="{B375C29A-8036-49BD-8CD1-E5F988EF0693}" srcOrd="0" destOrd="0" presId="urn:microsoft.com/office/officeart/2008/layout/LinedList"/>
    <dgm:cxn modelId="{A24121C8-9AA4-49CD-BD78-F91230C3BBE0}" type="presOf" srcId="{DF9FCFB9-2DE3-4855-8075-F33CFD46DAC1}" destId="{AD58AC80-AF4B-44CC-82BE-068D9B304ECE}" srcOrd="0" destOrd="0" presId="urn:microsoft.com/office/officeart/2008/layout/LinedList"/>
    <dgm:cxn modelId="{6CEB2FDC-F84C-41CC-9FA1-23B8DFF0B7FF}" srcId="{7620D173-82FC-4A8A-834A-D6594C03D6A3}" destId="{9C8B7609-648F-47D2-972E-8C226512FA4C}" srcOrd="7" destOrd="0" parTransId="{7831DEEB-77BF-4C9E-9444-11AB362C59E8}" sibTransId="{8044A01F-555A-47AE-9F2C-DFE9ABE57EB4}"/>
    <dgm:cxn modelId="{276834E0-FDF8-44AD-8998-0ABB03F8E893}" type="presOf" srcId="{01EBAE1F-C7B8-4801-BDF8-EF5870771960}" destId="{6D50B4C9-BE85-4A3D-9F8E-6A1D9733A233}" srcOrd="0" destOrd="0" presId="urn:microsoft.com/office/officeart/2008/layout/LinedList"/>
    <dgm:cxn modelId="{AE3068F3-31E8-4876-A907-1271E723AF60}" srcId="{7620D173-82FC-4A8A-834A-D6594C03D6A3}" destId="{ACE4B9C5-98DD-4702-AFD9-FB3AD9771E22}" srcOrd="4" destOrd="0" parTransId="{350566C0-8953-4008-A759-F4D667CF0034}" sibTransId="{10DF36D7-AD4B-4775-99DB-03C5829131F6}"/>
    <dgm:cxn modelId="{73029AF7-3BD6-44DD-89CD-E220720270E8}" srcId="{7620D173-82FC-4A8A-834A-D6594C03D6A3}" destId="{1DB212E4-297F-405A-A519-8608F42141E4}" srcOrd="6" destOrd="0" parTransId="{EFDE1A3C-7472-4914-BF81-46DE5E9A4C78}" sibTransId="{CB15FE2F-DEDE-4145-9566-6C05C9195E37}"/>
    <dgm:cxn modelId="{6F5606F8-1B65-436D-9A33-140FC9F5AF3A}" type="presOf" srcId="{46B255F2-121E-4156-A7ED-3E554F006F34}" destId="{B252B3FD-2D8D-4907-BB6B-5EDEA1D2ECE4}" srcOrd="0" destOrd="0" presId="urn:microsoft.com/office/officeart/2008/layout/LinedList"/>
    <dgm:cxn modelId="{824E67F9-D03F-45C9-B1E6-4829F0EE7CC7}" type="presOf" srcId="{7620D173-82FC-4A8A-834A-D6594C03D6A3}" destId="{C3BE1F63-89F8-4C85-A77E-B318E21CAF17}" srcOrd="0" destOrd="0" presId="urn:microsoft.com/office/officeart/2008/layout/LinedList"/>
    <dgm:cxn modelId="{BA1628FF-A6DC-406F-96E8-2CD340B83B6B}" srcId="{7620D173-82FC-4A8A-834A-D6594C03D6A3}" destId="{EE76DD35-0067-438F-A6EB-2ACFA9265C1A}" srcOrd="5" destOrd="0" parTransId="{A6F4074C-F11E-4CEB-9F04-881A6D14F07B}" sibTransId="{07F60696-05A4-4206-B219-9172E2EBC42D}"/>
    <dgm:cxn modelId="{D4116732-7FC3-4E9F-A6F6-C52A4403E008}" type="presParOf" srcId="{C3BE1F63-89F8-4C85-A77E-B318E21CAF17}" destId="{CBADACF1-ACDE-4097-8C40-9BA31613DFCC}" srcOrd="0" destOrd="0" presId="urn:microsoft.com/office/officeart/2008/layout/LinedList"/>
    <dgm:cxn modelId="{206B005A-FAC5-4C20-B66F-AD990758AA36}" type="presParOf" srcId="{C3BE1F63-89F8-4C85-A77E-B318E21CAF17}" destId="{5E66C076-3620-4E0D-B707-568A443F1603}" srcOrd="1" destOrd="0" presId="urn:microsoft.com/office/officeart/2008/layout/LinedList"/>
    <dgm:cxn modelId="{F9F06D23-1824-413F-8B6D-8F20789086A2}" type="presParOf" srcId="{5E66C076-3620-4E0D-B707-568A443F1603}" destId="{AD58AC80-AF4B-44CC-82BE-068D9B304ECE}" srcOrd="0" destOrd="0" presId="urn:microsoft.com/office/officeart/2008/layout/LinedList"/>
    <dgm:cxn modelId="{EEED2E36-A9C9-43C7-92C8-12E108722AD4}" type="presParOf" srcId="{5E66C076-3620-4E0D-B707-568A443F1603}" destId="{1E25D294-885D-45D8-A4CF-6872312D41CC}" srcOrd="1" destOrd="0" presId="urn:microsoft.com/office/officeart/2008/layout/LinedList"/>
    <dgm:cxn modelId="{A2ACD6B6-A75A-4690-94D3-14A7B8DDF95C}" type="presParOf" srcId="{C3BE1F63-89F8-4C85-A77E-B318E21CAF17}" destId="{AF26B189-8A8A-4E53-A47B-B26C0A0DE65D}" srcOrd="2" destOrd="0" presId="urn:microsoft.com/office/officeart/2008/layout/LinedList"/>
    <dgm:cxn modelId="{B41A7759-B777-4BCF-9BC0-8132B5093A39}" type="presParOf" srcId="{C3BE1F63-89F8-4C85-A77E-B318E21CAF17}" destId="{E5B41F45-8BE9-43FA-BADF-8F399CAF24A0}" srcOrd="3" destOrd="0" presId="urn:microsoft.com/office/officeart/2008/layout/LinedList"/>
    <dgm:cxn modelId="{B2D7A5D9-B1C0-4CAC-AEBE-E6DA3FB7B883}" type="presParOf" srcId="{E5B41F45-8BE9-43FA-BADF-8F399CAF24A0}" destId="{B252B3FD-2D8D-4907-BB6B-5EDEA1D2ECE4}" srcOrd="0" destOrd="0" presId="urn:microsoft.com/office/officeart/2008/layout/LinedList"/>
    <dgm:cxn modelId="{FCD35B8E-7F5C-4B31-8FD6-4E989849AF3B}" type="presParOf" srcId="{E5B41F45-8BE9-43FA-BADF-8F399CAF24A0}" destId="{84939244-8F34-4C54-8C1E-493E9AD78E0C}" srcOrd="1" destOrd="0" presId="urn:microsoft.com/office/officeart/2008/layout/LinedList"/>
    <dgm:cxn modelId="{138733AC-A590-4CD3-B90E-4FF11529F65B}" type="presParOf" srcId="{C3BE1F63-89F8-4C85-A77E-B318E21CAF17}" destId="{9DA335E8-522F-430F-8268-B00B190E1DF4}" srcOrd="4" destOrd="0" presId="urn:microsoft.com/office/officeart/2008/layout/LinedList"/>
    <dgm:cxn modelId="{B4BC231E-2F70-431A-B17E-44AB557220AE}" type="presParOf" srcId="{C3BE1F63-89F8-4C85-A77E-B318E21CAF17}" destId="{1452CF2F-020E-406D-8EAE-C1D435E6FD34}" srcOrd="5" destOrd="0" presId="urn:microsoft.com/office/officeart/2008/layout/LinedList"/>
    <dgm:cxn modelId="{C246C2C5-CE6A-4B4B-918B-71F168E6A49F}" type="presParOf" srcId="{1452CF2F-020E-406D-8EAE-C1D435E6FD34}" destId="{6D50B4C9-BE85-4A3D-9F8E-6A1D9733A233}" srcOrd="0" destOrd="0" presId="urn:microsoft.com/office/officeart/2008/layout/LinedList"/>
    <dgm:cxn modelId="{CF6D464F-1AAD-4B7C-B5F3-4A602755B675}" type="presParOf" srcId="{1452CF2F-020E-406D-8EAE-C1D435E6FD34}" destId="{5763EED7-2DB5-46EF-9A89-52F185A2A82E}" srcOrd="1" destOrd="0" presId="urn:microsoft.com/office/officeart/2008/layout/LinedList"/>
    <dgm:cxn modelId="{4D8DD115-EB1D-4BA1-BEE4-0A1FE12C3A8C}" type="presParOf" srcId="{C3BE1F63-89F8-4C85-A77E-B318E21CAF17}" destId="{4632EEFC-E958-4F31-A682-6C91AB786341}" srcOrd="6" destOrd="0" presId="urn:microsoft.com/office/officeart/2008/layout/LinedList"/>
    <dgm:cxn modelId="{1EC68641-7006-4FAC-BF96-86FC0E315C93}" type="presParOf" srcId="{C3BE1F63-89F8-4C85-A77E-B318E21CAF17}" destId="{7D23C563-E6A1-4913-8091-64F28A0EB6A5}" srcOrd="7" destOrd="0" presId="urn:microsoft.com/office/officeart/2008/layout/LinedList"/>
    <dgm:cxn modelId="{81A99921-A349-42C2-83F9-1563B3643B43}" type="presParOf" srcId="{7D23C563-E6A1-4913-8091-64F28A0EB6A5}" destId="{C0E26982-8888-4630-9F48-1161116DD4F0}" srcOrd="0" destOrd="0" presId="urn:microsoft.com/office/officeart/2008/layout/LinedList"/>
    <dgm:cxn modelId="{DB739A11-FC30-41F9-8411-13371C87E98A}" type="presParOf" srcId="{7D23C563-E6A1-4913-8091-64F28A0EB6A5}" destId="{11183D64-7E6D-4D32-BE81-E1578E278956}" srcOrd="1" destOrd="0" presId="urn:microsoft.com/office/officeart/2008/layout/LinedList"/>
    <dgm:cxn modelId="{2DD1208D-B935-4BC3-83D7-62DE22163E03}" type="presParOf" srcId="{C3BE1F63-89F8-4C85-A77E-B318E21CAF17}" destId="{F0443952-94A8-40D4-ADE0-A9B0E35D5C89}" srcOrd="8" destOrd="0" presId="urn:microsoft.com/office/officeart/2008/layout/LinedList"/>
    <dgm:cxn modelId="{0FD01B94-E775-4511-BAB1-9C70765C3471}" type="presParOf" srcId="{C3BE1F63-89F8-4C85-A77E-B318E21CAF17}" destId="{30DCE89C-5032-4CFC-AAA9-92AFC6CDC6A2}" srcOrd="9" destOrd="0" presId="urn:microsoft.com/office/officeart/2008/layout/LinedList"/>
    <dgm:cxn modelId="{D59A4D31-A35A-4818-880E-FD88A95B4AF6}" type="presParOf" srcId="{30DCE89C-5032-4CFC-AAA9-92AFC6CDC6A2}" destId="{1C1CF7BD-A21D-421D-9FCA-37B2B9391382}" srcOrd="0" destOrd="0" presId="urn:microsoft.com/office/officeart/2008/layout/LinedList"/>
    <dgm:cxn modelId="{DD4230F6-B36B-4CD8-93CA-2D52FC3B104C}" type="presParOf" srcId="{30DCE89C-5032-4CFC-AAA9-92AFC6CDC6A2}" destId="{C0495A4A-97A4-4E99-81C1-0FB9A96FC394}" srcOrd="1" destOrd="0" presId="urn:microsoft.com/office/officeart/2008/layout/LinedList"/>
    <dgm:cxn modelId="{DD7F3C95-27D4-4BB2-8615-4F8C2A69A6F7}" type="presParOf" srcId="{C3BE1F63-89F8-4C85-A77E-B318E21CAF17}" destId="{57183B64-2358-485C-A49E-1E5007F0CA00}" srcOrd="10" destOrd="0" presId="urn:microsoft.com/office/officeart/2008/layout/LinedList"/>
    <dgm:cxn modelId="{5F72A887-519E-4F0C-807B-7B3E87C89625}" type="presParOf" srcId="{C3BE1F63-89F8-4C85-A77E-B318E21CAF17}" destId="{FF57212F-F25C-4236-8EB2-2022D8CC745C}" srcOrd="11" destOrd="0" presId="urn:microsoft.com/office/officeart/2008/layout/LinedList"/>
    <dgm:cxn modelId="{D449A0A1-8882-4FC7-A354-4B231113E85B}" type="presParOf" srcId="{FF57212F-F25C-4236-8EB2-2022D8CC745C}" destId="{55326B52-2212-495A-A1FF-724DE79247A1}" srcOrd="0" destOrd="0" presId="urn:microsoft.com/office/officeart/2008/layout/LinedList"/>
    <dgm:cxn modelId="{E8E60A41-E873-4377-AC97-D52A3D71F670}" type="presParOf" srcId="{FF57212F-F25C-4236-8EB2-2022D8CC745C}" destId="{D0D51770-06B8-4357-A03D-EB802A6627EB}" srcOrd="1" destOrd="0" presId="urn:microsoft.com/office/officeart/2008/layout/LinedList"/>
    <dgm:cxn modelId="{243A1C3D-5AF9-41CE-AA1C-1BB7E26B4507}" type="presParOf" srcId="{C3BE1F63-89F8-4C85-A77E-B318E21CAF17}" destId="{DABCE304-72BF-4AD4-9C3D-38769CAB1DB0}" srcOrd="12" destOrd="0" presId="urn:microsoft.com/office/officeart/2008/layout/LinedList"/>
    <dgm:cxn modelId="{06DBB334-31E1-4088-990D-61A6438B1539}" type="presParOf" srcId="{C3BE1F63-89F8-4C85-A77E-B318E21CAF17}" destId="{F1E38D18-5C9A-42ED-A022-AD043004818E}" srcOrd="13" destOrd="0" presId="urn:microsoft.com/office/officeart/2008/layout/LinedList"/>
    <dgm:cxn modelId="{D7D49F5A-6A1D-41FF-9260-F4F830938A14}" type="presParOf" srcId="{F1E38D18-5C9A-42ED-A022-AD043004818E}" destId="{997A384A-867D-4C6B-B083-0B5B9BC7D864}" srcOrd="0" destOrd="0" presId="urn:microsoft.com/office/officeart/2008/layout/LinedList"/>
    <dgm:cxn modelId="{EC636968-F797-4DF7-9A2B-D482D4E74D90}" type="presParOf" srcId="{F1E38D18-5C9A-42ED-A022-AD043004818E}" destId="{D41AEBDD-10C5-482F-B85B-288D1EC53DCE}" srcOrd="1" destOrd="0" presId="urn:microsoft.com/office/officeart/2008/layout/LinedList"/>
    <dgm:cxn modelId="{E807F81A-86E6-4807-8591-C05A4241F4C1}" type="presParOf" srcId="{C3BE1F63-89F8-4C85-A77E-B318E21CAF17}" destId="{F462F4DB-A1CA-4688-9643-B199B153CABE}" srcOrd="14" destOrd="0" presId="urn:microsoft.com/office/officeart/2008/layout/LinedList"/>
    <dgm:cxn modelId="{FD7FE4AA-4789-42CA-8272-67F24F985E7A}" type="presParOf" srcId="{C3BE1F63-89F8-4C85-A77E-B318E21CAF17}" destId="{EC0EFE55-5D0B-40AF-92FD-5FC9E9385973}" srcOrd="15" destOrd="0" presId="urn:microsoft.com/office/officeart/2008/layout/LinedList"/>
    <dgm:cxn modelId="{F734A432-2E80-4C97-82D2-9B60104596F0}" type="presParOf" srcId="{EC0EFE55-5D0B-40AF-92FD-5FC9E9385973}" destId="{B375C29A-8036-49BD-8CD1-E5F988EF0693}" srcOrd="0" destOrd="0" presId="urn:microsoft.com/office/officeart/2008/layout/LinedList"/>
    <dgm:cxn modelId="{FC70A3EF-9F3D-4D22-BC6C-81AB80E40066}" type="presParOf" srcId="{EC0EFE55-5D0B-40AF-92FD-5FC9E9385973}" destId="{B3A4E698-E510-4AAE-B8FD-827799B2363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2A76478-82F9-4E26-8072-053176E4C0A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8C32BE0-8136-48D1-A99F-ECECBEFAD366}">
      <dgm:prSet/>
      <dgm:spPr/>
      <dgm:t>
        <a:bodyPr/>
        <a:lstStyle/>
        <a:p>
          <a:r>
            <a:rPr lang="en-SG"/>
            <a:t>Larger expense in earlier than later years</a:t>
          </a:r>
          <a:endParaRPr lang="en-US"/>
        </a:p>
      </dgm:t>
    </dgm:pt>
    <dgm:pt modelId="{6C8883BB-EDB9-4F11-97F4-F94EBE3334EA}" type="parTrans" cxnId="{BB1DDABB-F9E6-4FFC-987A-A1BD568E72B7}">
      <dgm:prSet/>
      <dgm:spPr/>
      <dgm:t>
        <a:bodyPr/>
        <a:lstStyle/>
        <a:p>
          <a:endParaRPr lang="en-US"/>
        </a:p>
      </dgm:t>
    </dgm:pt>
    <dgm:pt modelId="{6C07284F-A1EB-4652-A95E-D5AA38B8A067}" type="sibTrans" cxnId="{BB1DDABB-F9E6-4FFC-987A-A1BD568E72B7}">
      <dgm:prSet/>
      <dgm:spPr/>
      <dgm:t>
        <a:bodyPr/>
        <a:lstStyle/>
        <a:p>
          <a:endParaRPr lang="en-US"/>
        </a:p>
      </dgm:t>
    </dgm:pt>
    <dgm:pt modelId="{F0F1769E-A791-45D5-A175-8C8DDFA8BE26}">
      <dgm:prSet/>
      <dgm:spPr/>
      <dgm:t>
        <a:bodyPr/>
        <a:lstStyle/>
        <a:p>
          <a:r>
            <a:rPr lang="en-SG"/>
            <a:t>A machine is bought for $50,000 and has useful life of 10 years and $10,000 salvage value.</a:t>
          </a:r>
          <a:endParaRPr lang="en-US"/>
        </a:p>
      </dgm:t>
    </dgm:pt>
    <dgm:pt modelId="{7EBD963A-8A7F-41F6-A7AA-5D2765AA1957}" type="parTrans" cxnId="{3B872645-AF8D-43ED-897B-E5E599D3652D}">
      <dgm:prSet/>
      <dgm:spPr/>
      <dgm:t>
        <a:bodyPr/>
        <a:lstStyle/>
        <a:p>
          <a:endParaRPr lang="en-US"/>
        </a:p>
      </dgm:t>
    </dgm:pt>
    <dgm:pt modelId="{3D77CB1E-6680-4394-BAB3-ACE2FC0CBF17}" type="sibTrans" cxnId="{3B872645-AF8D-43ED-897B-E5E599D3652D}">
      <dgm:prSet/>
      <dgm:spPr/>
      <dgm:t>
        <a:bodyPr/>
        <a:lstStyle/>
        <a:p>
          <a:endParaRPr lang="en-US"/>
        </a:p>
      </dgm:t>
    </dgm:pt>
    <dgm:pt modelId="{69BD501D-E5AD-47A3-9B31-C422C0C453E0}">
      <dgm:prSet/>
      <dgm:spPr/>
      <dgm:t>
        <a:bodyPr/>
        <a:lstStyle/>
        <a:p>
          <a:r>
            <a:rPr lang="en-SG"/>
            <a:t>Depreciation rate = (80% / useful life of asset) x 2 = 16% </a:t>
          </a:r>
          <a:endParaRPr lang="en-US"/>
        </a:p>
      </dgm:t>
    </dgm:pt>
    <dgm:pt modelId="{046317F7-A569-41F3-A1D0-124E0FC0B352}" type="parTrans" cxnId="{5B255469-BD4C-448C-902F-51649E2D48D0}">
      <dgm:prSet/>
      <dgm:spPr/>
      <dgm:t>
        <a:bodyPr/>
        <a:lstStyle/>
        <a:p>
          <a:endParaRPr lang="en-US"/>
        </a:p>
      </dgm:t>
    </dgm:pt>
    <dgm:pt modelId="{55D389BA-8C13-4BEF-8A50-6CED6DA2CB6D}" type="sibTrans" cxnId="{5B255469-BD4C-448C-902F-51649E2D48D0}">
      <dgm:prSet/>
      <dgm:spPr/>
      <dgm:t>
        <a:bodyPr/>
        <a:lstStyle/>
        <a:p>
          <a:endParaRPr lang="en-US"/>
        </a:p>
      </dgm:t>
    </dgm:pt>
    <dgm:pt modelId="{402CAEA1-A125-4F1B-A255-A499179E253E}">
      <dgm:prSet/>
      <dgm:spPr/>
      <dgm:t>
        <a:bodyPr/>
        <a:lstStyle/>
        <a:p>
          <a:r>
            <a:rPr lang="en-SG"/>
            <a:t>Depreciation expense in first year = $50,000 x 16% = $8,000</a:t>
          </a:r>
          <a:endParaRPr lang="en-US"/>
        </a:p>
      </dgm:t>
    </dgm:pt>
    <dgm:pt modelId="{82E26F83-CC1B-4498-A8F8-6DBB691BE413}" type="parTrans" cxnId="{91CA29CF-FAAE-43AE-96B9-262A35FAF8C2}">
      <dgm:prSet/>
      <dgm:spPr/>
      <dgm:t>
        <a:bodyPr/>
        <a:lstStyle/>
        <a:p>
          <a:endParaRPr lang="en-US"/>
        </a:p>
      </dgm:t>
    </dgm:pt>
    <dgm:pt modelId="{1DB2B23D-C9C5-4F06-A36C-7BFF6D7A9F4A}" type="sibTrans" cxnId="{91CA29CF-FAAE-43AE-96B9-262A35FAF8C2}">
      <dgm:prSet/>
      <dgm:spPr/>
      <dgm:t>
        <a:bodyPr/>
        <a:lstStyle/>
        <a:p>
          <a:endParaRPr lang="en-US"/>
        </a:p>
      </dgm:t>
    </dgm:pt>
    <dgm:pt modelId="{4E4BA7DC-110A-4D4A-9628-3F15E1783F53}" type="pres">
      <dgm:prSet presAssocID="{42A76478-82F9-4E26-8072-053176E4C0A9}" presName="vert0" presStyleCnt="0">
        <dgm:presLayoutVars>
          <dgm:dir/>
          <dgm:animOne val="branch"/>
          <dgm:animLvl val="lvl"/>
        </dgm:presLayoutVars>
      </dgm:prSet>
      <dgm:spPr/>
    </dgm:pt>
    <dgm:pt modelId="{17EEDE04-4F4F-4394-8775-69A9D6A23C3E}" type="pres">
      <dgm:prSet presAssocID="{18C32BE0-8136-48D1-A99F-ECECBEFAD366}" presName="thickLine" presStyleLbl="alignNode1" presStyleIdx="0" presStyleCnt="4"/>
      <dgm:spPr/>
    </dgm:pt>
    <dgm:pt modelId="{CADF515B-4161-42BD-ABB7-B364036D39BE}" type="pres">
      <dgm:prSet presAssocID="{18C32BE0-8136-48D1-A99F-ECECBEFAD366}" presName="horz1" presStyleCnt="0"/>
      <dgm:spPr/>
    </dgm:pt>
    <dgm:pt modelId="{9184C93E-FA4B-4241-9307-3EE7C43A6AA6}" type="pres">
      <dgm:prSet presAssocID="{18C32BE0-8136-48D1-A99F-ECECBEFAD366}" presName="tx1" presStyleLbl="revTx" presStyleIdx="0" presStyleCnt="4"/>
      <dgm:spPr/>
    </dgm:pt>
    <dgm:pt modelId="{64979B51-9D0E-4555-92D7-8C616837AFE0}" type="pres">
      <dgm:prSet presAssocID="{18C32BE0-8136-48D1-A99F-ECECBEFAD366}" presName="vert1" presStyleCnt="0"/>
      <dgm:spPr/>
    </dgm:pt>
    <dgm:pt modelId="{644F021F-5196-41E6-877B-FBA12F69EDD4}" type="pres">
      <dgm:prSet presAssocID="{F0F1769E-A791-45D5-A175-8C8DDFA8BE26}" presName="thickLine" presStyleLbl="alignNode1" presStyleIdx="1" presStyleCnt="4"/>
      <dgm:spPr/>
    </dgm:pt>
    <dgm:pt modelId="{2B1CAAF4-D30F-4C98-B767-79E3519AE83D}" type="pres">
      <dgm:prSet presAssocID="{F0F1769E-A791-45D5-A175-8C8DDFA8BE26}" presName="horz1" presStyleCnt="0"/>
      <dgm:spPr/>
    </dgm:pt>
    <dgm:pt modelId="{1D7ED71E-A9C4-41C6-ACCD-DC19FE1B9BA9}" type="pres">
      <dgm:prSet presAssocID="{F0F1769E-A791-45D5-A175-8C8DDFA8BE26}" presName="tx1" presStyleLbl="revTx" presStyleIdx="1" presStyleCnt="4"/>
      <dgm:spPr/>
    </dgm:pt>
    <dgm:pt modelId="{63FDD21C-6F1F-4942-A6B2-91AA867E76E8}" type="pres">
      <dgm:prSet presAssocID="{F0F1769E-A791-45D5-A175-8C8DDFA8BE26}" presName="vert1" presStyleCnt="0"/>
      <dgm:spPr/>
    </dgm:pt>
    <dgm:pt modelId="{01FDF6D9-2D60-4729-A3BA-5B15F421BB5C}" type="pres">
      <dgm:prSet presAssocID="{69BD501D-E5AD-47A3-9B31-C422C0C453E0}" presName="thickLine" presStyleLbl="alignNode1" presStyleIdx="2" presStyleCnt="4"/>
      <dgm:spPr/>
    </dgm:pt>
    <dgm:pt modelId="{5B2B6029-54EC-40D0-BB25-8D56F39B2AA3}" type="pres">
      <dgm:prSet presAssocID="{69BD501D-E5AD-47A3-9B31-C422C0C453E0}" presName="horz1" presStyleCnt="0"/>
      <dgm:spPr/>
    </dgm:pt>
    <dgm:pt modelId="{A37F30C5-8D71-427F-93A1-97ED7DD15DB4}" type="pres">
      <dgm:prSet presAssocID="{69BD501D-E5AD-47A3-9B31-C422C0C453E0}" presName="tx1" presStyleLbl="revTx" presStyleIdx="2" presStyleCnt="4"/>
      <dgm:spPr/>
    </dgm:pt>
    <dgm:pt modelId="{743F14E6-9FD1-461F-843B-09470C20DE92}" type="pres">
      <dgm:prSet presAssocID="{69BD501D-E5AD-47A3-9B31-C422C0C453E0}" presName="vert1" presStyleCnt="0"/>
      <dgm:spPr/>
    </dgm:pt>
    <dgm:pt modelId="{1F3C9C91-7CD8-4205-8352-B1AE48E413E5}" type="pres">
      <dgm:prSet presAssocID="{402CAEA1-A125-4F1B-A255-A499179E253E}" presName="thickLine" presStyleLbl="alignNode1" presStyleIdx="3" presStyleCnt="4"/>
      <dgm:spPr/>
    </dgm:pt>
    <dgm:pt modelId="{142F598B-D444-4E45-B36C-90A4EEE1B177}" type="pres">
      <dgm:prSet presAssocID="{402CAEA1-A125-4F1B-A255-A499179E253E}" presName="horz1" presStyleCnt="0"/>
      <dgm:spPr/>
    </dgm:pt>
    <dgm:pt modelId="{E2442559-9CBF-4121-A499-A972D95AE5C8}" type="pres">
      <dgm:prSet presAssocID="{402CAEA1-A125-4F1B-A255-A499179E253E}" presName="tx1" presStyleLbl="revTx" presStyleIdx="3" presStyleCnt="4"/>
      <dgm:spPr/>
    </dgm:pt>
    <dgm:pt modelId="{6648436A-6119-4512-9836-27D1CC280156}" type="pres">
      <dgm:prSet presAssocID="{402CAEA1-A125-4F1B-A255-A499179E253E}" presName="vert1" presStyleCnt="0"/>
      <dgm:spPr/>
    </dgm:pt>
  </dgm:ptLst>
  <dgm:cxnLst>
    <dgm:cxn modelId="{61279A0F-7195-4F1F-A6C3-D38D2A7CFD3A}" type="presOf" srcId="{F0F1769E-A791-45D5-A175-8C8DDFA8BE26}" destId="{1D7ED71E-A9C4-41C6-ACCD-DC19FE1B9BA9}" srcOrd="0" destOrd="0" presId="urn:microsoft.com/office/officeart/2008/layout/LinedList"/>
    <dgm:cxn modelId="{732F0124-79DB-4ED7-BCCE-56D4A546E2D4}" type="presOf" srcId="{69BD501D-E5AD-47A3-9B31-C422C0C453E0}" destId="{A37F30C5-8D71-427F-93A1-97ED7DD15DB4}" srcOrd="0" destOrd="0" presId="urn:microsoft.com/office/officeart/2008/layout/LinedList"/>
    <dgm:cxn modelId="{2579F13A-0497-449F-9744-9EF682C81312}" type="presOf" srcId="{18C32BE0-8136-48D1-A99F-ECECBEFAD366}" destId="{9184C93E-FA4B-4241-9307-3EE7C43A6AA6}" srcOrd="0" destOrd="0" presId="urn:microsoft.com/office/officeart/2008/layout/LinedList"/>
    <dgm:cxn modelId="{3B872645-AF8D-43ED-897B-E5E599D3652D}" srcId="{42A76478-82F9-4E26-8072-053176E4C0A9}" destId="{F0F1769E-A791-45D5-A175-8C8DDFA8BE26}" srcOrd="1" destOrd="0" parTransId="{7EBD963A-8A7F-41F6-A7AA-5D2765AA1957}" sibTransId="{3D77CB1E-6680-4394-BAB3-ACE2FC0CBF17}"/>
    <dgm:cxn modelId="{AA247662-C9E6-4990-A489-71AE6BECD350}" type="presOf" srcId="{42A76478-82F9-4E26-8072-053176E4C0A9}" destId="{4E4BA7DC-110A-4D4A-9628-3F15E1783F53}" srcOrd="0" destOrd="0" presId="urn:microsoft.com/office/officeart/2008/layout/LinedList"/>
    <dgm:cxn modelId="{5B255469-BD4C-448C-902F-51649E2D48D0}" srcId="{42A76478-82F9-4E26-8072-053176E4C0A9}" destId="{69BD501D-E5AD-47A3-9B31-C422C0C453E0}" srcOrd="2" destOrd="0" parTransId="{046317F7-A569-41F3-A1D0-124E0FC0B352}" sibTransId="{55D389BA-8C13-4BEF-8A50-6CED6DA2CB6D}"/>
    <dgm:cxn modelId="{9CEB027C-DCC3-4FB8-986F-7FA715A96343}" type="presOf" srcId="{402CAEA1-A125-4F1B-A255-A499179E253E}" destId="{E2442559-9CBF-4121-A499-A972D95AE5C8}" srcOrd="0" destOrd="0" presId="urn:microsoft.com/office/officeart/2008/layout/LinedList"/>
    <dgm:cxn modelId="{BB1DDABB-F9E6-4FFC-987A-A1BD568E72B7}" srcId="{42A76478-82F9-4E26-8072-053176E4C0A9}" destId="{18C32BE0-8136-48D1-A99F-ECECBEFAD366}" srcOrd="0" destOrd="0" parTransId="{6C8883BB-EDB9-4F11-97F4-F94EBE3334EA}" sibTransId="{6C07284F-A1EB-4652-A95E-D5AA38B8A067}"/>
    <dgm:cxn modelId="{91CA29CF-FAAE-43AE-96B9-262A35FAF8C2}" srcId="{42A76478-82F9-4E26-8072-053176E4C0A9}" destId="{402CAEA1-A125-4F1B-A255-A499179E253E}" srcOrd="3" destOrd="0" parTransId="{82E26F83-CC1B-4498-A8F8-6DBB691BE413}" sibTransId="{1DB2B23D-C9C5-4F06-A36C-7BFF6D7A9F4A}"/>
    <dgm:cxn modelId="{138D5D74-B2D6-4E29-950A-2D1550A6F12F}" type="presParOf" srcId="{4E4BA7DC-110A-4D4A-9628-3F15E1783F53}" destId="{17EEDE04-4F4F-4394-8775-69A9D6A23C3E}" srcOrd="0" destOrd="0" presId="urn:microsoft.com/office/officeart/2008/layout/LinedList"/>
    <dgm:cxn modelId="{2CD776B1-8E49-47BD-A4BE-4E862CD5900D}" type="presParOf" srcId="{4E4BA7DC-110A-4D4A-9628-3F15E1783F53}" destId="{CADF515B-4161-42BD-ABB7-B364036D39BE}" srcOrd="1" destOrd="0" presId="urn:microsoft.com/office/officeart/2008/layout/LinedList"/>
    <dgm:cxn modelId="{295914B9-8679-4D1E-9AE3-93A52F2E92B8}" type="presParOf" srcId="{CADF515B-4161-42BD-ABB7-B364036D39BE}" destId="{9184C93E-FA4B-4241-9307-3EE7C43A6AA6}" srcOrd="0" destOrd="0" presId="urn:microsoft.com/office/officeart/2008/layout/LinedList"/>
    <dgm:cxn modelId="{4F7E6C9B-5888-4402-BBEC-B6E874F92FB2}" type="presParOf" srcId="{CADF515B-4161-42BD-ABB7-B364036D39BE}" destId="{64979B51-9D0E-4555-92D7-8C616837AFE0}" srcOrd="1" destOrd="0" presId="urn:microsoft.com/office/officeart/2008/layout/LinedList"/>
    <dgm:cxn modelId="{E1A2E7A5-F622-4103-842A-C571ED54EAF0}" type="presParOf" srcId="{4E4BA7DC-110A-4D4A-9628-3F15E1783F53}" destId="{644F021F-5196-41E6-877B-FBA12F69EDD4}" srcOrd="2" destOrd="0" presId="urn:microsoft.com/office/officeart/2008/layout/LinedList"/>
    <dgm:cxn modelId="{4A4AB5CF-70FD-4608-A9D2-8984DE0DC2C8}" type="presParOf" srcId="{4E4BA7DC-110A-4D4A-9628-3F15E1783F53}" destId="{2B1CAAF4-D30F-4C98-B767-79E3519AE83D}" srcOrd="3" destOrd="0" presId="urn:microsoft.com/office/officeart/2008/layout/LinedList"/>
    <dgm:cxn modelId="{8CA48262-BCCA-4B2B-B02D-14FB60930006}" type="presParOf" srcId="{2B1CAAF4-D30F-4C98-B767-79E3519AE83D}" destId="{1D7ED71E-A9C4-41C6-ACCD-DC19FE1B9BA9}" srcOrd="0" destOrd="0" presId="urn:microsoft.com/office/officeart/2008/layout/LinedList"/>
    <dgm:cxn modelId="{A34732E6-1BA3-45E7-BD70-C4F94DADA932}" type="presParOf" srcId="{2B1CAAF4-D30F-4C98-B767-79E3519AE83D}" destId="{63FDD21C-6F1F-4942-A6B2-91AA867E76E8}" srcOrd="1" destOrd="0" presId="urn:microsoft.com/office/officeart/2008/layout/LinedList"/>
    <dgm:cxn modelId="{4C4625C8-3457-4B91-B662-991FD87A553C}" type="presParOf" srcId="{4E4BA7DC-110A-4D4A-9628-3F15E1783F53}" destId="{01FDF6D9-2D60-4729-A3BA-5B15F421BB5C}" srcOrd="4" destOrd="0" presId="urn:microsoft.com/office/officeart/2008/layout/LinedList"/>
    <dgm:cxn modelId="{5A6EDA7B-8F4E-4A37-9CB0-B2F081196E45}" type="presParOf" srcId="{4E4BA7DC-110A-4D4A-9628-3F15E1783F53}" destId="{5B2B6029-54EC-40D0-BB25-8D56F39B2AA3}" srcOrd="5" destOrd="0" presId="urn:microsoft.com/office/officeart/2008/layout/LinedList"/>
    <dgm:cxn modelId="{748BA36C-4816-47CE-883E-1A5BEA19E74C}" type="presParOf" srcId="{5B2B6029-54EC-40D0-BB25-8D56F39B2AA3}" destId="{A37F30C5-8D71-427F-93A1-97ED7DD15DB4}" srcOrd="0" destOrd="0" presId="urn:microsoft.com/office/officeart/2008/layout/LinedList"/>
    <dgm:cxn modelId="{BC103A95-0553-47C9-A854-CF761A994075}" type="presParOf" srcId="{5B2B6029-54EC-40D0-BB25-8D56F39B2AA3}" destId="{743F14E6-9FD1-461F-843B-09470C20DE92}" srcOrd="1" destOrd="0" presId="urn:microsoft.com/office/officeart/2008/layout/LinedList"/>
    <dgm:cxn modelId="{3C5DC405-9D42-4D8F-9541-6FAD26F0EAEC}" type="presParOf" srcId="{4E4BA7DC-110A-4D4A-9628-3F15E1783F53}" destId="{1F3C9C91-7CD8-4205-8352-B1AE48E413E5}" srcOrd="6" destOrd="0" presId="urn:microsoft.com/office/officeart/2008/layout/LinedList"/>
    <dgm:cxn modelId="{9938B634-D04E-4633-AFBF-6ED86F8D0DB2}" type="presParOf" srcId="{4E4BA7DC-110A-4D4A-9628-3F15E1783F53}" destId="{142F598B-D444-4E45-B36C-90A4EEE1B177}" srcOrd="7" destOrd="0" presId="urn:microsoft.com/office/officeart/2008/layout/LinedList"/>
    <dgm:cxn modelId="{D633590F-9521-4461-B807-AD90940C998A}" type="presParOf" srcId="{142F598B-D444-4E45-B36C-90A4EEE1B177}" destId="{E2442559-9CBF-4121-A499-A972D95AE5C8}" srcOrd="0" destOrd="0" presId="urn:microsoft.com/office/officeart/2008/layout/LinedList"/>
    <dgm:cxn modelId="{710A0632-3D35-4BDC-B25A-31D9F75324E0}" type="presParOf" srcId="{142F598B-D444-4E45-B36C-90A4EEE1B177}" destId="{6648436A-6119-4512-9836-27D1CC28015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BB289AF-F0BD-4954-BB88-EFF71D9E232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066E0F6-39E8-4727-8254-6857569F05BF}">
      <dgm:prSet/>
      <dgm:spPr/>
      <dgm:t>
        <a:bodyPr/>
        <a:lstStyle/>
        <a:p>
          <a:r>
            <a:rPr lang="en-SG"/>
            <a:t>Assets that cannot be touched</a:t>
          </a:r>
          <a:endParaRPr lang="en-US"/>
        </a:p>
      </dgm:t>
    </dgm:pt>
    <dgm:pt modelId="{F66BAE3D-A796-490D-AD33-FFDDB9647D0B}" type="parTrans" cxnId="{C9BD9706-30D6-417F-AA22-FEC91341DC5D}">
      <dgm:prSet/>
      <dgm:spPr/>
      <dgm:t>
        <a:bodyPr/>
        <a:lstStyle/>
        <a:p>
          <a:endParaRPr lang="en-US"/>
        </a:p>
      </dgm:t>
    </dgm:pt>
    <dgm:pt modelId="{407B0102-76D4-46AA-966F-6BBB873D5AE2}" type="sibTrans" cxnId="{C9BD9706-30D6-417F-AA22-FEC91341DC5D}">
      <dgm:prSet/>
      <dgm:spPr/>
      <dgm:t>
        <a:bodyPr/>
        <a:lstStyle/>
        <a:p>
          <a:endParaRPr lang="en-US"/>
        </a:p>
      </dgm:t>
    </dgm:pt>
    <dgm:pt modelId="{3F662FEF-5404-4095-A7B4-A6F05E30A984}">
      <dgm:prSet/>
      <dgm:spPr/>
      <dgm:t>
        <a:bodyPr/>
        <a:lstStyle/>
        <a:p>
          <a:r>
            <a:rPr lang="en-SG"/>
            <a:t>Goodwill</a:t>
          </a:r>
          <a:endParaRPr lang="en-US"/>
        </a:p>
      </dgm:t>
    </dgm:pt>
    <dgm:pt modelId="{0DB3BD31-25F4-4A55-BB90-8CCEEF92BFC3}" type="parTrans" cxnId="{744777CE-8770-4F61-8616-533D0E540314}">
      <dgm:prSet/>
      <dgm:spPr/>
      <dgm:t>
        <a:bodyPr/>
        <a:lstStyle/>
        <a:p>
          <a:endParaRPr lang="en-US"/>
        </a:p>
      </dgm:t>
    </dgm:pt>
    <dgm:pt modelId="{43C40FDB-F925-4999-B98C-D282A61778D7}" type="sibTrans" cxnId="{744777CE-8770-4F61-8616-533D0E540314}">
      <dgm:prSet/>
      <dgm:spPr/>
      <dgm:t>
        <a:bodyPr/>
        <a:lstStyle/>
        <a:p>
          <a:endParaRPr lang="en-US"/>
        </a:p>
      </dgm:t>
    </dgm:pt>
    <dgm:pt modelId="{06F4C42D-5725-4E9D-A2DF-7317714376BB}">
      <dgm:prSet/>
      <dgm:spPr/>
      <dgm:t>
        <a:bodyPr/>
        <a:lstStyle/>
        <a:p>
          <a:r>
            <a:rPr lang="en-SG"/>
            <a:t>Brand recognition</a:t>
          </a:r>
          <a:endParaRPr lang="en-US"/>
        </a:p>
      </dgm:t>
    </dgm:pt>
    <dgm:pt modelId="{9B4AE698-326F-4B00-88B2-848BCEAD5EF7}" type="parTrans" cxnId="{DA34EF4B-0F02-44B6-8266-91582D730127}">
      <dgm:prSet/>
      <dgm:spPr/>
      <dgm:t>
        <a:bodyPr/>
        <a:lstStyle/>
        <a:p>
          <a:endParaRPr lang="en-US"/>
        </a:p>
      </dgm:t>
    </dgm:pt>
    <dgm:pt modelId="{A0F7DCFE-261E-4CF0-AB2C-52D917A56C50}" type="sibTrans" cxnId="{DA34EF4B-0F02-44B6-8266-91582D730127}">
      <dgm:prSet/>
      <dgm:spPr/>
      <dgm:t>
        <a:bodyPr/>
        <a:lstStyle/>
        <a:p>
          <a:endParaRPr lang="en-US"/>
        </a:p>
      </dgm:t>
    </dgm:pt>
    <dgm:pt modelId="{AF66D615-EF7C-49D9-B595-A9BADA6CABE9}">
      <dgm:prSet/>
      <dgm:spPr/>
      <dgm:t>
        <a:bodyPr/>
        <a:lstStyle/>
        <a:p>
          <a:r>
            <a:rPr lang="en-SG"/>
            <a:t>Copyrights</a:t>
          </a:r>
          <a:endParaRPr lang="en-US"/>
        </a:p>
      </dgm:t>
    </dgm:pt>
    <dgm:pt modelId="{F002DD1C-626A-4F12-9BDD-78A95D73FC73}" type="parTrans" cxnId="{E54416C5-CCF4-41FF-BC24-67A08BDF35C5}">
      <dgm:prSet/>
      <dgm:spPr/>
      <dgm:t>
        <a:bodyPr/>
        <a:lstStyle/>
        <a:p>
          <a:endParaRPr lang="en-US"/>
        </a:p>
      </dgm:t>
    </dgm:pt>
    <dgm:pt modelId="{28FBA82B-721A-411E-9352-55AE6EFDCED6}" type="sibTrans" cxnId="{E54416C5-CCF4-41FF-BC24-67A08BDF35C5}">
      <dgm:prSet/>
      <dgm:spPr/>
      <dgm:t>
        <a:bodyPr/>
        <a:lstStyle/>
        <a:p>
          <a:endParaRPr lang="en-US"/>
        </a:p>
      </dgm:t>
    </dgm:pt>
    <dgm:pt modelId="{BFE13269-F66A-4CAB-8496-977FAA21C44E}">
      <dgm:prSet/>
      <dgm:spPr/>
      <dgm:t>
        <a:bodyPr/>
        <a:lstStyle/>
        <a:p>
          <a:r>
            <a:rPr lang="en-SG"/>
            <a:t>Patents</a:t>
          </a:r>
          <a:endParaRPr lang="en-US"/>
        </a:p>
      </dgm:t>
    </dgm:pt>
    <dgm:pt modelId="{29780299-C3A8-418B-A283-6A1F9E8B5BB4}" type="parTrans" cxnId="{FF481A77-3515-4974-84DE-19C98728651E}">
      <dgm:prSet/>
      <dgm:spPr/>
      <dgm:t>
        <a:bodyPr/>
        <a:lstStyle/>
        <a:p>
          <a:endParaRPr lang="en-US"/>
        </a:p>
      </dgm:t>
    </dgm:pt>
    <dgm:pt modelId="{191BEE53-8E51-47DD-A825-170B3896D60F}" type="sibTrans" cxnId="{FF481A77-3515-4974-84DE-19C98728651E}">
      <dgm:prSet/>
      <dgm:spPr/>
      <dgm:t>
        <a:bodyPr/>
        <a:lstStyle/>
        <a:p>
          <a:endParaRPr lang="en-US"/>
        </a:p>
      </dgm:t>
    </dgm:pt>
    <dgm:pt modelId="{DD40FED4-2A53-4B72-BB61-6FB8FC8CDE33}">
      <dgm:prSet/>
      <dgm:spPr/>
      <dgm:t>
        <a:bodyPr/>
        <a:lstStyle/>
        <a:p>
          <a:r>
            <a:rPr lang="en-SG"/>
            <a:t>Trademarks</a:t>
          </a:r>
          <a:endParaRPr lang="en-US"/>
        </a:p>
      </dgm:t>
    </dgm:pt>
    <dgm:pt modelId="{EC0ABE38-EA10-4111-A21A-DA9269EE15C3}" type="parTrans" cxnId="{961518A2-EEC6-47B1-AEA0-8071CE1615F8}">
      <dgm:prSet/>
      <dgm:spPr/>
      <dgm:t>
        <a:bodyPr/>
        <a:lstStyle/>
        <a:p>
          <a:endParaRPr lang="en-US"/>
        </a:p>
      </dgm:t>
    </dgm:pt>
    <dgm:pt modelId="{C9002B77-8F76-4C11-A6DC-92B8726FAC2D}" type="sibTrans" cxnId="{961518A2-EEC6-47B1-AEA0-8071CE1615F8}">
      <dgm:prSet/>
      <dgm:spPr/>
      <dgm:t>
        <a:bodyPr/>
        <a:lstStyle/>
        <a:p>
          <a:endParaRPr lang="en-US"/>
        </a:p>
      </dgm:t>
    </dgm:pt>
    <dgm:pt modelId="{F0A04C47-E117-4639-BF52-45DFEC1A3D0F}">
      <dgm:prSet/>
      <dgm:spPr/>
      <dgm:t>
        <a:bodyPr/>
        <a:lstStyle/>
        <a:p>
          <a:r>
            <a:rPr lang="en-SG"/>
            <a:t>Trade Names</a:t>
          </a:r>
          <a:endParaRPr lang="en-US"/>
        </a:p>
      </dgm:t>
    </dgm:pt>
    <dgm:pt modelId="{51D2C741-2438-45AD-9632-6335AB3C1B0C}" type="parTrans" cxnId="{BE059473-B4E3-41C8-954F-86EF54728D3C}">
      <dgm:prSet/>
      <dgm:spPr/>
      <dgm:t>
        <a:bodyPr/>
        <a:lstStyle/>
        <a:p>
          <a:endParaRPr lang="en-US"/>
        </a:p>
      </dgm:t>
    </dgm:pt>
    <dgm:pt modelId="{EC5720A4-1164-4F36-84D7-FB608E983BA3}" type="sibTrans" cxnId="{BE059473-B4E3-41C8-954F-86EF54728D3C}">
      <dgm:prSet/>
      <dgm:spPr/>
      <dgm:t>
        <a:bodyPr/>
        <a:lstStyle/>
        <a:p>
          <a:endParaRPr lang="en-US"/>
        </a:p>
      </dgm:t>
    </dgm:pt>
    <dgm:pt modelId="{8C26BBEC-396A-464B-B7B9-308848D32B0F}">
      <dgm:prSet/>
      <dgm:spPr/>
      <dgm:t>
        <a:bodyPr/>
        <a:lstStyle/>
        <a:p>
          <a:r>
            <a:rPr lang="en-SG"/>
            <a:t>Customer Lists</a:t>
          </a:r>
          <a:endParaRPr lang="en-US"/>
        </a:p>
      </dgm:t>
    </dgm:pt>
    <dgm:pt modelId="{1E581D0B-9DEA-49A9-B5CE-49B4D8194B33}" type="parTrans" cxnId="{A379A1A8-97A2-4259-AD1E-2CA2679B7EF0}">
      <dgm:prSet/>
      <dgm:spPr/>
      <dgm:t>
        <a:bodyPr/>
        <a:lstStyle/>
        <a:p>
          <a:endParaRPr lang="en-US"/>
        </a:p>
      </dgm:t>
    </dgm:pt>
    <dgm:pt modelId="{5BDC072A-537B-444E-9E79-92325D2D1E86}" type="sibTrans" cxnId="{A379A1A8-97A2-4259-AD1E-2CA2679B7EF0}">
      <dgm:prSet/>
      <dgm:spPr/>
      <dgm:t>
        <a:bodyPr/>
        <a:lstStyle/>
        <a:p>
          <a:endParaRPr lang="en-US"/>
        </a:p>
      </dgm:t>
    </dgm:pt>
    <dgm:pt modelId="{B5946404-6208-4DEA-87D0-EFB341AB010E}" type="pres">
      <dgm:prSet presAssocID="{9BB289AF-F0BD-4954-BB88-EFF71D9E232D}" presName="vert0" presStyleCnt="0">
        <dgm:presLayoutVars>
          <dgm:dir/>
          <dgm:animOne val="branch"/>
          <dgm:animLvl val="lvl"/>
        </dgm:presLayoutVars>
      </dgm:prSet>
      <dgm:spPr/>
    </dgm:pt>
    <dgm:pt modelId="{A7E7E75E-8842-4E7D-BD8F-061473B18D82}" type="pres">
      <dgm:prSet presAssocID="{8066E0F6-39E8-4727-8254-6857569F05BF}" presName="thickLine" presStyleLbl="alignNode1" presStyleIdx="0" presStyleCnt="8"/>
      <dgm:spPr/>
    </dgm:pt>
    <dgm:pt modelId="{11C32AF8-7219-4773-A2BC-E204A27502CD}" type="pres">
      <dgm:prSet presAssocID="{8066E0F6-39E8-4727-8254-6857569F05BF}" presName="horz1" presStyleCnt="0"/>
      <dgm:spPr/>
    </dgm:pt>
    <dgm:pt modelId="{3495E01A-09B5-4D44-8748-A99FAEEAC8ED}" type="pres">
      <dgm:prSet presAssocID="{8066E0F6-39E8-4727-8254-6857569F05BF}" presName="tx1" presStyleLbl="revTx" presStyleIdx="0" presStyleCnt="8"/>
      <dgm:spPr/>
    </dgm:pt>
    <dgm:pt modelId="{6346E005-CB1B-4BD7-8BE2-6DEDF6E23DCC}" type="pres">
      <dgm:prSet presAssocID="{8066E0F6-39E8-4727-8254-6857569F05BF}" presName="vert1" presStyleCnt="0"/>
      <dgm:spPr/>
    </dgm:pt>
    <dgm:pt modelId="{EB6D7191-F60B-4080-B165-97298846A14F}" type="pres">
      <dgm:prSet presAssocID="{3F662FEF-5404-4095-A7B4-A6F05E30A984}" presName="thickLine" presStyleLbl="alignNode1" presStyleIdx="1" presStyleCnt="8"/>
      <dgm:spPr/>
    </dgm:pt>
    <dgm:pt modelId="{511F1339-79F6-45CE-97F4-18CD8D1F43CF}" type="pres">
      <dgm:prSet presAssocID="{3F662FEF-5404-4095-A7B4-A6F05E30A984}" presName="horz1" presStyleCnt="0"/>
      <dgm:spPr/>
    </dgm:pt>
    <dgm:pt modelId="{013DD859-1816-4E52-BA9A-7B1B2D3A964D}" type="pres">
      <dgm:prSet presAssocID="{3F662FEF-5404-4095-A7B4-A6F05E30A984}" presName="tx1" presStyleLbl="revTx" presStyleIdx="1" presStyleCnt="8"/>
      <dgm:spPr/>
    </dgm:pt>
    <dgm:pt modelId="{6C799E3C-7A5D-44D9-A724-1D7D09CBD648}" type="pres">
      <dgm:prSet presAssocID="{3F662FEF-5404-4095-A7B4-A6F05E30A984}" presName="vert1" presStyleCnt="0"/>
      <dgm:spPr/>
    </dgm:pt>
    <dgm:pt modelId="{DB70D8FA-FB6C-46D9-8E75-7BDE2E4D60D7}" type="pres">
      <dgm:prSet presAssocID="{06F4C42D-5725-4E9D-A2DF-7317714376BB}" presName="thickLine" presStyleLbl="alignNode1" presStyleIdx="2" presStyleCnt="8"/>
      <dgm:spPr/>
    </dgm:pt>
    <dgm:pt modelId="{04BA6471-7B9C-45B5-B1AB-6D6F86BFD63E}" type="pres">
      <dgm:prSet presAssocID="{06F4C42D-5725-4E9D-A2DF-7317714376BB}" presName="horz1" presStyleCnt="0"/>
      <dgm:spPr/>
    </dgm:pt>
    <dgm:pt modelId="{1568E8F1-A9EA-4659-9357-6F35EBC5430B}" type="pres">
      <dgm:prSet presAssocID="{06F4C42D-5725-4E9D-A2DF-7317714376BB}" presName="tx1" presStyleLbl="revTx" presStyleIdx="2" presStyleCnt="8"/>
      <dgm:spPr/>
    </dgm:pt>
    <dgm:pt modelId="{5D5CE9EE-58A3-471D-BBF5-A00A50C5B689}" type="pres">
      <dgm:prSet presAssocID="{06F4C42D-5725-4E9D-A2DF-7317714376BB}" presName="vert1" presStyleCnt="0"/>
      <dgm:spPr/>
    </dgm:pt>
    <dgm:pt modelId="{2F0B64D7-FB9F-41DB-9301-998FE869B4EA}" type="pres">
      <dgm:prSet presAssocID="{AF66D615-EF7C-49D9-B595-A9BADA6CABE9}" presName="thickLine" presStyleLbl="alignNode1" presStyleIdx="3" presStyleCnt="8"/>
      <dgm:spPr/>
    </dgm:pt>
    <dgm:pt modelId="{27E33991-6680-4E71-B289-698CB38365E5}" type="pres">
      <dgm:prSet presAssocID="{AF66D615-EF7C-49D9-B595-A9BADA6CABE9}" presName="horz1" presStyleCnt="0"/>
      <dgm:spPr/>
    </dgm:pt>
    <dgm:pt modelId="{03EE4CA3-989B-4F76-B63C-A8A3A7444011}" type="pres">
      <dgm:prSet presAssocID="{AF66D615-EF7C-49D9-B595-A9BADA6CABE9}" presName="tx1" presStyleLbl="revTx" presStyleIdx="3" presStyleCnt="8"/>
      <dgm:spPr/>
    </dgm:pt>
    <dgm:pt modelId="{89CF6B00-CA8B-4255-BDF7-B63F93FF9A15}" type="pres">
      <dgm:prSet presAssocID="{AF66D615-EF7C-49D9-B595-A9BADA6CABE9}" presName="vert1" presStyleCnt="0"/>
      <dgm:spPr/>
    </dgm:pt>
    <dgm:pt modelId="{A699DDC2-E97E-4D82-A712-DFFECFB940FA}" type="pres">
      <dgm:prSet presAssocID="{BFE13269-F66A-4CAB-8496-977FAA21C44E}" presName="thickLine" presStyleLbl="alignNode1" presStyleIdx="4" presStyleCnt="8"/>
      <dgm:spPr/>
    </dgm:pt>
    <dgm:pt modelId="{71397AF2-3383-4304-8076-3FA240A116B5}" type="pres">
      <dgm:prSet presAssocID="{BFE13269-F66A-4CAB-8496-977FAA21C44E}" presName="horz1" presStyleCnt="0"/>
      <dgm:spPr/>
    </dgm:pt>
    <dgm:pt modelId="{4D39A8AF-94F0-4A1A-A117-94E40F3C9BAC}" type="pres">
      <dgm:prSet presAssocID="{BFE13269-F66A-4CAB-8496-977FAA21C44E}" presName="tx1" presStyleLbl="revTx" presStyleIdx="4" presStyleCnt="8"/>
      <dgm:spPr/>
    </dgm:pt>
    <dgm:pt modelId="{E1C265D7-EC7B-4EE7-807C-A0B2627641DE}" type="pres">
      <dgm:prSet presAssocID="{BFE13269-F66A-4CAB-8496-977FAA21C44E}" presName="vert1" presStyleCnt="0"/>
      <dgm:spPr/>
    </dgm:pt>
    <dgm:pt modelId="{8D445AF3-0905-422D-8A55-B3939A3A85FA}" type="pres">
      <dgm:prSet presAssocID="{DD40FED4-2A53-4B72-BB61-6FB8FC8CDE33}" presName="thickLine" presStyleLbl="alignNode1" presStyleIdx="5" presStyleCnt="8"/>
      <dgm:spPr/>
    </dgm:pt>
    <dgm:pt modelId="{4D6B6077-509D-4A67-922A-D0EBBF231415}" type="pres">
      <dgm:prSet presAssocID="{DD40FED4-2A53-4B72-BB61-6FB8FC8CDE33}" presName="horz1" presStyleCnt="0"/>
      <dgm:spPr/>
    </dgm:pt>
    <dgm:pt modelId="{1DD345E1-1650-4664-BC3C-2673BD13A5E1}" type="pres">
      <dgm:prSet presAssocID="{DD40FED4-2A53-4B72-BB61-6FB8FC8CDE33}" presName="tx1" presStyleLbl="revTx" presStyleIdx="5" presStyleCnt="8"/>
      <dgm:spPr/>
    </dgm:pt>
    <dgm:pt modelId="{98B025F0-07C4-457E-A817-202714385C43}" type="pres">
      <dgm:prSet presAssocID="{DD40FED4-2A53-4B72-BB61-6FB8FC8CDE33}" presName="vert1" presStyleCnt="0"/>
      <dgm:spPr/>
    </dgm:pt>
    <dgm:pt modelId="{8D899372-25D3-48E3-9E47-2752D94843C3}" type="pres">
      <dgm:prSet presAssocID="{F0A04C47-E117-4639-BF52-45DFEC1A3D0F}" presName="thickLine" presStyleLbl="alignNode1" presStyleIdx="6" presStyleCnt="8"/>
      <dgm:spPr/>
    </dgm:pt>
    <dgm:pt modelId="{511FEBAB-BD06-4954-8359-BD7B056E32E4}" type="pres">
      <dgm:prSet presAssocID="{F0A04C47-E117-4639-BF52-45DFEC1A3D0F}" presName="horz1" presStyleCnt="0"/>
      <dgm:spPr/>
    </dgm:pt>
    <dgm:pt modelId="{CCAD536D-5015-4F98-ACA0-6310F21EC373}" type="pres">
      <dgm:prSet presAssocID="{F0A04C47-E117-4639-BF52-45DFEC1A3D0F}" presName="tx1" presStyleLbl="revTx" presStyleIdx="6" presStyleCnt="8"/>
      <dgm:spPr/>
    </dgm:pt>
    <dgm:pt modelId="{55A356A1-D79B-42BA-8A9E-9D17608C49A7}" type="pres">
      <dgm:prSet presAssocID="{F0A04C47-E117-4639-BF52-45DFEC1A3D0F}" presName="vert1" presStyleCnt="0"/>
      <dgm:spPr/>
    </dgm:pt>
    <dgm:pt modelId="{27ECE80C-6931-42D8-946B-0ECD3371AD21}" type="pres">
      <dgm:prSet presAssocID="{8C26BBEC-396A-464B-B7B9-308848D32B0F}" presName="thickLine" presStyleLbl="alignNode1" presStyleIdx="7" presStyleCnt="8"/>
      <dgm:spPr/>
    </dgm:pt>
    <dgm:pt modelId="{B2641B1A-2AC3-42BE-AC39-7BA23469CD77}" type="pres">
      <dgm:prSet presAssocID="{8C26BBEC-396A-464B-B7B9-308848D32B0F}" presName="horz1" presStyleCnt="0"/>
      <dgm:spPr/>
    </dgm:pt>
    <dgm:pt modelId="{D370E172-C278-4F4E-8FD8-159826C4C99C}" type="pres">
      <dgm:prSet presAssocID="{8C26BBEC-396A-464B-B7B9-308848D32B0F}" presName="tx1" presStyleLbl="revTx" presStyleIdx="7" presStyleCnt="8"/>
      <dgm:spPr/>
    </dgm:pt>
    <dgm:pt modelId="{D9E9BEFE-91DF-4507-AFA4-8EA747D87963}" type="pres">
      <dgm:prSet presAssocID="{8C26BBEC-396A-464B-B7B9-308848D32B0F}" presName="vert1" presStyleCnt="0"/>
      <dgm:spPr/>
    </dgm:pt>
  </dgm:ptLst>
  <dgm:cxnLst>
    <dgm:cxn modelId="{C9BD9706-30D6-417F-AA22-FEC91341DC5D}" srcId="{9BB289AF-F0BD-4954-BB88-EFF71D9E232D}" destId="{8066E0F6-39E8-4727-8254-6857569F05BF}" srcOrd="0" destOrd="0" parTransId="{F66BAE3D-A796-490D-AD33-FFDDB9647D0B}" sibTransId="{407B0102-76D4-46AA-966F-6BBB873D5AE2}"/>
    <dgm:cxn modelId="{D61F540F-C16C-4082-B95D-CCF48AFAB864}" type="presOf" srcId="{F0A04C47-E117-4639-BF52-45DFEC1A3D0F}" destId="{CCAD536D-5015-4F98-ACA0-6310F21EC373}" srcOrd="0" destOrd="0" presId="urn:microsoft.com/office/officeart/2008/layout/LinedList"/>
    <dgm:cxn modelId="{05DE9D1B-DB15-4983-B70B-1449676F4023}" type="presOf" srcId="{BFE13269-F66A-4CAB-8496-977FAA21C44E}" destId="{4D39A8AF-94F0-4A1A-A117-94E40F3C9BAC}" srcOrd="0" destOrd="0" presId="urn:microsoft.com/office/officeart/2008/layout/LinedList"/>
    <dgm:cxn modelId="{88D5E027-B2FC-46BB-A687-A951ECE9CF78}" type="presOf" srcId="{06F4C42D-5725-4E9D-A2DF-7317714376BB}" destId="{1568E8F1-A9EA-4659-9357-6F35EBC5430B}" srcOrd="0" destOrd="0" presId="urn:microsoft.com/office/officeart/2008/layout/LinedList"/>
    <dgm:cxn modelId="{398CC028-3501-447B-8804-7A91AE3CE1B3}" type="presOf" srcId="{AF66D615-EF7C-49D9-B595-A9BADA6CABE9}" destId="{03EE4CA3-989B-4F76-B63C-A8A3A7444011}" srcOrd="0" destOrd="0" presId="urn:microsoft.com/office/officeart/2008/layout/LinedList"/>
    <dgm:cxn modelId="{E15DA541-1136-4763-9145-69D7B06C07D6}" type="presOf" srcId="{DD40FED4-2A53-4B72-BB61-6FB8FC8CDE33}" destId="{1DD345E1-1650-4664-BC3C-2673BD13A5E1}" srcOrd="0" destOrd="0" presId="urn:microsoft.com/office/officeart/2008/layout/LinedList"/>
    <dgm:cxn modelId="{01120E45-6B74-498A-9A4E-48BCC6B76837}" type="presOf" srcId="{8C26BBEC-396A-464B-B7B9-308848D32B0F}" destId="{D370E172-C278-4F4E-8FD8-159826C4C99C}" srcOrd="0" destOrd="0" presId="urn:microsoft.com/office/officeart/2008/layout/LinedList"/>
    <dgm:cxn modelId="{DA34EF4B-0F02-44B6-8266-91582D730127}" srcId="{9BB289AF-F0BD-4954-BB88-EFF71D9E232D}" destId="{06F4C42D-5725-4E9D-A2DF-7317714376BB}" srcOrd="2" destOrd="0" parTransId="{9B4AE698-326F-4B00-88B2-848BCEAD5EF7}" sibTransId="{A0F7DCFE-261E-4CF0-AB2C-52D917A56C50}"/>
    <dgm:cxn modelId="{BE059473-B4E3-41C8-954F-86EF54728D3C}" srcId="{9BB289AF-F0BD-4954-BB88-EFF71D9E232D}" destId="{F0A04C47-E117-4639-BF52-45DFEC1A3D0F}" srcOrd="6" destOrd="0" parTransId="{51D2C741-2438-45AD-9632-6335AB3C1B0C}" sibTransId="{EC5720A4-1164-4F36-84D7-FB608E983BA3}"/>
    <dgm:cxn modelId="{FF481A77-3515-4974-84DE-19C98728651E}" srcId="{9BB289AF-F0BD-4954-BB88-EFF71D9E232D}" destId="{BFE13269-F66A-4CAB-8496-977FAA21C44E}" srcOrd="4" destOrd="0" parTransId="{29780299-C3A8-418B-A283-6A1F9E8B5BB4}" sibTransId="{191BEE53-8E51-47DD-A825-170B3896D60F}"/>
    <dgm:cxn modelId="{961518A2-EEC6-47B1-AEA0-8071CE1615F8}" srcId="{9BB289AF-F0BD-4954-BB88-EFF71D9E232D}" destId="{DD40FED4-2A53-4B72-BB61-6FB8FC8CDE33}" srcOrd="5" destOrd="0" parTransId="{EC0ABE38-EA10-4111-A21A-DA9269EE15C3}" sibTransId="{C9002B77-8F76-4C11-A6DC-92B8726FAC2D}"/>
    <dgm:cxn modelId="{A379A1A8-97A2-4259-AD1E-2CA2679B7EF0}" srcId="{9BB289AF-F0BD-4954-BB88-EFF71D9E232D}" destId="{8C26BBEC-396A-464B-B7B9-308848D32B0F}" srcOrd="7" destOrd="0" parTransId="{1E581D0B-9DEA-49A9-B5CE-49B4D8194B33}" sibTransId="{5BDC072A-537B-444E-9E79-92325D2D1E86}"/>
    <dgm:cxn modelId="{E54416C5-CCF4-41FF-BC24-67A08BDF35C5}" srcId="{9BB289AF-F0BD-4954-BB88-EFF71D9E232D}" destId="{AF66D615-EF7C-49D9-B595-A9BADA6CABE9}" srcOrd="3" destOrd="0" parTransId="{F002DD1C-626A-4F12-9BDD-78A95D73FC73}" sibTransId="{28FBA82B-721A-411E-9352-55AE6EFDCED6}"/>
    <dgm:cxn modelId="{002CA6CC-44C3-44F6-9AD8-8BF34F06965F}" type="presOf" srcId="{8066E0F6-39E8-4727-8254-6857569F05BF}" destId="{3495E01A-09B5-4D44-8748-A99FAEEAC8ED}" srcOrd="0" destOrd="0" presId="urn:microsoft.com/office/officeart/2008/layout/LinedList"/>
    <dgm:cxn modelId="{744777CE-8770-4F61-8616-533D0E540314}" srcId="{9BB289AF-F0BD-4954-BB88-EFF71D9E232D}" destId="{3F662FEF-5404-4095-A7B4-A6F05E30A984}" srcOrd="1" destOrd="0" parTransId="{0DB3BD31-25F4-4A55-BB90-8CCEEF92BFC3}" sibTransId="{43C40FDB-F925-4999-B98C-D282A61778D7}"/>
    <dgm:cxn modelId="{6410BCCF-38F8-46FD-B184-8F6CDF2E7841}" type="presOf" srcId="{9BB289AF-F0BD-4954-BB88-EFF71D9E232D}" destId="{B5946404-6208-4DEA-87D0-EFB341AB010E}" srcOrd="0" destOrd="0" presId="urn:microsoft.com/office/officeart/2008/layout/LinedList"/>
    <dgm:cxn modelId="{85AF42D2-3C59-49E0-9B02-F7831AFC29EA}" type="presOf" srcId="{3F662FEF-5404-4095-A7B4-A6F05E30A984}" destId="{013DD859-1816-4E52-BA9A-7B1B2D3A964D}" srcOrd="0" destOrd="0" presId="urn:microsoft.com/office/officeart/2008/layout/LinedList"/>
    <dgm:cxn modelId="{144E7ABE-4B6A-453D-8E4C-425A515BBC1E}" type="presParOf" srcId="{B5946404-6208-4DEA-87D0-EFB341AB010E}" destId="{A7E7E75E-8842-4E7D-BD8F-061473B18D82}" srcOrd="0" destOrd="0" presId="urn:microsoft.com/office/officeart/2008/layout/LinedList"/>
    <dgm:cxn modelId="{AF337262-E044-4699-BAD5-B0CA80D5C977}" type="presParOf" srcId="{B5946404-6208-4DEA-87D0-EFB341AB010E}" destId="{11C32AF8-7219-4773-A2BC-E204A27502CD}" srcOrd="1" destOrd="0" presId="urn:microsoft.com/office/officeart/2008/layout/LinedList"/>
    <dgm:cxn modelId="{E2F1F320-83A1-4164-8A2E-C5B5BF1586E3}" type="presParOf" srcId="{11C32AF8-7219-4773-A2BC-E204A27502CD}" destId="{3495E01A-09B5-4D44-8748-A99FAEEAC8ED}" srcOrd="0" destOrd="0" presId="urn:microsoft.com/office/officeart/2008/layout/LinedList"/>
    <dgm:cxn modelId="{B68AD9AA-1994-4FE1-867F-A6F4716E6257}" type="presParOf" srcId="{11C32AF8-7219-4773-A2BC-E204A27502CD}" destId="{6346E005-CB1B-4BD7-8BE2-6DEDF6E23DCC}" srcOrd="1" destOrd="0" presId="urn:microsoft.com/office/officeart/2008/layout/LinedList"/>
    <dgm:cxn modelId="{83A4D52C-E743-41FD-8F82-28E876392DF3}" type="presParOf" srcId="{B5946404-6208-4DEA-87D0-EFB341AB010E}" destId="{EB6D7191-F60B-4080-B165-97298846A14F}" srcOrd="2" destOrd="0" presId="urn:microsoft.com/office/officeart/2008/layout/LinedList"/>
    <dgm:cxn modelId="{668B2557-5052-4A92-9D65-8CBF96671EF3}" type="presParOf" srcId="{B5946404-6208-4DEA-87D0-EFB341AB010E}" destId="{511F1339-79F6-45CE-97F4-18CD8D1F43CF}" srcOrd="3" destOrd="0" presId="urn:microsoft.com/office/officeart/2008/layout/LinedList"/>
    <dgm:cxn modelId="{26CBF0DB-DC15-42A8-989E-4BE86FB66B15}" type="presParOf" srcId="{511F1339-79F6-45CE-97F4-18CD8D1F43CF}" destId="{013DD859-1816-4E52-BA9A-7B1B2D3A964D}" srcOrd="0" destOrd="0" presId="urn:microsoft.com/office/officeart/2008/layout/LinedList"/>
    <dgm:cxn modelId="{4CB8DFDB-E7FE-4816-B2CB-185BB1C743F2}" type="presParOf" srcId="{511F1339-79F6-45CE-97F4-18CD8D1F43CF}" destId="{6C799E3C-7A5D-44D9-A724-1D7D09CBD648}" srcOrd="1" destOrd="0" presId="urn:microsoft.com/office/officeart/2008/layout/LinedList"/>
    <dgm:cxn modelId="{A6823A85-0C9B-404E-B39C-866FE27CE057}" type="presParOf" srcId="{B5946404-6208-4DEA-87D0-EFB341AB010E}" destId="{DB70D8FA-FB6C-46D9-8E75-7BDE2E4D60D7}" srcOrd="4" destOrd="0" presId="urn:microsoft.com/office/officeart/2008/layout/LinedList"/>
    <dgm:cxn modelId="{D8FE431D-88E0-4915-934A-1651D4C5E3A7}" type="presParOf" srcId="{B5946404-6208-4DEA-87D0-EFB341AB010E}" destId="{04BA6471-7B9C-45B5-B1AB-6D6F86BFD63E}" srcOrd="5" destOrd="0" presId="urn:microsoft.com/office/officeart/2008/layout/LinedList"/>
    <dgm:cxn modelId="{E8D59448-F3FB-49D6-90E1-D4BEFFF221CB}" type="presParOf" srcId="{04BA6471-7B9C-45B5-B1AB-6D6F86BFD63E}" destId="{1568E8F1-A9EA-4659-9357-6F35EBC5430B}" srcOrd="0" destOrd="0" presId="urn:microsoft.com/office/officeart/2008/layout/LinedList"/>
    <dgm:cxn modelId="{EFE83F0F-69EE-49A9-BF88-D052829F58E6}" type="presParOf" srcId="{04BA6471-7B9C-45B5-B1AB-6D6F86BFD63E}" destId="{5D5CE9EE-58A3-471D-BBF5-A00A50C5B689}" srcOrd="1" destOrd="0" presId="urn:microsoft.com/office/officeart/2008/layout/LinedList"/>
    <dgm:cxn modelId="{6C251580-D9A9-414B-9D32-4A908A0B9573}" type="presParOf" srcId="{B5946404-6208-4DEA-87D0-EFB341AB010E}" destId="{2F0B64D7-FB9F-41DB-9301-998FE869B4EA}" srcOrd="6" destOrd="0" presId="urn:microsoft.com/office/officeart/2008/layout/LinedList"/>
    <dgm:cxn modelId="{9A05E0B8-134B-4641-87C7-9ACDFDD08538}" type="presParOf" srcId="{B5946404-6208-4DEA-87D0-EFB341AB010E}" destId="{27E33991-6680-4E71-B289-698CB38365E5}" srcOrd="7" destOrd="0" presId="urn:microsoft.com/office/officeart/2008/layout/LinedList"/>
    <dgm:cxn modelId="{A35E65DD-D192-4343-8FA3-7849FD6CB043}" type="presParOf" srcId="{27E33991-6680-4E71-B289-698CB38365E5}" destId="{03EE4CA3-989B-4F76-B63C-A8A3A7444011}" srcOrd="0" destOrd="0" presId="urn:microsoft.com/office/officeart/2008/layout/LinedList"/>
    <dgm:cxn modelId="{E5830621-D6EA-4317-8009-3600708F1A50}" type="presParOf" srcId="{27E33991-6680-4E71-B289-698CB38365E5}" destId="{89CF6B00-CA8B-4255-BDF7-B63F93FF9A15}" srcOrd="1" destOrd="0" presId="urn:microsoft.com/office/officeart/2008/layout/LinedList"/>
    <dgm:cxn modelId="{5AC1C982-B616-454E-A77C-00EEBA1455A3}" type="presParOf" srcId="{B5946404-6208-4DEA-87D0-EFB341AB010E}" destId="{A699DDC2-E97E-4D82-A712-DFFECFB940FA}" srcOrd="8" destOrd="0" presId="urn:microsoft.com/office/officeart/2008/layout/LinedList"/>
    <dgm:cxn modelId="{F7549B15-D3CA-4E28-BF6C-CB49D7DC51DE}" type="presParOf" srcId="{B5946404-6208-4DEA-87D0-EFB341AB010E}" destId="{71397AF2-3383-4304-8076-3FA240A116B5}" srcOrd="9" destOrd="0" presId="urn:microsoft.com/office/officeart/2008/layout/LinedList"/>
    <dgm:cxn modelId="{13CC6C1B-F018-4A65-97AA-90911C59DD7F}" type="presParOf" srcId="{71397AF2-3383-4304-8076-3FA240A116B5}" destId="{4D39A8AF-94F0-4A1A-A117-94E40F3C9BAC}" srcOrd="0" destOrd="0" presId="urn:microsoft.com/office/officeart/2008/layout/LinedList"/>
    <dgm:cxn modelId="{B009EB18-FFBF-4AA8-A983-E1BB7A01FA51}" type="presParOf" srcId="{71397AF2-3383-4304-8076-3FA240A116B5}" destId="{E1C265D7-EC7B-4EE7-807C-A0B2627641DE}" srcOrd="1" destOrd="0" presId="urn:microsoft.com/office/officeart/2008/layout/LinedList"/>
    <dgm:cxn modelId="{6866C787-8B1A-40A2-AD6A-1BBFDEE7A4EB}" type="presParOf" srcId="{B5946404-6208-4DEA-87D0-EFB341AB010E}" destId="{8D445AF3-0905-422D-8A55-B3939A3A85FA}" srcOrd="10" destOrd="0" presId="urn:microsoft.com/office/officeart/2008/layout/LinedList"/>
    <dgm:cxn modelId="{8AA112DF-50B7-4B99-8357-536F591309E9}" type="presParOf" srcId="{B5946404-6208-4DEA-87D0-EFB341AB010E}" destId="{4D6B6077-509D-4A67-922A-D0EBBF231415}" srcOrd="11" destOrd="0" presId="urn:microsoft.com/office/officeart/2008/layout/LinedList"/>
    <dgm:cxn modelId="{ED4FC3AF-F57E-4B46-9FA8-4B921ADD0F30}" type="presParOf" srcId="{4D6B6077-509D-4A67-922A-D0EBBF231415}" destId="{1DD345E1-1650-4664-BC3C-2673BD13A5E1}" srcOrd="0" destOrd="0" presId="urn:microsoft.com/office/officeart/2008/layout/LinedList"/>
    <dgm:cxn modelId="{B5E079B0-976C-43F5-A0E2-7EB395F39A6A}" type="presParOf" srcId="{4D6B6077-509D-4A67-922A-D0EBBF231415}" destId="{98B025F0-07C4-457E-A817-202714385C43}" srcOrd="1" destOrd="0" presId="urn:microsoft.com/office/officeart/2008/layout/LinedList"/>
    <dgm:cxn modelId="{48A51FCB-8011-40DB-9367-5109F33B5192}" type="presParOf" srcId="{B5946404-6208-4DEA-87D0-EFB341AB010E}" destId="{8D899372-25D3-48E3-9E47-2752D94843C3}" srcOrd="12" destOrd="0" presId="urn:microsoft.com/office/officeart/2008/layout/LinedList"/>
    <dgm:cxn modelId="{17C94960-56A2-4984-9560-2CC4B3970D27}" type="presParOf" srcId="{B5946404-6208-4DEA-87D0-EFB341AB010E}" destId="{511FEBAB-BD06-4954-8359-BD7B056E32E4}" srcOrd="13" destOrd="0" presId="urn:microsoft.com/office/officeart/2008/layout/LinedList"/>
    <dgm:cxn modelId="{981B97F8-0C22-4F91-B2C5-3DE640E1033B}" type="presParOf" srcId="{511FEBAB-BD06-4954-8359-BD7B056E32E4}" destId="{CCAD536D-5015-4F98-ACA0-6310F21EC373}" srcOrd="0" destOrd="0" presId="urn:microsoft.com/office/officeart/2008/layout/LinedList"/>
    <dgm:cxn modelId="{C5E9BC5B-A9F8-4659-9125-9FA7F7DB38A5}" type="presParOf" srcId="{511FEBAB-BD06-4954-8359-BD7B056E32E4}" destId="{55A356A1-D79B-42BA-8A9E-9D17608C49A7}" srcOrd="1" destOrd="0" presId="urn:microsoft.com/office/officeart/2008/layout/LinedList"/>
    <dgm:cxn modelId="{027A7740-D033-440D-B805-1478957844BD}" type="presParOf" srcId="{B5946404-6208-4DEA-87D0-EFB341AB010E}" destId="{27ECE80C-6931-42D8-946B-0ECD3371AD21}" srcOrd="14" destOrd="0" presId="urn:microsoft.com/office/officeart/2008/layout/LinedList"/>
    <dgm:cxn modelId="{3D924373-0BC5-40A4-A736-D82FB8C15364}" type="presParOf" srcId="{B5946404-6208-4DEA-87D0-EFB341AB010E}" destId="{B2641B1A-2AC3-42BE-AC39-7BA23469CD77}" srcOrd="15" destOrd="0" presId="urn:microsoft.com/office/officeart/2008/layout/LinedList"/>
    <dgm:cxn modelId="{A09BC058-7B92-47F1-B11E-D4A4F3F01CFE}" type="presParOf" srcId="{B2641B1A-2AC3-42BE-AC39-7BA23469CD77}" destId="{D370E172-C278-4F4E-8FD8-159826C4C99C}" srcOrd="0" destOrd="0" presId="urn:microsoft.com/office/officeart/2008/layout/LinedList"/>
    <dgm:cxn modelId="{9EB64102-F76F-47EE-9F9C-AF004E77AA6D}" type="presParOf" srcId="{B2641B1A-2AC3-42BE-AC39-7BA23469CD77}" destId="{D9E9BEFE-91DF-4507-AFA4-8EA747D8796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4F275F9-E06F-45FD-BC2E-0F372FEEFF3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7941BEE-0268-473D-B8FE-C88A72AA9EFB}">
      <dgm:prSet/>
      <dgm:spPr/>
      <dgm:t>
        <a:bodyPr/>
        <a:lstStyle/>
        <a:p>
          <a:r>
            <a:rPr lang="en-SG"/>
            <a:t>Revenue / Sales (-)</a:t>
          </a:r>
          <a:endParaRPr lang="en-US"/>
        </a:p>
      </dgm:t>
    </dgm:pt>
    <dgm:pt modelId="{295BF194-1552-4EB4-B428-A5FC0844B25F}" type="parTrans" cxnId="{E2AA5A5D-D475-4857-8F36-722D873F648A}">
      <dgm:prSet/>
      <dgm:spPr/>
      <dgm:t>
        <a:bodyPr/>
        <a:lstStyle/>
        <a:p>
          <a:endParaRPr lang="en-US"/>
        </a:p>
      </dgm:t>
    </dgm:pt>
    <dgm:pt modelId="{E462DC99-783A-458C-8903-330FE3ACF341}" type="sibTrans" cxnId="{E2AA5A5D-D475-4857-8F36-722D873F648A}">
      <dgm:prSet/>
      <dgm:spPr/>
      <dgm:t>
        <a:bodyPr/>
        <a:lstStyle/>
        <a:p>
          <a:endParaRPr lang="en-US"/>
        </a:p>
      </dgm:t>
    </dgm:pt>
    <dgm:pt modelId="{A6DB6010-8CCB-4AF3-917E-48C650B27D6E}">
      <dgm:prSet/>
      <dgm:spPr/>
      <dgm:t>
        <a:bodyPr/>
        <a:lstStyle/>
        <a:p>
          <a:r>
            <a:rPr lang="en-SG"/>
            <a:t>Cost of Goods Sold (=)</a:t>
          </a:r>
          <a:endParaRPr lang="en-US"/>
        </a:p>
      </dgm:t>
    </dgm:pt>
    <dgm:pt modelId="{111E06E6-08FC-4D05-B1C2-42A9A9AE8254}" type="parTrans" cxnId="{F1F6C077-1551-452C-84EF-6037AD82D668}">
      <dgm:prSet/>
      <dgm:spPr/>
      <dgm:t>
        <a:bodyPr/>
        <a:lstStyle/>
        <a:p>
          <a:endParaRPr lang="en-US"/>
        </a:p>
      </dgm:t>
    </dgm:pt>
    <dgm:pt modelId="{E8EA33F5-807B-42A7-9C40-D2BEAACDEE72}" type="sibTrans" cxnId="{F1F6C077-1551-452C-84EF-6037AD82D668}">
      <dgm:prSet/>
      <dgm:spPr/>
      <dgm:t>
        <a:bodyPr/>
        <a:lstStyle/>
        <a:p>
          <a:endParaRPr lang="en-US"/>
        </a:p>
      </dgm:t>
    </dgm:pt>
    <dgm:pt modelId="{47EA7E65-BB47-45BE-B1A8-82438C12A9E1}">
      <dgm:prSet/>
      <dgm:spPr/>
      <dgm:t>
        <a:bodyPr/>
        <a:lstStyle/>
        <a:p>
          <a:r>
            <a:rPr lang="en-SG"/>
            <a:t>Gross Profit (-)</a:t>
          </a:r>
          <a:endParaRPr lang="en-US"/>
        </a:p>
      </dgm:t>
    </dgm:pt>
    <dgm:pt modelId="{04E7113F-4951-4666-9AD1-C64D80044D2F}" type="parTrans" cxnId="{249CB689-3189-4176-AEA8-CC745C81BDC3}">
      <dgm:prSet/>
      <dgm:spPr/>
      <dgm:t>
        <a:bodyPr/>
        <a:lstStyle/>
        <a:p>
          <a:endParaRPr lang="en-US"/>
        </a:p>
      </dgm:t>
    </dgm:pt>
    <dgm:pt modelId="{6B82CC58-3CA0-44D9-B5DA-E134F0210065}" type="sibTrans" cxnId="{249CB689-3189-4176-AEA8-CC745C81BDC3}">
      <dgm:prSet/>
      <dgm:spPr/>
      <dgm:t>
        <a:bodyPr/>
        <a:lstStyle/>
        <a:p>
          <a:endParaRPr lang="en-US"/>
        </a:p>
      </dgm:t>
    </dgm:pt>
    <dgm:pt modelId="{5E935FD5-A99B-4F5F-9F10-62541853D695}">
      <dgm:prSet/>
      <dgm:spPr/>
      <dgm:t>
        <a:bodyPr/>
        <a:lstStyle/>
        <a:p>
          <a:r>
            <a:rPr lang="en-SG"/>
            <a:t>Marketing, Advertising Expenses (-)</a:t>
          </a:r>
          <a:endParaRPr lang="en-US"/>
        </a:p>
      </dgm:t>
    </dgm:pt>
    <dgm:pt modelId="{6BB31FB7-96BD-44E8-9F0E-FF4139AB206B}" type="parTrans" cxnId="{BB8FE4DE-1107-4FE7-AB40-0CB3FD1B64D2}">
      <dgm:prSet/>
      <dgm:spPr/>
      <dgm:t>
        <a:bodyPr/>
        <a:lstStyle/>
        <a:p>
          <a:endParaRPr lang="en-US"/>
        </a:p>
      </dgm:t>
    </dgm:pt>
    <dgm:pt modelId="{C92A14BB-8D6E-405D-956B-9093C371EC8D}" type="sibTrans" cxnId="{BB8FE4DE-1107-4FE7-AB40-0CB3FD1B64D2}">
      <dgm:prSet/>
      <dgm:spPr/>
      <dgm:t>
        <a:bodyPr/>
        <a:lstStyle/>
        <a:p>
          <a:endParaRPr lang="en-US"/>
        </a:p>
      </dgm:t>
    </dgm:pt>
    <dgm:pt modelId="{7DD08671-5666-498D-A677-AB5178D63D1D}">
      <dgm:prSet/>
      <dgm:spPr/>
      <dgm:t>
        <a:bodyPr/>
        <a:lstStyle/>
        <a:p>
          <a:r>
            <a:rPr lang="en-SG"/>
            <a:t>General and Administrative Expenses (=)</a:t>
          </a:r>
          <a:endParaRPr lang="en-US"/>
        </a:p>
      </dgm:t>
    </dgm:pt>
    <dgm:pt modelId="{3BE68CDC-29F1-4FB1-BE71-F70F94EFB881}" type="parTrans" cxnId="{638CD688-BD9E-4749-9857-6AEAE6F7D94E}">
      <dgm:prSet/>
      <dgm:spPr/>
      <dgm:t>
        <a:bodyPr/>
        <a:lstStyle/>
        <a:p>
          <a:endParaRPr lang="en-US"/>
        </a:p>
      </dgm:t>
    </dgm:pt>
    <dgm:pt modelId="{6FEB4CC6-7A71-4E15-942E-D3475C8B85BF}" type="sibTrans" cxnId="{638CD688-BD9E-4749-9857-6AEAE6F7D94E}">
      <dgm:prSet/>
      <dgm:spPr/>
      <dgm:t>
        <a:bodyPr/>
        <a:lstStyle/>
        <a:p>
          <a:endParaRPr lang="en-US"/>
        </a:p>
      </dgm:t>
    </dgm:pt>
    <dgm:pt modelId="{913C5D9F-7A04-4C25-B887-650CD3D0F5BA}">
      <dgm:prSet/>
      <dgm:spPr/>
      <dgm:t>
        <a:bodyPr/>
        <a:lstStyle/>
        <a:p>
          <a:r>
            <a:rPr lang="en-SG"/>
            <a:t>Earnings Before Interest Taxes Depreciation Amortization EBITDA (-)</a:t>
          </a:r>
          <a:endParaRPr lang="en-US"/>
        </a:p>
      </dgm:t>
    </dgm:pt>
    <dgm:pt modelId="{1D4DDC90-221D-4F6F-93B1-6BA6972B3E0D}" type="parTrans" cxnId="{BF25EB33-9851-4955-8886-BD2B0BDD7102}">
      <dgm:prSet/>
      <dgm:spPr/>
      <dgm:t>
        <a:bodyPr/>
        <a:lstStyle/>
        <a:p>
          <a:endParaRPr lang="en-US"/>
        </a:p>
      </dgm:t>
    </dgm:pt>
    <dgm:pt modelId="{FA56591B-2D6B-4449-982F-25DABFE3073D}" type="sibTrans" cxnId="{BF25EB33-9851-4955-8886-BD2B0BDD7102}">
      <dgm:prSet/>
      <dgm:spPr/>
      <dgm:t>
        <a:bodyPr/>
        <a:lstStyle/>
        <a:p>
          <a:endParaRPr lang="en-US"/>
        </a:p>
      </dgm:t>
    </dgm:pt>
    <dgm:pt modelId="{F3E326EC-B151-4B0C-A970-464350BBC3CD}">
      <dgm:prSet/>
      <dgm:spPr/>
      <dgm:t>
        <a:bodyPr/>
        <a:lstStyle/>
        <a:p>
          <a:r>
            <a:rPr lang="en-SG"/>
            <a:t>Depreciation and Amortization Expenses (=)</a:t>
          </a:r>
          <a:endParaRPr lang="en-US"/>
        </a:p>
      </dgm:t>
    </dgm:pt>
    <dgm:pt modelId="{5D2ABF4B-730B-4A65-828E-2DBF441355F4}" type="parTrans" cxnId="{3836C320-F4FE-4EF3-971F-796BFBBCBB13}">
      <dgm:prSet/>
      <dgm:spPr/>
      <dgm:t>
        <a:bodyPr/>
        <a:lstStyle/>
        <a:p>
          <a:endParaRPr lang="en-US"/>
        </a:p>
      </dgm:t>
    </dgm:pt>
    <dgm:pt modelId="{66E4DF54-3F65-491A-9F55-590FC12EA533}" type="sibTrans" cxnId="{3836C320-F4FE-4EF3-971F-796BFBBCBB13}">
      <dgm:prSet/>
      <dgm:spPr/>
      <dgm:t>
        <a:bodyPr/>
        <a:lstStyle/>
        <a:p>
          <a:endParaRPr lang="en-US"/>
        </a:p>
      </dgm:t>
    </dgm:pt>
    <dgm:pt modelId="{A6DA9F35-4308-489A-A3F7-9EE6D1F5CF02}">
      <dgm:prSet/>
      <dgm:spPr/>
      <dgm:t>
        <a:bodyPr/>
        <a:lstStyle/>
        <a:p>
          <a:r>
            <a:rPr lang="en-SG"/>
            <a:t>Operating Income or EBIT (-)</a:t>
          </a:r>
          <a:endParaRPr lang="en-US"/>
        </a:p>
      </dgm:t>
    </dgm:pt>
    <dgm:pt modelId="{2719DE17-4181-42A8-B18C-9D3DB6107D78}" type="parTrans" cxnId="{E2D56F0B-72C1-4557-A463-8DCA67A16521}">
      <dgm:prSet/>
      <dgm:spPr/>
      <dgm:t>
        <a:bodyPr/>
        <a:lstStyle/>
        <a:p>
          <a:endParaRPr lang="en-US"/>
        </a:p>
      </dgm:t>
    </dgm:pt>
    <dgm:pt modelId="{4CF962AD-EF02-4DC1-B7EE-C4001AB7F820}" type="sibTrans" cxnId="{E2D56F0B-72C1-4557-A463-8DCA67A16521}">
      <dgm:prSet/>
      <dgm:spPr/>
      <dgm:t>
        <a:bodyPr/>
        <a:lstStyle/>
        <a:p>
          <a:endParaRPr lang="en-US"/>
        </a:p>
      </dgm:t>
    </dgm:pt>
    <dgm:pt modelId="{B9D41BCD-08AA-4BDF-9066-84CEA1A85C93}">
      <dgm:prSet/>
      <dgm:spPr/>
      <dgm:t>
        <a:bodyPr/>
        <a:lstStyle/>
        <a:p>
          <a:r>
            <a:rPr lang="en-SG"/>
            <a:t>Interest Expenses (-)</a:t>
          </a:r>
          <a:endParaRPr lang="en-US"/>
        </a:p>
      </dgm:t>
    </dgm:pt>
    <dgm:pt modelId="{530A1F32-A39B-4B81-AEB1-0F964A91C72B}" type="parTrans" cxnId="{7A6B8592-C921-4F7A-BBC0-6C038C82AAE7}">
      <dgm:prSet/>
      <dgm:spPr/>
      <dgm:t>
        <a:bodyPr/>
        <a:lstStyle/>
        <a:p>
          <a:endParaRPr lang="en-US"/>
        </a:p>
      </dgm:t>
    </dgm:pt>
    <dgm:pt modelId="{A9F893AF-CB52-41C6-A6ED-5F5311BD291A}" type="sibTrans" cxnId="{7A6B8592-C921-4F7A-BBC0-6C038C82AAE7}">
      <dgm:prSet/>
      <dgm:spPr/>
      <dgm:t>
        <a:bodyPr/>
        <a:lstStyle/>
        <a:p>
          <a:endParaRPr lang="en-US"/>
        </a:p>
      </dgm:t>
    </dgm:pt>
    <dgm:pt modelId="{CD2D045B-8E74-4124-905C-B2C2389703AD}">
      <dgm:prSet/>
      <dgm:spPr/>
      <dgm:t>
        <a:bodyPr/>
        <a:lstStyle/>
        <a:p>
          <a:r>
            <a:rPr lang="en-SG"/>
            <a:t>Other Expenses (=)</a:t>
          </a:r>
          <a:endParaRPr lang="en-US"/>
        </a:p>
      </dgm:t>
    </dgm:pt>
    <dgm:pt modelId="{C479EC34-62C6-4E6C-BAE3-EBB543FEF6B0}" type="parTrans" cxnId="{9B38C1E6-9FDC-48D8-8E74-DDCDF5B8393C}">
      <dgm:prSet/>
      <dgm:spPr/>
      <dgm:t>
        <a:bodyPr/>
        <a:lstStyle/>
        <a:p>
          <a:endParaRPr lang="en-US"/>
        </a:p>
      </dgm:t>
    </dgm:pt>
    <dgm:pt modelId="{2C45BFF7-033D-4E38-AB67-9AE7D8EFB938}" type="sibTrans" cxnId="{9B38C1E6-9FDC-48D8-8E74-DDCDF5B8393C}">
      <dgm:prSet/>
      <dgm:spPr/>
      <dgm:t>
        <a:bodyPr/>
        <a:lstStyle/>
        <a:p>
          <a:endParaRPr lang="en-US"/>
        </a:p>
      </dgm:t>
    </dgm:pt>
    <dgm:pt modelId="{74892ABF-A6E2-4953-920E-61270A149717}">
      <dgm:prSet/>
      <dgm:spPr/>
      <dgm:t>
        <a:bodyPr/>
        <a:lstStyle/>
        <a:p>
          <a:r>
            <a:rPr lang="en-SG"/>
            <a:t>EBT or Earnings Before Tax (-)</a:t>
          </a:r>
          <a:endParaRPr lang="en-US"/>
        </a:p>
      </dgm:t>
    </dgm:pt>
    <dgm:pt modelId="{105E3839-DD16-4565-B93F-CC49D2FF3904}" type="parTrans" cxnId="{33A9822C-816E-4542-AB72-FE144BFF6F7B}">
      <dgm:prSet/>
      <dgm:spPr/>
      <dgm:t>
        <a:bodyPr/>
        <a:lstStyle/>
        <a:p>
          <a:endParaRPr lang="en-US"/>
        </a:p>
      </dgm:t>
    </dgm:pt>
    <dgm:pt modelId="{53D6DA7F-9C27-43D0-AEF1-BD16A954349D}" type="sibTrans" cxnId="{33A9822C-816E-4542-AB72-FE144BFF6F7B}">
      <dgm:prSet/>
      <dgm:spPr/>
      <dgm:t>
        <a:bodyPr/>
        <a:lstStyle/>
        <a:p>
          <a:endParaRPr lang="en-US"/>
        </a:p>
      </dgm:t>
    </dgm:pt>
    <dgm:pt modelId="{E86D64C4-FF2B-4806-9AA9-292EC496158A}">
      <dgm:prSet/>
      <dgm:spPr/>
      <dgm:t>
        <a:bodyPr/>
        <a:lstStyle/>
        <a:p>
          <a:r>
            <a:rPr lang="en-SG"/>
            <a:t>Income Tax (=)</a:t>
          </a:r>
          <a:endParaRPr lang="en-US"/>
        </a:p>
      </dgm:t>
    </dgm:pt>
    <dgm:pt modelId="{33AD9D5C-A12C-4C5C-BBCA-B5149C944FEC}" type="parTrans" cxnId="{A41BC191-0A05-4DB5-AEE8-51B3CC123920}">
      <dgm:prSet/>
      <dgm:spPr/>
      <dgm:t>
        <a:bodyPr/>
        <a:lstStyle/>
        <a:p>
          <a:endParaRPr lang="en-US"/>
        </a:p>
      </dgm:t>
    </dgm:pt>
    <dgm:pt modelId="{201BAC66-B369-44D9-AE3A-913CFEE89538}" type="sibTrans" cxnId="{A41BC191-0A05-4DB5-AEE8-51B3CC123920}">
      <dgm:prSet/>
      <dgm:spPr/>
      <dgm:t>
        <a:bodyPr/>
        <a:lstStyle/>
        <a:p>
          <a:endParaRPr lang="en-US"/>
        </a:p>
      </dgm:t>
    </dgm:pt>
    <dgm:pt modelId="{19A0892E-520D-4F12-8CCA-7D783F3C1C55}">
      <dgm:prSet/>
      <dgm:spPr/>
      <dgm:t>
        <a:bodyPr/>
        <a:lstStyle/>
        <a:p>
          <a:r>
            <a:rPr lang="en-SG"/>
            <a:t>Net Income</a:t>
          </a:r>
          <a:endParaRPr lang="en-US"/>
        </a:p>
      </dgm:t>
    </dgm:pt>
    <dgm:pt modelId="{033949BC-8333-44EA-B8BA-97C1A3324EC0}" type="parTrans" cxnId="{3E6745FB-2DD5-4A68-A24F-EEEDEA31E465}">
      <dgm:prSet/>
      <dgm:spPr/>
      <dgm:t>
        <a:bodyPr/>
        <a:lstStyle/>
        <a:p>
          <a:endParaRPr lang="en-US"/>
        </a:p>
      </dgm:t>
    </dgm:pt>
    <dgm:pt modelId="{060CE73E-7730-4259-9E2A-B1CD6CAC6543}" type="sibTrans" cxnId="{3E6745FB-2DD5-4A68-A24F-EEEDEA31E465}">
      <dgm:prSet/>
      <dgm:spPr/>
      <dgm:t>
        <a:bodyPr/>
        <a:lstStyle/>
        <a:p>
          <a:endParaRPr lang="en-US"/>
        </a:p>
      </dgm:t>
    </dgm:pt>
    <dgm:pt modelId="{F9E0B26A-FBD9-42F6-871B-4B2F0CC10665}" type="pres">
      <dgm:prSet presAssocID="{F4F275F9-E06F-45FD-BC2E-0F372FEEFF32}" presName="linear" presStyleCnt="0">
        <dgm:presLayoutVars>
          <dgm:animLvl val="lvl"/>
          <dgm:resizeHandles val="exact"/>
        </dgm:presLayoutVars>
      </dgm:prSet>
      <dgm:spPr/>
    </dgm:pt>
    <dgm:pt modelId="{F913A744-2642-491F-B5F5-B2017D8B757C}" type="pres">
      <dgm:prSet presAssocID="{27941BEE-0268-473D-B8FE-C88A72AA9EFB}" presName="parentText" presStyleLbl="node1" presStyleIdx="0" presStyleCnt="13">
        <dgm:presLayoutVars>
          <dgm:chMax val="0"/>
          <dgm:bulletEnabled val="1"/>
        </dgm:presLayoutVars>
      </dgm:prSet>
      <dgm:spPr/>
    </dgm:pt>
    <dgm:pt modelId="{8B105955-40E3-4691-A273-86351ED8C61D}" type="pres">
      <dgm:prSet presAssocID="{E462DC99-783A-458C-8903-330FE3ACF341}" presName="spacer" presStyleCnt="0"/>
      <dgm:spPr/>
    </dgm:pt>
    <dgm:pt modelId="{AE42617F-5520-48FC-8592-D9D73998AE97}" type="pres">
      <dgm:prSet presAssocID="{A6DB6010-8CCB-4AF3-917E-48C650B27D6E}" presName="parentText" presStyleLbl="node1" presStyleIdx="1" presStyleCnt="13">
        <dgm:presLayoutVars>
          <dgm:chMax val="0"/>
          <dgm:bulletEnabled val="1"/>
        </dgm:presLayoutVars>
      </dgm:prSet>
      <dgm:spPr/>
    </dgm:pt>
    <dgm:pt modelId="{2AE8662B-9F68-41A5-B7B2-072A55B274E9}" type="pres">
      <dgm:prSet presAssocID="{E8EA33F5-807B-42A7-9C40-D2BEAACDEE72}" presName="spacer" presStyleCnt="0"/>
      <dgm:spPr/>
    </dgm:pt>
    <dgm:pt modelId="{F1D3D5D2-9D6A-44C1-A584-BB3B5F13F6A8}" type="pres">
      <dgm:prSet presAssocID="{47EA7E65-BB47-45BE-B1A8-82438C12A9E1}" presName="parentText" presStyleLbl="node1" presStyleIdx="2" presStyleCnt="13">
        <dgm:presLayoutVars>
          <dgm:chMax val="0"/>
          <dgm:bulletEnabled val="1"/>
        </dgm:presLayoutVars>
      </dgm:prSet>
      <dgm:spPr/>
    </dgm:pt>
    <dgm:pt modelId="{AD234AC3-736F-4C6F-A47A-591A711ED0B1}" type="pres">
      <dgm:prSet presAssocID="{6B82CC58-3CA0-44D9-B5DA-E134F0210065}" presName="spacer" presStyleCnt="0"/>
      <dgm:spPr/>
    </dgm:pt>
    <dgm:pt modelId="{353BEB0B-1A33-4E90-A25A-806DDD858BD9}" type="pres">
      <dgm:prSet presAssocID="{5E935FD5-A99B-4F5F-9F10-62541853D695}" presName="parentText" presStyleLbl="node1" presStyleIdx="3" presStyleCnt="13">
        <dgm:presLayoutVars>
          <dgm:chMax val="0"/>
          <dgm:bulletEnabled val="1"/>
        </dgm:presLayoutVars>
      </dgm:prSet>
      <dgm:spPr/>
    </dgm:pt>
    <dgm:pt modelId="{20CB1810-7A75-4B4A-AE4E-3365D9A03D77}" type="pres">
      <dgm:prSet presAssocID="{C92A14BB-8D6E-405D-956B-9093C371EC8D}" presName="spacer" presStyleCnt="0"/>
      <dgm:spPr/>
    </dgm:pt>
    <dgm:pt modelId="{30B41F42-3FFA-4D7C-92CB-049E3D4B6FC5}" type="pres">
      <dgm:prSet presAssocID="{7DD08671-5666-498D-A677-AB5178D63D1D}" presName="parentText" presStyleLbl="node1" presStyleIdx="4" presStyleCnt="13">
        <dgm:presLayoutVars>
          <dgm:chMax val="0"/>
          <dgm:bulletEnabled val="1"/>
        </dgm:presLayoutVars>
      </dgm:prSet>
      <dgm:spPr/>
    </dgm:pt>
    <dgm:pt modelId="{82371396-4E7E-47C0-A1D5-4835661E36FB}" type="pres">
      <dgm:prSet presAssocID="{6FEB4CC6-7A71-4E15-942E-D3475C8B85BF}" presName="spacer" presStyleCnt="0"/>
      <dgm:spPr/>
    </dgm:pt>
    <dgm:pt modelId="{DBA54C3C-91FA-4D98-9290-873431571A5B}" type="pres">
      <dgm:prSet presAssocID="{913C5D9F-7A04-4C25-B887-650CD3D0F5BA}" presName="parentText" presStyleLbl="node1" presStyleIdx="5" presStyleCnt="13">
        <dgm:presLayoutVars>
          <dgm:chMax val="0"/>
          <dgm:bulletEnabled val="1"/>
        </dgm:presLayoutVars>
      </dgm:prSet>
      <dgm:spPr/>
    </dgm:pt>
    <dgm:pt modelId="{E60F66FD-8F30-4F70-811E-1626771C07F5}" type="pres">
      <dgm:prSet presAssocID="{FA56591B-2D6B-4449-982F-25DABFE3073D}" presName="spacer" presStyleCnt="0"/>
      <dgm:spPr/>
    </dgm:pt>
    <dgm:pt modelId="{B7644627-8FDF-4EC8-8815-4955245E12C5}" type="pres">
      <dgm:prSet presAssocID="{F3E326EC-B151-4B0C-A970-464350BBC3CD}" presName="parentText" presStyleLbl="node1" presStyleIdx="6" presStyleCnt="13">
        <dgm:presLayoutVars>
          <dgm:chMax val="0"/>
          <dgm:bulletEnabled val="1"/>
        </dgm:presLayoutVars>
      </dgm:prSet>
      <dgm:spPr/>
    </dgm:pt>
    <dgm:pt modelId="{7B9D3A9C-7EAC-4919-9938-37CFCB8513BC}" type="pres">
      <dgm:prSet presAssocID="{66E4DF54-3F65-491A-9F55-590FC12EA533}" presName="spacer" presStyleCnt="0"/>
      <dgm:spPr/>
    </dgm:pt>
    <dgm:pt modelId="{E49B405E-F6A7-4DE9-9B6F-EC1F9F3EAE12}" type="pres">
      <dgm:prSet presAssocID="{A6DA9F35-4308-489A-A3F7-9EE6D1F5CF02}" presName="parentText" presStyleLbl="node1" presStyleIdx="7" presStyleCnt="13">
        <dgm:presLayoutVars>
          <dgm:chMax val="0"/>
          <dgm:bulletEnabled val="1"/>
        </dgm:presLayoutVars>
      </dgm:prSet>
      <dgm:spPr/>
    </dgm:pt>
    <dgm:pt modelId="{6485F796-049F-49EF-A0E7-0C11E55B55B5}" type="pres">
      <dgm:prSet presAssocID="{4CF962AD-EF02-4DC1-B7EE-C4001AB7F820}" presName="spacer" presStyleCnt="0"/>
      <dgm:spPr/>
    </dgm:pt>
    <dgm:pt modelId="{B1D8B743-28C2-499E-99BD-7AFC48FADFC9}" type="pres">
      <dgm:prSet presAssocID="{B9D41BCD-08AA-4BDF-9066-84CEA1A85C93}" presName="parentText" presStyleLbl="node1" presStyleIdx="8" presStyleCnt="13">
        <dgm:presLayoutVars>
          <dgm:chMax val="0"/>
          <dgm:bulletEnabled val="1"/>
        </dgm:presLayoutVars>
      </dgm:prSet>
      <dgm:spPr/>
    </dgm:pt>
    <dgm:pt modelId="{8D114705-EEB3-44E3-BAD1-F65A0E9E7288}" type="pres">
      <dgm:prSet presAssocID="{A9F893AF-CB52-41C6-A6ED-5F5311BD291A}" presName="spacer" presStyleCnt="0"/>
      <dgm:spPr/>
    </dgm:pt>
    <dgm:pt modelId="{033613F5-FC04-45F1-A4AD-D2310A8D9ED0}" type="pres">
      <dgm:prSet presAssocID="{CD2D045B-8E74-4124-905C-B2C2389703AD}" presName="parentText" presStyleLbl="node1" presStyleIdx="9" presStyleCnt="13">
        <dgm:presLayoutVars>
          <dgm:chMax val="0"/>
          <dgm:bulletEnabled val="1"/>
        </dgm:presLayoutVars>
      </dgm:prSet>
      <dgm:spPr/>
    </dgm:pt>
    <dgm:pt modelId="{EAE61867-CA23-4E28-A301-0389536CD425}" type="pres">
      <dgm:prSet presAssocID="{2C45BFF7-033D-4E38-AB67-9AE7D8EFB938}" presName="spacer" presStyleCnt="0"/>
      <dgm:spPr/>
    </dgm:pt>
    <dgm:pt modelId="{F46A4273-7E8D-4861-87AB-D8EB5727373D}" type="pres">
      <dgm:prSet presAssocID="{74892ABF-A6E2-4953-920E-61270A149717}" presName="parentText" presStyleLbl="node1" presStyleIdx="10" presStyleCnt="13">
        <dgm:presLayoutVars>
          <dgm:chMax val="0"/>
          <dgm:bulletEnabled val="1"/>
        </dgm:presLayoutVars>
      </dgm:prSet>
      <dgm:spPr/>
    </dgm:pt>
    <dgm:pt modelId="{64AB88EE-7DAB-42C7-8331-D58A34FDCD12}" type="pres">
      <dgm:prSet presAssocID="{53D6DA7F-9C27-43D0-AEF1-BD16A954349D}" presName="spacer" presStyleCnt="0"/>
      <dgm:spPr/>
    </dgm:pt>
    <dgm:pt modelId="{6987C46E-55A5-4E8C-9308-99D9D1550BBD}" type="pres">
      <dgm:prSet presAssocID="{E86D64C4-FF2B-4806-9AA9-292EC496158A}" presName="parentText" presStyleLbl="node1" presStyleIdx="11" presStyleCnt="13">
        <dgm:presLayoutVars>
          <dgm:chMax val="0"/>
          <dgm:bulletEnabled val="1"/>
        </dgm:presLayoutVars>
      </dgm:prSet>
      <dgm:spPr/>
    </dgm:pt>
    <dgm:pt modelId="{877106CF-FD8F-4F6E-A8A4-FB6BF15A8234}" type="pres">
      <dgm:prSet presAssocID="{201BAC66-B369-44D9-AE3A-913CFEE89538}" presName="spacer" presStyleCnt="0"/>
      <dgm:spPr/>
    </dgm:pt>
    <dgm:pt modelId="{91777C0B-2BB0-4C66-B67F-15130196B6DA}" type="pres">
      <dgm:prSet presAssocID="{19A0892E-520D-4F12-8CCA-7D783F3C1C55}" presName="parentText" presStyleLbl="node1" presStyleIdx="12" presStyleCnt="13">
        <dgm:presLayoutVars>
          <dgm:chMax val="0"/>
          <dgm:bulletEnabled val="1"/>
        </dgm:presLayoutVars>
      </dgm:prSet>
      <dgm:spPr/>
    </dgm:pt>
  </dgm:ptLst>
  <dgm:cxnLst>
    <dgm:cxn modelId="{810F1B06-D0F3-4D40-BF78-1D5D43BE8903}" type="presOf" srcId="{B9D41BCD-08AA-4BDF-9066-84CEA1A85C93}" destId="{B1D8B743-28C2-499E-99BD-7AFC48FADFC9}" srcOrd="0" destOrd="0" presId="urn:microsoft.com/office/officeart/2005/8/layout/vList2"/>
    <dgm:cxn modelId="{E2D56F0B-72C1-4557-A463-8DCA67A16521}" srcId="{F4F275F9-E06F-45FD-BC2E-0F372FEEFF32}" destId="{A6DA9F35-4308-489A-A3F7-9EE6D1F5CF02}" srcOrd="7" destOrd="0" parTransId="{2719DE17-4181-42A8-B18C-9D3DB6107D78}" sibTransId="{4CF962AD-EF02-4DC1-B7EE-C4001AB7F820}"/>
    <dgm:cxn modelId="{C5E3FA15-DDBC-4183-A32F-1BE8F2E6CECF}" type="presOf" srcId="{47EA7E65-BB47-45BE-B1A8-82438C12A9E1}" destId="{F1D3D5D2-9D6A-44C1-A584-BB3B5F13F6A8}" srcOrd="0" destOrd="0" presId="urn:microsoft.com/office/officeart/2005/8/layout/vList2"/>
    <dgm:cxn modelId="{3836C320-F4FE-4EF3-971F-796BFBBCBB13}" srcId="{F4F275F9-E06F-45FD-BC2E-0F372FEEFF32}" destId="{F3E326EC-B151-4B0C-A970-464350BBC3CD}" srcOrd="6" destOrd="0" parTransId="{5D2ABF4B-730B-4A65-828E-2DBF441355F4}" sibTransId="{66E4DF54-3F65-491A-9F55-590FC12EA533}"/>
    <dgm:cxn modelId="{33A9822C-816E-4542-AB72-FE144BFF6F7B}" srcId="{F4F275F9-E06F-45FD-BC2E-0F372FEEFF32}" destId="{74892ABF-A6E2-4953-920E-61270A149717}" srcOrd="10" destOrd="0" parTransId="{105E3839-DD16-4565-B93F-CC49D2FF3904}" sibTransId="{53D6DA7F-9C27-43D0-AEF1-BD16A954349D}"/>
    <dgm:cxn modelId="{14AE032D-F7D7-4A1D-9BB0-0A97AD080CD1}" type="presOf" srcId="{E86D64C4-FF2B-4806-9AA9-292EC496158A}" destId="{6987C46E-55A5-4E8C-9308-99D9D1550BBD}" srcOrd="0" destOrd="0" presId="urn:microsoft.com/office/officeart/2005/8/layout/vList2"/>
    <dgm:cxn modelId="{81F2EE2D-AC8D-4DB5-BA17-28568EC09602}" type="presOf" srcId="{F4F275F9-E06F-45FD-BC2E-0F372FEEFF32}" destId="{F9E0B26A-FBD9-42F6-871B-4B2F0CC10665}" srcOrd="0" destOrd="0" presId="urn:microsoft.com/office/officeart/2005/8/layout/vList2"/>
    <dgm:cxn modelId="{BF25EB33-9851-4955-8886-BD2B0BDD7102}" srcId="{F4F275F9-E06F-45FD-BC2E-0F372FEEFF32}" destId="{913C5D9F-7A04-4C25-B887-650CD3D0F5BA}" srcOrd="5" destOrd="0" parTransId="{1D4DDC90-221D-4F6F-93B1-6BA6972B3E0D}" sibTransId="{FA56591B-2D6B-4449-982F-25DABFE3073D}"/>
    <dgm:cxn modelId="{F845493D-A736-4986-A97F-4024C53AF76B}" type="presOf" srcId="{913C5D9F-7A04-4C25-B887-650CD3D0F5BA}" destId="{DBA54C3C-91FA-4D98-9290-873431571A5B}" srcOrd="0" destOrd="0" presId="urn:microsoft.com/office/officeart/2005/8/layout/vList2"/>
    <dgm:cxn modelId="{A8693B44-5A55-4578-A163-B0B719DDB7D8}" type="presOf" srcId="{CD2D045B-8E74-4124-905C-B2C2389703AD}" destId="{033613F5-FC04-45F1-A4AD-D2310A8D9ED0}" srcOrd="0" destOrd="0" presId="urn:microsoft.com/office/officeart/2005/8/layout/vList2"/>
    <dgm:cxn modelId="{E2AA5A5D-D475-4857-8F36-722D873F648A}" srcId="{F4F275F9-E06F-45FD-BC2E-0F372FEEFF32}" destId="{27941BEE-0268-473D-B8FE-C88A72AA9EFB}" srcOrd="0" destOrd="0" parTransId="{295BF194-1552-4EB4-B428-A5FC0844B25F}" sibTransId="{E462DC99-783A-458C-8903-330FE3ACF341}"/>
    <dgm:cxn modelId="{F1F6C077-1551-452C-84EF-6037AD82D668}" srcId="{F4F275F9-E06F-45FD-BC2E-0F372FEEFF32}" destId="{A6DB6010-8CCB-4AF3-917E-48C650B27D6E}" srcOrd="1" destOrd="0" parTransId="{111E06E6-08FC-4D05-B1C2-42A9A9AE8254}" sibTransId="{E8EA33F5-807B-42A7-9C40-D2BEAACDEE72}"/>
    <dgm:cxn modelId="{638CD688-BD9E-4749-9857-6AEAE6F7D94E}" srcId="{F4F275F9-E06F-45FD-BC2E-0F372FEEFF32}" destId="{7DD08671-5666-498D-A677-AB5178D63D1D}" srcOrd="4" destOrd="0" parTransId="{3BE68CDC-29F1-4FB1-BE71-F70F94EFB881}" sibTransId="{6FEB4CC6-7A71-4E15-942E-D3475C8B85BF}"/>
    <dgm:cxn modelId="{9C383089-C6D3-45C9-BA5D-A7384CAD55E8}" type="presOf" srcId="{F3E326EC-B151-4B0C-A970-464350BBC3CD}" destId="{B7644627-8FDF-4EC8-8815-4955245E12C5}" srcOrd="0" destOrd="0" presId="urn:microsoft.com/office/officeart/2005/8/layout/vList2"/>
    <dgm:cxn modelId="{249CB689-3189-4176-AEA8-CC745C81BDC3}" srcId="{F4F275F9-E06F-45FD-BC2E-0F372FEEFF32}" destId="{47EA7E65-BB47-45BE-B1A8-82438C12A9E1}" srcOrd="2" destOrd="0" parTransId="{04E7113F-4951-4666-9AD1-C64D80044D2F}" sibTransId="{6B82CC58-3CA0-44D9-B5DA-E134F0210065}"/>
    <dgm:cxn modelId="{A41BC191-0A05-4DB5-AEE8-51B3CC123920}" srcId="{F4F275F9-E06F-45FD-BC2E-0F372FEEFF32}" destId="{E86D64C4-FF2B-4806-9AA9-292EC496158A}" srcOrd="11" destOrd="0" parTransId="{33AD9D5C-A12C-4C5C-BBCA-B5149C944FEC}" sibTransId="{201BAC66-B369-44D9-AE3A-913CFEE89538}"/>
    <dgm:cxn modelId="{7A6B8592-C921-4F7A-BBC0-6C038C82AAE7}" srcId="{F4F275F9-E06F-45FD-BC2E-0F372FEEFF32}" destId="{B9D41BCD-08AA-4BDF-9066-84CEA1A85C93}" srcOrd="8" destOrd="0" parTransId="{530A1F32-A39B-4B81-AEB1-0F964A91C72B}" sibTransId="{A9F893AF-CB52-41C6-A6ED-5F5311BD291A}"/>
    <dgm:cxn modelId="{052F8493-A7D7-4B2B-8A40-AD5024A21939}" type="presOf" srcId="{19A0892E-520D-4F12-8CCA-7D783F3C1C55}" destId="{91777C0B-2BB0-4C66-B67F-15130196B6DA}" srcOrd="0" destOrd="0" presId="urn:microsoft.com/office/officeart/2005/8/layout/vList2"/>
    <dgm:cxn modelId="{2D1FD996-055F-491D-8BAE-94B2CA6EF3E4}" type="presOf" srcId="{A6DA9F35-4308-489A-A3F7-9EE6D1F5CF02}" destId="{E49B405E-F6A7-4DE9-9B6F-EC1F9F3EAE12}" srcOrd="0" destOrd="0" presId="urn:microsoft.com/office/officeart/2005/8/layout/vList2"/>
    <dgm:cxn modelId="{735C1DA2-A956-4336-BA71-2D728CC55831}" type="presOf" srcId="{A6DB6010-8CCB-4AF3-917E-48C650B27D6E}" destId="{AE42617F-5520-48FC-8592-D9D73998AE97}" srcOrd="0" destOrd="0" presId="urn:microsoft.com/office/officeart/2005/8/layout/vList2"/>
    <dgm:cxn modelId="{A2F065D4-EBBA-481E-A9A0-95E9AEFD7B0D}" type="presOf" srcId="{5E935FD5-A99B-4F5F-9F10-62541853D695}" destId="{353BEB0B-1A33-4E90-A25A-806DDD858BD9}" srcOrd="0" destOrd="0" presId="urn:microsoft.com/office/officeart/2005/8/layout/vList2"/>
    <dgm:cxn modelId="{BB8FE4DE-1107-4FE7-AB40-0CB3FD1B64D2}" srcId="{F4F275F9-E06F-45FD-BC2E-0F372FEEFF32}" destId="{5E935FD5-A99B-4F5F-9F10-62541853D695}" srcOrd="3" destOrd="0" parTransId="{6BB31FB7-96BD-44E8-9F0E-FF4139AB206B}" sibTransId="{C92A14BB-8D6E-405D-956B-9093C371EC8D}"/>
    <dgm:cxn modelId="{77DBBEDF-E6B8-4010-9918-8B0D8DC753A1}" type="presOf" srcId="{27941BEE-0268-473D-B8FE-C88A72AA9EFB}" destId="{F913A744-2642-491F-B5F5-B2017D8B757C}" srcOrd="0" destOrd="0" presId="urn:microsoft.com/office/officeart/2005/8/layout/vList2"/>
    <dgm:cxn modelId="{380233E5-B680-4DF2-9DA5-AF16B8C886D4}" type="presOf" srcId="{74892ABF-A6E2-4953-920E-61270A149717}" destId="{F46A4273-7E8D-4861-87AB-D8EB5727373D}" srcOrd="0" destOrd="0" presId="urn:microsoft.com/office/officeart/2005/8/layout/vList2"/>
    <dgm:cxn modelId="{9B38C1E6-9FDC-48D8-8E74-DDCDF5B8393C}" srcId="{F4F275F9-E06F-45FD-BC2E-0F372FEEFF32}" destId="{CD2D045B-8E74-4124-905C-B2C2389703AD}" srcOrd="9" destOrd="0" parTransId="{C479EC34-62C6-4E6C-BAE3-EBB543FEF6B0}" sibTransId="{2C45BFF7-033D-4E38-AB67-9AE7D8EFB938}"/>
    <dgm:cxn modelId="{56DCAAEC-B90C-466F-84CD-ADB56970BFDD}" type="presOf" srcId="{7DD08671-5666-498D-A677-AB5178D63D1D}" destId="{30B41F42-3FFA-4D7C-92CB-049E3D4B6FC5}" srcOrd="0" destOrd="0" presId="urn:microsoft.com/office/officeart/2005/8/layout/vList2"/>
    <dgm:cxn modelId="{3E6745FB-2DD5-4A68-A24F-EEEDEA31E465}" srcId="{F4F275F9-E06F-45FD-BC2E-0F372FEEFF32}" destId="{19A0892E-520D-4F12-8CCA-7D783F3C1C55}" srcOrd="12" destOrd="0" parTransId="{033949BC-8333-44EA-B8BA-97C1A3324EC0}" sibTransId="{060CE73E-7730-4259-9E2A-B1CD6CAC6543}"/>
    <dgm:cxn modelId="{40455421-2B47-4F58-BEB7-063F9B7FE75F}" type="presParOf" srcId="{F9E0B26A-FBD9-42F6-871B-4B2F0CC10665}" destId="{F913A744-2642-491F-B5F5-B2017D8B757C}" srcOrd="0" destOrd="0" presId="urn:microsoft.com/office/officeart/2005/8/layout/vList2"/>
    <dgm:cxn modelId="{4CD4EA3C-121A-4854-B11F-3BB0904359BF}" type="presParOf" srcId="{F9E0B26A-FBD9-42F6-871B-4B2F0CC10665}" destId="{8B105955-40E3-4691-A273-86351ED8C61D}" srcOrd="1" destOrd="0" presId="urn:microsoft.com/office/officeart/2005/8/layout/vList2"/>
    <dgm:cxn modelId="{CF8F28B6-5607-4596-BE7C-B827D93B868C}" type="presParOf" srcId="{F9E0B26A-FBD9-42F6-871B-4B2F0CC10665}" destId="{AE42617F-5520-48FC-8592-D9D73998AE97}" srcOrd="2" destOrd="0" presId="urn:microsoft.com/office/officeart/2005/8/layout/vList2"/>
    <dgm:cxn modelId="{8A6452CB-15A8-4740-BCA6-2F74F14CDA6B}" type="presParOf" srcId="{F9E0B26A-FBD9-42F6-871B-4B2F0CC10665}" destId="{2AE8662B-9F68-41A5-B7B2-072A55B274E9}" srcOrd="3" destOrd="0" presId="urn:microsoft.com/office/officeart/2005/8/layout/vList2"/>
    <dgm:cxn modelId="{CDEC7B7A-5981-4ED2-BC50-6DAF11B6B991}" type="presParOf" srcId="{F9E0B26A-FBD9-42F6-871B-4B2F0CC10665}" destId="{F1D3D5D2-9D6A-44C1-A584-BB3B5F13F6A8}" srcOrd="4" destOrd="0" presId="urn:microsoft.com/office/officeart/2005/8/layout/vList2"/>
    <dgm:cxn modelId="{58942EBE-6228-4EB4-8646-8E73E2345FF2}" type="presParOf" srcId="{F9E0B26A-FBD9-42F6-871B-4B2F0CC10665}" destId="{AD234AC3-736F-4C6F-A47A-591A711ED0B1}" srcOrd="5" destOrd="0" presId="urn:microsoft.com/office/officeart/2005/8/layout/vList2"/>
    <dgm:cxn modelId="{C10969FE-2749-4DBB-A9EA-16DBB492B7F2}" type="presParOf" srcId="{F9E0B26A-FBD9-42F6-871B-4B2F0CC10665}" destId="{353BEB0B-1A33-4E90-A25A-806DDD858BD9}" srcOrd="6" destOrd="0" presId="urn:microsoft.com/office/officeart/2005/8/layout/vList2"/>
    <dgm:cxn modelId="{913EB634-CDE6-4CE2-81CE-5BED568076F7}" type="presParOf" srcId="{F9E0B26A-FBD9-42F6-871B-4B2F0CC10665}" destId="{20CB1810-7A75-4B4A-AE4E-3365D9A03D77}" srcOrd="7" destOrd="0" presId="urn:microsoft.com/office/officeart/2005/8/layout/vList2"/>
    <dgm:cxn modelId="{C1FA5924-D88C-4FAA-A251-787CF51B60F4}" type="presParOf" srcId="{F9E0B26A-FBD9-42F6-871B-4B2F0CC10665}" destId="{30B41F42-3FFA-4D7C-92CB-049E3D4B6FC5}" srcOrd="8" destOrd="0" presId="urn:microsoft.com/office/officeart/2005/8/layout/vList2"/>
    <dgm:cxn modelId="{7300BE46-E39B-48BF-AA4F-AF8A4B45DCF8}" type="presParOf" srcId="{F9E0B26A-FBD9-42F6-871B-4B2F0CC10665}" destId="{82371396-4E7E-47C0-A1D5-4835661E36FB}" srcOrd="9" destOrd="0" presId="urn:microsoft.com/office/officeart/2005/8/layout/vList2"/>
    <dgm:cxn modelId="{B34CF253-AB0C-409A-B26E-10E960A99F72}" type="presParOf" srcId="{F9E0B26A-FBD9-42F6-871B-4B2F0CC10665}" destId="{DBA54C3C-91FA-4D98-9290-873431571A5B}" srcOrd="10" destOrd="0" presId="urn:microsoft.com/office/officeart/2005/8/layout/vList2"/>
    <dgm:cxn modelId="{117F74B8-99F2-4E64-AD52-4B3B5E60CDEB}" type="presParOf" srcId="{F9E0B26A-FBD9-42F6-871B-4B2F0CC10665}" destId="{E60F66FD-8F30-4F70-811E-1626771C07F5}" srcOrd="11" destOrd="0" presId="urn:microsoft.com/office/officeart/2005/8/layout/vList2"/>
    <dgm:cxn modelId="{891BD9E3-6FE3-4484-BC05-67795AB9349F}" type="presParOf" srcId="{F9E0B26A-FBD9-42F6-871B-4B2F0CC10665}" destId="{B7644627-8FDF-4EC8-8815-4955245E12C5}" srcOrd="12" destOrd="0" presId="urn:microsoft.com/office/officeart/2005/8/layout/vList2"/>
    <dgm:cxn modelId="{022EFF51-E5D7-4392-94F7-B80403927A31}" type="presParOf" srcId="{F9E0B26A-FBD9-42F6-871B-4B2F0CC10665}" destId="{7B9D3A9C-7EAC-4919-9938-37CFCB8513BC}" srcOrd="13" destOrd="0" presId="urn:microsoft.com/office/officeart/2005/8/layout/vList2"/>
    <dgm:cxn modelId="{F504AE6E-043E-4D81-A8CA-77201D82E163}" type="presParOf" srcId="{F9E0B26A-FBD9-42F6-871B-4B2F0CC10665}" destId="{E49B405E-F6A7-4DE9-9B6F-EC1F9F3EAE12}" srcOrd="14" destOrd="0" presId="urn:microsoft.com/office/officeart/2005/8/layout/vList2"/>
    <dgm:cxn modelId="{9F347F65-D3F2-42B8-8FE2-CB3697CCD2FA}" type="presParOf" srcId="{F9E0B26A-FBD9-42F6-871B-4B2F0CC10665}" destId="{6485F796-049F-49EF-A0E7-0C11E55B55B5}" srcOrd="15" destOrd="0" presId="urn:microsoft.com/office/officeart/2005/8/layout/vList2"/>
    <dgm:cxn modelId="{A154330B-E66D-4543-A7C4-F976E2C04544}" type="presParOf" srcId="{F9E0B26A-FBD9-42F6-871B-4B2F0CC10665}" destId="{B1D8B743-28C2-499E-99BD-7AFC48FADFC9}" srcOrd="16" destOrd="0" presId="urn:microsoft.com/office/officeart/2005/8/layout/vList2"/>
    <dgm:cxn modelId="{4C7DDB9E-AB5E-4FEE-A359-4CC6190B16B2}" type="presParOf" srcId="{F9E0B26A-FBD9-42F6-871B-4B2F0CC10665}" destId="{8D114705-EEB3-44E3-BAD1-F65A0E9E7288}" srcOrd="17" destOrd="0" presId="urn:microsoft.com/office/officeart/2005/8/layout/vList2"/>
    <dgm:cxn modelId="{99D244DA-873A-465D-AC8F-D2AF3C641B9B}" type="presParOf" srcId="{F9E0B26A-FBD9-42F6-871B-4B2F0CC10665}" destId="{033613F5-FC04-45F1-A4AD-D2310A8D9ED0}" srcOrd="18" destOrd="0" presId="urn:microsoft.com/office/officeart/2005/8/layout/vList2"/>
    <dgm:cxn modelId="{B22B1EAA-2089-431B-BE3A-AC7F5AC2048F}" type="presParOf" srcId="{F9E0B26A-FBD9-42F6-871B-4B2F0CC10665}" destId="{EAE61867-CA23-4E28-A301-0389536CD425}" srcOrd="19" destOrd="0" presId="urn:microsoft.com/office/officeart/2005/8/layout/vList2"/>
    <dgm:cxn modelId="{0C6E4F86-7573-4BDC-97E3-A354840C891A}" type="presParOf" srcId="{F9E0B26A-FBD9-42F6-871B-4B2F0CC10665}" destId="{F46A4273-7E8D-4861-87AB-D8EB5727373D}" srcOrd="20" destOrd="0" presId="urn:microsoft.com/office/officeart/2005/8/layout/vList2"/>
    <dgm:cxn modelId="{96EC46C1-30D2-4E1C-BF87-1F22DB403215}" type="presParOf" srcId="{F9E0B26A-FBD9-42F6-871B-4B2F0CC10665}" destId="{64AB88EE-7DAB-42C7-8331-D58A34FDCD12}" srcOrd="21" destOrd="0" presId="urn:microsoft.com/office/officeart/2005/8/layout/vList2"/>
    <dgm:cxn modelId="{A5550A30-F90D-442D-A2CA-F3DCEB1E6D7D}" type="presParOf" srcId="{F9E0B26A-FBD9-42F6-871B-4B2F0CC10665}" destId="{6987C46E-55A5-4E8C-9308-99D9D1550BBD}" srcOrd="22" destOrd="0" presId="urn:microsoft.com/office/officeart/2005/8/layout/vList2"/>
    <dgm:cxn modelId="{935D31AD-BAA8-4EAE-958A-C03005C3176C}" type="presParOf" srcId="{F9E0B26A-FBD9-42F6-871B-4B2F0CC10665}" destId="{877106CF-FD8F-4F6E-A8A4-FB6BF15A8234}" srcOrd="23" destOrd="0" presId="urn:microsoft.com/office/officeart/2005/8/layout/vList2"/>
    <dgm:cxn modelId="{E5384745-E75A-4DB5-8374-F1450CDD0C78}" type="presParOf" srcId="{F9E0B26A-FBD9-42F6-871B-4B2F0CC10665}" destId="{91777C0B-2BB0-4C66-B67F-15130196B6DA}" srcOrd="2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9D44744-4AB6-4F73-9885-A69818B4D9E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7416AC9-AB8D-4A70-BBA8-8730CFB4F8AF}">
      <dgm:prSet/>
      <dgm:spPr/>
      <dgm:t>
        <a:bodyPr/>
        <a:lstStyle/>
        <a:p>
          <a:pPr>
            <a:defRPr cap="all"/>
          </a:pPr>
          <a:r>
            <a:rPr lang="en-SG"/>
            <a:t>Liquidity Ratios</a:t>
          </a:r>
          <a:endParaRPr lang="en-US"/>
        </a:p>
      </dgm:t>
    </dgm:pt>
    <dgm:pt modelId="{A94D76B6-0DA4-4921-9AD7-E9F064E6EA75}" type="parTrans" cxnId="{12B0C1E6-2DD0-4875-80A3-9D7436D46380}">
      <dgm:prSet/>
      <dgm:spPr/>
      <dgm:t>
        <a:bodyPr/>
        <a:lstStyle/>
        <a:p>
          <a:endParaRPr lang="en-US"/>
        </a:p>
      </dgm:t>
    </dgm:pt>
    <dgm:pt modelId="{6A9902DA-F329-4635-9504-5124709D004E}" type="sibTrans" cxnId="{12B0C1E6-2DD0-4875-80A3-9D7436D46380}">
      <dgm:prSet/>
      <dgm:spPr/>
      <dgm:t>
        <a:bodyPr/>
        <a:lstStyle/>
        <a:p>
          <a:endParaRPr lang="en-US"/>
        </a:p>
      </dgm:t>
    </dgm:pt>
    <dgm:pt modelId="{671F72E2-E4ED-4E5B-A53F-51A570DE8060}">
      <dgm:prSet/>
      <dgm:spPr/>
      <dgm:t>
        <a:bodyPr/>
        <a:lstStyle/>
        <a:p>
          <a:pPr>
            <a:defRPr cap="all"/>
          </a:pPr>
          <a:r>
            <a:rPr lang="en-SG"/>
            <a:t>Leverage Ratios</a:t>
          </a:r>
          <a:endParaRPr lang="en-US"/>
        </a:p>
      </dgm:t>
    </dgm:pt>
    <dgm:pt modelId="{F0C5A6DE-159D-4969-A777-A7E36306B397}" type="parTrans" cxnId="{9B9E38C8-5084-4FE6-B266-54CA34F910E3}">
      <dgm:prSet/>
      <dgm:spPr/>
      <dgm:t>
        <a:bodyPr/>
        <a:lstStyle/>
        <a:p>
          <a:endParaRPr lang="en-US"/>
        </a:p>
      </dgm:t>
    </dgm:pt>
    <dgm:pt modelId="{612DD8DD-4710-49E2-A232-E51650558B91}" type="sibTrans" cxnId="{9B9E38C8-5084-4FE6-B266-54CA34F910E3}">
      <dgm:prSet/>
      <dgm:spPr/>
      <dgm:t>
        <a:bodyPr/>
        <a:lstStyle/>
        <a:p>
          <a:endParaRPr lang="en-US"/>
        </a:p>
      </dgm:t>
    </dgm:pt>
    <dgm:pt modelId="{3E076253-35D7-4AB3-B975-39FD064BE645}">
      <dgm:prSet/>
      <dgm:spPr/>
      <dgm:t>
        <a:bodyPr/>
        <a:lstStyle/>
        <a:p>
          <a:pPr>
            <a:defRPr cap="all"/>
          </a:pPr>
          <a:r>
            <a:rPr lang="en-SG"/>
            <a:t>Efficiency Ratios</a:t>
          </a:r>
          <a:endParaRPr lang="en-US"/>
        </a:p>
      </dgm:t>
    </dgm:pt>
    <dgm:pt modelId="{16107FC7-2455-4719-9547-61E0DD08E1FA}" type="parTrans" cxnId="{E518197A-4CF4-4D10-B805-3D6D938D19E1}">
      <dgm:prSet/>
      <dgm:spPr/>
      <dgm:t>
        <a:bodyPr/>
        <a:lstStyle/>
        <a:p>
          <a:endParaRPr lang="en-US"/>
        </a:p>
      </dgm:t>
    </dgm:pt>
    <dgm:pt modelId="{67BB8E51-58A6-48D7-AEA3-17BE5A881897}" type="sibTrans" cxnId="{E518197A-4CF4-4D10-B805-3D6D938D19E1}">
      <dgm:prSet/>
      <dgm:spPr/>
      <dgm:t>
        <a:bodyPr/>
        <a:lstStyle/>
        <a:p>
          <a:endParaRPr lang="en-US"/>
        </a:p>
      </dgm:t>
    </dgm:pt>
    <dgm:pt modelId="{B712204D-56FA-49A6-991B-16C7434C08D4}">
      <dgm:prSet/>
      <dgm:spPr/>
      <dgm:t>
        <a:bodyPr/>
        <a:lstStyle/>
        <a:p>
          <a:pPr>
            <a:defRPr cap="all"/>
          </a:pPr>
          <a:r>
            <a:rPr lang="en-SG"/>
            <a:t>Profitability Ratios</a:t>
          </a:r>
          <a:endParaRPr lang="en-US"/>
        </a:p>
      </dgm:t>
    </dgm:pt>
    <dgm:pt modelId="{F0575533-D0FB-49FE-9241-ED8F241165E6}" type="parTrans" cxnId="{422D5CF1-5812-47C7-BA97-3D0D1B82157C}">
      <dgm:prSet/>
      <dgm:spPr/>
      <dgm:t>
        <a:bodyPr/>
        <a:lstStyle/>
        <a:p>
          <a:endParaRPr lang="en-US"/>
        </a:p>
      </dgm:t>
    </dgm:pt>
    <dgm:pt modelId="{FD838C60-9678-4A11-8F83-D2DE8E6D0BD2}" type="sibTrans" cxnId="{422D5CF1-5812-47C7-BA97-3D0D1B82157C}">
      <dgm:prSet/>
      <dgm:spPr/>
      <dgm:t>
        <a:bodyPr/>
        <a:lstStyle/>
        <a:p>
          <a:endParaRPr lang="en-US"/>
        </a:p>
      </dgm:t>
    </dgm:pt>
    <dgm:pt modelId="{562085C4-5127-468C-A8B6-E9902229AB60}" type="pres">
      <dgm:prSet presAssocID="{F9D44744-4AB6-4F73-9885-A69818B4D9EA}" presName="root" presStyleCnt="0">
        <dgm:presLayoutVars>
          <dgm:dir/>
          <dgm:resizeHandles val="exact"/>
        </dgm:presLayoutVars>
      </dgm:prSet>
      <dgm:spPr/>
    </dgm:pt>
    <dgm:pt modelId="{9DFC759B-DBD9-41F5-9AFE-A99C4DEC8D80}" type="pres">
      <dgm:prSet presAssocID="{57416AC9-AB8D-4A70-BBA8-8730CFB4F8AF}" presName="compNode" presStyleCnt="0"/>
      <dgm:spPr/>
    </dgm:pt>
    <dgm:pt modelId="{FB00DCFE-DDA7-49B9-8498-CF0B89A82AD6}" type="pres">
      <dgm:prSet presAssocID="{57416AC9-AB8D-4A70-BBA8-8730CFB4F8AF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E906D82-C24C-4A6C-BBD1-4ABADF0E4330}" type="pres">
      <dgm:prSet presAssocID="{57416AC9-AB8D-4A70-BBA8-8730CFB4F8A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A0640A3-88F5-4785-AB2C-09B6A1CCFAB0}" type="pres">
      <dgm:prSet presAssocID="{57416AC9-AB8D-4A70-BBA8-8730CFB4F8AF}" presName="spaceRect" presStyleCnt="0"/>
      <dgm:spPr/>
    </dgm:pt>
    <dgm:pt modelId="{2E4CCE9C-4B9F-4CE3-B090-B913ACC160BE}" type="pres">
      <dgm:prSet presAssocID="{57416AC9-AB8D-4A70-BBA8-8730CFB4F8AF}" presName="textRect" presStyleLbl="revTx" presStyleIdx="0" presStyleCnt="4">
        <dgm:presLayoutVars>
          <dgm:chMax val="1"/>
          <dgm:chPref val="1"/>
        </dgm:presLayoutVars>
      </dgm:prSet>
      <dgm:spPr/>
    </dgm:pt>
    <dgm:pt modelId="{748E60B2-B96D-4BD9-B911-DFD3D37C36A6}" type="pres">
      <dgm:prSet presAssocID="{6A9902DA-F329-4635-9504-5124709D004E}" presName="sibTrans" presStyleCnt="0"/>
      <dgm:spPr/>
    </dgm:pt>
    <dgm:pt modelId="{4164FF26-CF70-404E-8154-EA80CB32F4F6}" type="pres">
      <dgm:prSet presAssocID="{671F72E2-E4ED-4E5B-A53F-51A570DE8060}" presName="compNode" presStyleCnt="0"/>
      <dgm:spPr/>
    </dgm:pt>
    <dgm:pt modelId="{762EE8F7-4E6F-4814-B990-1204CF05FF95}" type="pres">
      <dgm:prSet presAssocID="{671F72E2-E4ED-4E5B-A53F-51A570DE8060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B6314A3-C200-4894-BDCF-9B38DC6983FA}" type="pres">
      <dgm:prSet presAssocID="{671F72E2-E4ED-4E5B-A53F-51A570DE806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44B33DD-51A7-4BFC-9BB6-1F611D021087}" type="pres">
      <dgm:prSet presAssocID="{671F72E2-E4ED-4E5B-A53F-51A570DE8060}" presName="spaceRect" presStyleCnt="0"/>
      <dgm:spPr/>
    </dgm:pt>
    <dgm:pt modelId="{4F69E882-9808-474F-BB97-97F551D3C11E}" type="pres">
      <dgm:prSet presAssocID="{671F72E2-E4ED-4E5B-A53F-51A570DE8060}" presName="textRect" presStyleLbl="revTx" presStyleIdx="1" presStyleCnt="4">
        <dgm:presLayoutVars>
          <dgm:chMax val="1"/>
          <dgm:chPref val="1"/>
        </dgm:presLayoutVars>
      </dgm:prSet>
      <dgm:spPr/>
    </dgm:pt>
    <dgm:pt modelId="{C273689E-E43A-4ED5-A533-DA27ED4C0687}" type="pres">
      <dgm:prSet presAssocID="{612DD8DD-4710-49E2-A232-E51650558B91}" presName="sibTrans" presStyleCnt="0"/>
      <dgm:spPr/>
    </dgm:pt>
    <dgm:pt modelId="{942ADA36-5A99-4559-9516-841BAE7ACD93}" type="pres">
      <dgm:prSet presAssocID="{3E076253-35D7-4AB3-B975-39FD064BE645}" presName="compNode" presStyleCnt="0"/>
      <dgm:spPr/>
    </dgm:pt>
    <dgm:pt modelId="{015C9385-0D66-4A6D-9D36-799BBCD85A0F}" type="pres">
      <dgm:prSet presAssocID="{3E076253-35D7-4AB3-B975-39FD064BE645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FA91C74-DECB-42EE-B3E2-6BA3FC6C12CF}" type="pres">
      <dgm:prSet presAssocID="{3E076253-35D7-4AB3-B975-39FD064BE64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94FE9882-CCE0-4B19-90BA-4E985572E1B0}" type="pres">
      <dgm:prSet presAssocID="{3E076253-35D7-4AB3-B975-39FD064BE645}" presName="spaceRect" presStyleCnt="0"/>
      <dgm:spPr/>
    </dgm:pt>
    <dgm:pt modelId="{F64F1585-F29B-419D-98C4-6A2ED4C1EC2B}" type="pres">
      <dgm:prSet presAssocID="{3E076253-35D7-4AB3-B975-39FD064BE645}" presName="textRect" presStyleLbl="revTx" presStyleIdx="2" presStyleCnt="4">
        <dgm:presLayoutVars>
          <dgm:chMax val="1"/>
          <dgm:chPref val="1"/>
        </dgm:presLayoutVars>
      </dgm:prSet>
      <dgm:spPr/>
    </dgm:pt>
    <dgm:pt modelId="{F1D0AD45-E02B-430B-AD79-C6BC3E1346B6}" type="pres">
      <dgm:prSet presAssocID="{67BB8E51-58A6-48D7-AEA3-17BE5A881897}" presName="sibTrans" presStyleCnt="0"/>
      <dgm:spPr/>
    </dgm:pt>
    <dgm:pt modelId="{69FA214D-4E25-414A-ADA6-5D1E21A98E94}" type="pres">
      <dgm:prSet presAssocID="{B712204D-56FA-49A6-991B-16C7434C08D4}" presName="compNode" presStyleCnt="0"/>
      <dgm:spPr/>
    </dgm:pt>
    <dgm:pt modelId="{21F9A870-2102-4FB1-BEAE-8610E1549D77}" type="pres">
      <dgm:prSet presAssocID="{B712204D-56FA-49A6-991B-16C7434C08D4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BCE5EF8-DF93-43C9-B784-5330656BFF84}" type="pres">
      <dgm:prSet presAssocID="{B712204D-56FA-49A6-991B-16C7434C08D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259AFB4E-5AA5-4217-83CB-4A1FFD36F7F6}" type="pres">
      <dgm:prSet presAssocID="{B712204D-56FA-49A6-991B-16C7434C08D4}" presName="spaceRect" presStyleCnt="0"/>
      <dgm:spPr/>
    </dgm:pt>
    <dgm:pt modelId="{C99BA3E2-B816-4E55-95F9-9F9441DC2893}" type="pres">
      <dgm:prSet presAssocID="{B712204D-56FA-49A6-991B-16C7434C08D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2A03209-4BE4-4E04-BE67-5BF1A16129E4}" type="presOf" srcId="{57416AC9-AB8D-4A70-BBA8-8730CFB4F8AF}" destId="{2E4CCE9C-4B9F-4CE3-B090-B913ACC160BE}" srcOrd="0" destOrd="0" presId="urn:microsoft.com/office/officeart/2018/5/layout/IconLeafLabelList"/>
    <dgm:cxn modelId="{2B052362-F39D-4ADF-B63F-CA18896C1A42}" type="presOf" srcId="{671F72E2-E4ED-4E5B-A53F-51A570DE8060}" destId="{4F69E882-9808-474F-BB97-97F551D3C11E}" srcOrd="0" destOrd="0" presId="urn:microsoft.com/office/officeart/2018/5/layout/IconLeafLabelList"/>
    <dgm:cxn modelId="{E518197A-4CF4-4D10-B805-3D6D938D19E1}" srcId="{F9D44744-4AB6-4F73-9885-A69818B4D9EA}" destId="{3E076253-35D7-4AB3-B975-39FD064BE645}" srcOrd="2" destOrd="0" parTransId="{16107FC7-2455-4719-9547-61E0DD08E1FA}" sibTransId="{67BB8E51-58A6-48D7-AEA3-17BE5A881897}"/>
    <dgm:cxn modelId="{849BC78A-00BD-4629-A5AE-17BCA7102AC8}" type="presOf" srcId="{3E076253-35D7-4AB3-B975-39FD064BE645}" destId="{F64F1585-F29B-419D-98C4-6A2ED4C1EC2B}" srcOrd="0" destOrd="0" presId="urn:microsoft.com/office/officeart/2018/5/layout/IconLeafLabelList"/>
    <dgm:cxn modelId="{162DB3BF-B3F0-431C-A31F-27E293619E2C}" type="presOf" srcId="{F9D44744-4AB6-4F73-9885-A69818B4D9EA}" destId="{562085C4-5127-468C-A8B6-E9902229AB60}" srcOrd="0" destOrd="0" presId="urn:microsoft.com/office/officeart/2018/5/layout/IconLeafLabelList"/>
    <dgm:cxn modelId="{9B9E38C8-5084-4FE6-B266-54CA34F910E3}" srcId="{F9D44744-4AB6-4F73-9885-A69818B4D9EA}" destId="{671F72E2-E4ED-4E5B-A53F-51A570DE8060}" srcOrd="1" destOrd="0" parTransId="{F0C5A6DE-159D-4969-A777-A7E36306B397}" sibTransId="{612DD8DD-4710-49E2-A232-E51650558B91}"/>
    <dgm:cxn modelId="{12B0C1E6-2DD0-4875-80A3-9D7436D46380}" srcId="{F9D44744-4AB6-4F73-9885-A69818B4D9EA}" destId="{57416AC9-AB8D-4A70-BBA8-8730CFB4F8AF}" srcOrd="0" destOrd="0" parTransId="{A94D76B6-0DA4-4921-9AD7-E9F064E6EA75}" sibTransId="{6A9902DA-F329-4635-9504-5124709D004E}"/>
    <dgm:cxn modelId="{D6BB16F0-FA18-410C-A296-1F1B9C68FABA}" type="presOf" srcId="{B712204D-56FA-49A6-991B-16C7434C08D4}" destId="{C99BA3E2-B816-4E55-95F9-9F9441DC2893}" srcOrd="0" destOrd="0" presId="urn:microsoft.com/office/officeart/2018/5/layout/IconLeafLabelList"/>
    <dgm:cxn modelId="{422D5CF1-5812-47C7-BA97-3D0D1B82157C}" srcId="{F9D44744-4AB6-4F73-9885-A69818B4D9EA}" destId="{B712204D-56FA-49A6-991B-16C7434C08D4}" srcOrd="3" destOrd="0" parTransId="{F0575533-D0FB-49FE-9241-ED8F241165E6}" sibTransId="{FD838C60-9678-4A11-8F83-D2DE8E6D0BD2}"/>
    <dgm:cxn modelId="{080BA244-BEC9-4BC5-B775-AAB1C86D18B0}" type="presParOf" srcId="{562085C4-5127-468C-A8B6-E9902229AB60}" destId="{9DFC759B-DBD9-41F5-9AFE-A99C4DEC8D80}" srcOrd="0" destOrd="0" presId="urn:microsoft.com/office/officeart/2018/5/layout/IconLeafLabelList"/>
    <dgm:cxn modelId="{AC1D34F3-13F6-48F7-B1B2-661D2CA90577}" type="presParOf" srcId="{9DFC759B-DBD9-41F5-9AFE-A99C4DEC8D80}" destId="{FB00DCFE-DDA7-49B9-8498-CF0B89A82AD6}" srcOrd="0" destOrd="0" presId="urn:microsoft.com/office/officeart/2018/5/layout/IconLeafLabelList"/>
    <dgm:cxn modelId="{2594F93C-EDE3-4B9A-97F4-24016FD514A4}" type="presParOf" srcId="{9DFC759B-DBD9-41F5-9AFE-A99C4DEC8D80}" destId="{7E906D82-C24C-4A6C-BBD1-4ABADF0E4330}" srcOrd="1" destOrd="0" presId="urn:microsoft.com/office/officeart/2018/5/layout/IconLeafLabelList"/>
    <dgm:cxn modelId="{A01AC1EA-4113-4C39-8DD1-639D997FE948}" type="presParOf" srcId="{9DFC759B-DBD9-41F5-9AFE-A99C4DEC8D80}" destId="{FA0640A3-88F5-4785-AB2C-09B6A1CCFAB0}" srcOrd="2" destOrd="0" presId="urn:microsoft.com/office/officeart/2018/5/layout/IconLeafLabelList"/>
    <dgm:cxn modelId="{6B5D7FC4-4ED2-405D-A986-197E318BEB67}" type="presParOf" srcId="{9DFC759B-DBD9-41F5-9AFE-A99C4DEC8D80}" destId="{2E4CCE9C-4B9F-4CE3-B090-B913ACC160BE}" srcOrd="3" destOrd="0" presId="urn:microsoft.com/office/officeart/2018/5/layout/IconLeafLabelList"/>
    <dgm:cxn modelId="{69BBFAD7-EEE4-444C-9DDA-1E511A075C24}" type="presParOf" srcId="{562085C4-5127-468C-A8B6-E9902229AB60}" destId="{748E60B2-B96D-4BD9-B911-DFD3D37C36A6}" srcOrd="1" destOrd="0" presId="urn:microsoft.com/office/officeart/2018/5/layout/IconLeafLabelList"/>
    <dgm:cxn modelId="{0FED490E-EDB0-45D4-86B2-0EF2B1D2C8B6}" type="presParOf" srcId="{562085C4-5127-468C-A8B6-E9902229AB60}" destId="{4164FF26-CF70-404E-8154-EA80CB32F4F6}" srcOrd="2" destOrd="0" presId="urn:microsoft.com/office/officeart/2018/5/layout/IconLeafLabelList"/>
    <dgm:cxn modelId="{0706191E-2DAA-4829-A281-AB78EB01BF56}" type="presParOf" srcId="{4164FF26-CF70-404E-8154-EA80CB32F4F6}" destId="{762EE8F7-4E6F-4814-B990-1204CF05FF95}" srcOrd="0" destOrd="0" presId="urn:microsoft.com/office/officeart/2018/5/layout/IconLeafLabelList"/>
    <dgm:cxn modelId="{F456BB3A-75B2-421C-B108-0F2C5EE881E4}" type="presParOf" srcId="{4164FF26-CF70-404E-8154-EA80CB32F4F6}" destId="{2B6314A3-C200-4894-BDCF-9B38DC6983FA}" srcOrd="1" destOrd="0" presId="urn:microsoft.com/office/officeart/2018/5/layout/IconLeafLabelList"/>
    <dgm:cxn modelId="{A7A79CEC-57EA-4710-9DF7-4133BAE72291}" type="presParOf" srcId="{4164FF26-CF70-404E-8154-EA80CB32F4F6}" destId="{F44B33DD-51A7-4BFC-9BB6-1F611D021087}" srcOrd="2" destOrd="0" presId="urn:microsoft.com/office/officeart/2018/5/layout/IconLeafLabelList"/>
    <dgm:cxn modelId="{467AD3A0-452E-4914-B6FD-3558D406EF84}" type="presParOf" srcId="{4164FF26-CF70-404E-8154-EA80CB32F4F6}" destId="{4F69E882-9808-474F-BB97-97F551D3C11E}" srcOrd="3" destOrd="0" presId="urn:microsoft.com/office/officeart/2018/5/layout/IconLeafLabelList"/>
    <dgm:cxn modelId="{F75988CF-1C9D-4D14-A6E0-2DF904997821}" type="presParOf" srcId="{562085C4-5127-468C-A8B6-E9902229AB60}" destId="{C273689E-E43A-4ED5-A533-DA27ED4C0687}" srcOrd="3" destOrd="0" presId="urn:microsoft.com/office/officeart/2018/5/layout/IconLeafLabelList"/>
    <dgm:cxn modelId="{58A4440D-F86F-44C2-9F6F-7D5E5006BBC8}" type="presParOf" srcId="{562085C4-5127-468C-A8B6-E9902229AB60}" destId="{942ADA36-5A99-4559-9516-841BAE7ACD93}" srcOrd="4" destOrd="0" presId="urn:microsoft.com/office/officeart/2018/5/layout/IconLeafLabelList"/>
    <dgm:cxn modelId="{0BD27A0F-BB61-433B-8866-68BE8BAC05A2}" type="presParOf" srcId="{942ADA36-5A99-4559-9516-841BAE7ACD93}" destId="{015C9385-0D66-4A6D-9D36-799BBCD85A0F}" srcOrd="0" destOrd="0" presId="urn:microsoft.com/office/officeart/2018/5/layout/IconLeafLabelList"/>
    <dgm:cxn modelId="{C46E3AD7-5BB3-4AD3-A2FC-26948FD6D250}" type="presParOf" srcId="{942ADA36-5A99-4559-9516-841BAE7ACD93}" destId="{7FA91C74-DECB-42EE-B3E2-6BA3FC6C12CF}" srcOrd="1" destOrd="0" presId="urn:microsoft.com/office/officeart/2018/5/layout/IconLeafLabelList"/>
    <dgm:cxn modelId="{0B162E0A-9117-4D79-B8A7-059CF25A22FC}" type="presParOf" srcId="{942ADA36-5A99-4559-9516-841BAE7ACD93}" destId="{94FE9882-CCE0-4B19-90BA-4E985572E1B0}" srcOrd="2" destOrd="0" presId="urn:microsoft.com/office/officeart/2018/5/layout/IconLeafLabelList"/>
    <dgm:cxn modelId="{20DDC4FA-2315-463D-A37D-91CB4C5B4FAD}" type="presParOf" srcId="{942ADA36-5A99-4559-9516-841BAE7ACD93}" destId="{F64F1585-F29B-419D-98C4-6A2ED4C1EC2B}" srcOrd="3" destOrd="0" presId="urn:microsoft.com/office/officeart/2018/5/layout/IconLeafLabelList"/>
    <dgm:cxn modelId="{D6193E05-DC4C-458B-8474-4CD9B316ACBB}" type="presParOf" srcId="{562085C4-5127-468C-A8B6-E9902229AB60}" destId="{F1D0AD45-E02B-430B-AD79-C6BC3E1346B6}" srcOrd="5" destOrd="0" presId="urn:microsoft.com/office/officeart/2018/5/layout/IconLeafLabelList"/>
    <dgm:cxn modelId="{53FF9C54-593B-4FDA-956E-1035C3663B5D}" type="presParOf" srcId="{562085C4-5127-468C-A8B6-E9902229AB60}" destId="{69FA214D-4E25-414A-ADA6-5D1E21A98E94}" srcOrd="6" destOrd="0" presId="urn:microsoft.com/office/officeart/2018/5/layout/IconLeafLabelList"/>
    <dgm:cxn modelId="{D00DDD41-39BE-4316-A565-DB8B48EAFB1D}" type="presParOf" srcId="{69FA214D-4E25-414A-ADA6-5D1E21A98E94}" destId="{21F9A870-2102-4FB1-BEAE-8610E1549D77}" srcOrd="0" destOrd="0" presId="urn:microsoft.com/office/officeart/2018/5/layout/IconLeafLabelList"/>
    <dgm:cxn modelId="{C9E8C879-3F10-49CC-89FD-DA1511DC02DB}" type="presParOf" srcId="{69FA214D-4E25-414A-ADA6-5D1E21A98E94}" destId="{CBCE5EF8-DF93-43C9-B784-5330656BFF84}" srcOrd="1" destOrd="0" presId="urn:microsoft.com/office/officeart/2018/5/layout/IconLeafLabelList"/>
    <dgm:cxn modelId="{80CABB61-7EF1-482E-AE9C-D7DBEE1B9134}" type="presParOf" srcId="{69FA214D-4E25-414A-ADA6-5D1E21A98E94}" destId="{259AFB4E-5AA5-4217-83CB-4A1FFD36F7F6}" srcOrd="2" destOrd="0" presId="urn:microsoft.com/office/officeart/2018/5/layout/IconLeafLabelList"/>
    <dgm:cxn modelId="{B720CBA3-74CC-4773-A485-303813480CC0}" type="presParOf" srcId="{69FA214D-4E25-414A-ADA6-5D1E21A98E94}" destId="{C99BA3E2-B816-4E55-95F9-9F9441DC289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E1B7C2C-7FF8-449D-A694-ADBC3A72F594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DF40BB8-9ACD-4D26-A9C8-4CBE84D160E0}">
      <dgm:prSet/>
      <dgm:spPr/>
      <dgm:t>
        <a:bodyPr/>
        <a:lstStyle/>
        <a:p>
          <a:r>
            <a:rPr lang="en-SG"/>
            <a:t>Current Ratio</a:t>
          </a:r>
          <a:endParaRPr lang="en-US"/>
        </a:p>
      </dgm:t>
    </dgm:pt>
    <dgm:pt modelId="{38414B3E-6BF6-4BA6-B34D-89345EBCC21E}" type="parTrans" cxnId="{A9213477-381B-456D-BA65-73A1DB6FCC84}">
      <dgm:prSet/>
      <dgm:spPr/>
      <dgm:t>
        <a:bodyPr/>
        <a:lstStyle/>
        <a:p>
          <a:endParaRPr lang="en-US"/>
        </a:p>
      </dgm:t>
    </dgm:pt>
    <dgm:pt modelId="{89C8811E-F462-49BB-922B-B5BEDC8A634A}" type="sibTrans" cxnId="{A9213477-381B-456D-BA65-73A1DB6FCC84}">
      <dgm:prSet/>
      <dgm:spPr/>
      <dgm:t>
        <a:bodyPr/>
        <a:lstStyle/>
        <a:p>
          <a:endParaRPr lang="en-US"/>
        </a:p>
      </dgm:t>
    </dgm:pt>
    <dgm:pt modelId="{EC9524A9-1846-4E33-8172-42AA5A92B356}">
      <dgm:prSet/>
      <dgm:spPr/>
      <dgm:t>
        <a:bodyPr/>
        <a:lstStyle/>
        <a:p>
          <a:r>
            <a:rPr lang="en-SG"/>
            <a:t>Acid Test Ratio</a:t>
          </a:r>
          <a:endParaRPr lang="en-US"/>
        </a:p>
      </dgm:t>
    </dgm:pt>
    <dgm:pt modelId="{95B0FDCE-83D2-43C4-AD77-94178C01B267}" type="parTrans" cxnId="{2F01990B-0437-4E05-8645-715CE2C98622}">
      <dgm:prSet/>
      <dgm:spPr/>
      <dgm:t>
        <a:bodyPr/>
        <a:lstStyle/>
        <a:p>
          <a:endParaRPr lang="en-US"/>
        </a:p>
      </dgm:t>
    </dgm:pt>
    <dgm:pt modelId="{F7454E25-045C-49D1-BB47-90A015360B4E}" type="sibTrans" cxnId="{2F01990B-0437-4E05-8645-715CE2C98622}">
      <dgm:prSet/>
      <dgm:spPr/>
      <dgm:t>
        <a:bodyPr/>
        <a:lstStyle/>
        <a:p>
          <a:endParaRPr lang="en-US"/>
        </a:p>
      </dgm:t>
    </dgm:pt>
    <dgm:pt modelId="{31FDC4B7-ABF7-4D32-868F-57DD83B9169F}">
      <dgm:prSet/>
      <dgm:spPr/>
      <dgm:t>
        <a:bodyPr/>
        <a:lstStyle/>
        <a:p>
          <a:r>
            <a:rPr lang="en-SG"/>
            <a:t>Cash Ratio</a:t>
          </a:r>
          <a:endParaRPr lang="en-US"/>
        </a:p>
      </dgm:t>
    </dgm:pt>
    <dgm:pt modelId="{450D90B8-81AC-4363-804C-0242237C3AF1}" type="parTrans" cxnId="{FA41CC50-350C-40D0-884C-F113C8F70252}">
      <dgm:prSet/>
      <dgm:spPr/>
      <dgm:t>
        <a:bodyPr/>
        <a:lstStyle/>
        <a:p>
          <a:endParaRPr lang="en-US"/>
        </a:p>
      </dgm:t>
    </dgm:pt>
    <dgm:pt modelId="{72C57996-7F51-4E83-9465-1B8568011855}" type="sibTrans" cxnId="{FA41CC50-350C-40D0-884C-F113C8F70252}">
      <dgm:prSet/>
      <dgm:spPr/>
      <dgm:t>
        <a:bodyPr/>
        <a:lstStyle/>
        <a:p>
          <a:endParaRPr lang="en-US"/>
        </a:p>
      </dgm:t>
    </dgm:pt>
    <dgm:pt modelId="{7C85655D-CD34-461E-B3A5-D7DF2D96BAAD}">
      <dgm:prSet/>
      <dgm:spPr/>
      <dgm:t>
        <a:bodyPr/>
        <a:lstStyle/>
        <a:p>
          <a:r>
            <a:rPr lang="en-SG"/>
            <a:t>Operating cash flow ratio</a:t>
          </a:r>
          <a:endParaRPr lang="en-US"/>
        </a:p>
      </dgm:t>
    </dgm:pt>
    <dgm:pt modelId="{30373342-15FC-4CCD-AAB8-B73E6B76AF68}" type="parTrans" cxnId="{CFF1F9C9-063C-4E5E-A87F-9F3BCD424CA9}">
      <dgm:prSet/>
      <dgm:spPr/>
      <dgm:t>
        <a:bodyPr/>
        <a:lstStyle/>
        <a:p>
          <a:endParaRPr lang="en-US"/>
        </a:p>
      </dgm:t>
    </dgm:pt>
    <dgm:pt modelId="{60FBCBEE-963C-49F9-8E4E-054CB367248E}" type="sibTrans" cxnId="{CFF1F9C9-063C-4E5E-A87F-9F3BCD424CA9}">
      <dgm:prSet/>
      <dgm:spPr/>
      <dgm:t>
        <a:bodyPr/>
        <a:lstStyle/>
        <a:p>
          <a:endParaRPr lang="en-US"/>
        </a:p>
      </dgm:t>
    </dgm:pt>
    <dgm:pt modelId="{C54C1C86-A192-4E48-974B-FCB781C61504}" type="pres">
      <dgm:prSet presAssocID="{EE1B7C2C-7FF8-449D-A694-ADBC3A72F594}" presName="vert0" presStyleCnt="0">
        <dgm:presLayoutVars>
          <dgm:dir/>
          <dgm:animOne val="branch"/>
          <dgm:animLvl val="lvl"/>
        </dgm:presLayoutVars>
      </dgm:prSet>
      <dgm:spPr/>
    </dgm:pt>
    <dgm:pt modelId="{FE387812-D332-4943-8D36-015F597CCA9A}" type="pres">
      <dgm:prSet presAssocID="{8DF40BB8-9ACD-4D26-A9C8-4CBE84D160E0}" presName="thickLine" presStyleLbl="alignNode1" presStyleIdx="0" presStyleCnt="4"/>
      <dgm:spPr/>
    </dgm:pt>
    <dgm:pt modelId="{23788920-E3DF-43BC-A4B7-824E5F6A99DC}" type="pres">
      <dgm:prSet presAssocID="{8DF40BB8-9ACD-4D26-A9C8-4CBE84D160E0}" presName="horz1" presStyleCnt="0"/>
      <dgm:spPr/>
    </dgm:pt>
    <dgm:pt modelId="{C5087314-5D0B-44AB-9F2C-C303748510CA}" type="pres">
      <dgm:prSet presAssocID="{8DF40BB8-9ACD-4D26-A9C8-4CBE84D160E0}" presName="tx1" presStyleLbl="revTx" presStyleIdx="0" presStyleCnt="4"/>
      <dgm:spPr/>
    </dgm:pt>
    <dgm:pt modelId="{081F9BCE-D955-4913-9F3E-EA316BF6B232}" type="pres">
      <dgm:prSet presAssocID="{8DF40BB8-9ACD-4D26-A9C8-4CBE84D160E0}" presName="vert1" presStyleCnt="0"/>
      <dgm:spPr/>
    </dgm:pt>
    <dgm:pt modelId="{D6CC8270-7DD2-42F2-98F9-1EE0BAB401C1}" type="pres">
      <dgm:prSet presAssocID="{EC9524A9-1846-4E33-8172-42AA5A92B356}" presName="thickLine" presStyleLbl="alignNode1" presStyleIdx="1" presStyleCnt="4"/>
      <dgm:spPr/>
    </dgm:pt>
    <dgm:pt modelId="{D8BAD8B1-563F-4687-AB93-E7576685E34C}" type="pres">
      <dgm:prSet presAssocID="{EC9524A9-1846-4E33-8172-42AA5A92B356}" presName="horz1" presStyleCnt="0"/>
      <dgm:spPr/>
    </dgm:pt>
    <dgm:pt modelId="{21256514-C6EB-425B-AD30-4F4F5C7B6389}" type="pres">
      <dgm:prSet presAssocID="{EC9524A9-1846-4E33-8172-42AA5A92B356}" presName="tx1" presStyleLbl="revTx" presStyleIdx="1" presStyleCnt="4"/>
      <dgm:spPr/>
    </dgm:pt>
    <dgm:pt modelId="{54849ADC-7E82-4FB2-B3A3-200EE186D672}" type="pres">
      <dgm:prSet presAssocID="{EC9524A9-1846-4E33-8172-42AA5A92B356}" presName="vert1" presStyleCnt="0"/>
      <dgm:spPr/>
    </dgm:pt>
    <dgm:pt modelId="{9C962C90-ECA2-43E2-A6AE-6C5CE04CB920}" type="pres">
      <dgm:prSet presAssocID="{31FDC4B7-ABF7-4D32-868F-57DD83B9169F}" presName="thickLine" presStyleLbl="alignNode1" presStyleIdx="2" presStyleCnt="4"/>
      <dgm:spPr/>
    </dgm:pt>
    <dgm:pt modelId="{D18F17A2-6D5C-4B10-82BA-EB302BAEB95A}" type="pres">
      <dgm:prSet presAssocID="{31FDC4B7-ABF7-4D32-868F-57DD83B9169F}" presName="horz1" presStyleCnt="0"/>
      <dgm:spPr/>
    </dgm:pt>
    <dgm:pt modelId="{F3E5DEDD-71E6-4AAA-8ACE-737F8C5F4D59}" type="pres">
      <dgm:prSet presAssocID="{31FDC4B7-ABF7-4D32-868F-57DD83B9169F}" presName="tx1" presStyleLbl="revTx" presStyleIdx="2" presStyleCnt="4"/>
      <dgm:spPr/>
    </dgm:pt>
    <dgm:pt modelId="{890C7436-5742-44DD-ABEA-EDCB50E97146}" type="pres">
      <dgm:prSet presAssocID="{31FDC4B7-ABF7-4D32-868F-57DD83B9169F}" presName="vert1" presStyleCnt="0"/>
      <dgm:spPr/>
    </dgm:pt>
    <dgm:pt modelId="{DBC9B538-50BB-4784-A5A4-2444CBBC5251}" type="pres">
      <dgm:prSet presAssocID="{7C85655D-CD34-461E-B3A5-D7DF2D96BAAD}" presName="thickLine" presStyleLbl="alignNode1" presStyleIdx="3" presStyleCnt="4"/>
      <dgm:spPr/>
    </dgm:pt>
    <dgm:pt modelId="{7649F8B9-9A93-41E2-9C33-59C84D680409}" type="pres">
      <dgm:prSet presAssocID="{7C85655D-CD34-461E-B3A5-D7DF2D96BAAD}" presName="horz1" presStyleCnt="0"/>
      <dgm:spPr/>
    </dgm:pt>
    <dgm:pt modelId="{85537BFA-47DB-4785-8200-DB9AE1BB2F9B}" type="pres">
      <dgm:prSet presAssocID="{7C85655D-CD34-461E-B3A5-D7DF2D96BAAD}" presName="tx1" presStyleLbl="revTx" presStyleIdx="3" presStyleCnt="4"/>
      <dgm:spPr/>
    </dgm:pt>
    <dgm:pt modelId="{FE8D1440-B385-4A2B-93B9-A6A134B6D292}" type="pres">
      <dgm:prSet presAssocID="{7C85655D-CD34-461E-B3A5-D7DF2D96BAAD}" presName="vert1" presStyleCnt="0"/>
      <dgm:spPr/>
    </dgm:pt>
  </dgm:ptLst>
  <dgm:cxnLst>
    <dgm:cxn modelId="{2F01990B-0437-4E05-8645-715CE2C98622}" srcId="{EE1B7C2C-7FF8-449D-A694-ADBC3A72F594}" destId="{EC9524A9-1846-4E33-8172-42AA5A92B356}" srcOrd="1" destOrd="0" parTransId="{95B0FDCE-83D2-43C4-AD77-94178C01B267}" sibTransId="{F7454E25-045C-49D1-BB47-90A015360B4E}"/>
    <dgm:cxn modelId="{D94A522F-BFAF-4741-BC2C-A68A8428AC0B}" type="presOf" srcId="{8DF40BB8-9ACD-4D26-A9C8-4CBE84D160E0}" destId="{C5087314-5D0B-44AB-9F2C-C303748510CA}" srcOrd="0" destOrd="0" presId="urn:microsoft.com/office/officeart/2008/layout/LinedList"/>
    <dgm:cxn modelId="{30300331-D70C-4531-8A09-B2BDF3A65BB8}" type="presOf" srcId="{31FDC4B7-ABF7-4D32-868F-57DD83B9169F}" destId="{F3E5DEDD-71E6-4AAA-8ACE-737F8C5F4D59}" srcOrd="0" destOrd="0" presId="urn:microsoft.com/office/officeart/2008/layout/LinedList"/>
    <dgm:cxn modelId="{BA9FD337-5074-4C79-9010-23B9B66B27C5}" type="presOf" srcId="{EE1B7C2C-7FF8-449D-A694-ADBC3A72F594}" destId="{C54C1C86-A192-4E48-974B-FCB781C61504}" srcOrd="0" destOrd="0" presId="urn:microsoft.com/office/officeart/2008/layout/LinedList"/>
    <dgm:cxn modelId="{FA41CC50-350C-40D0-884C-F113C8F70252}" srcId="{EE1B7C2C-7FF8-449D-A694-ADBC3A72F594}" destId="{31FDC4B7-ABF7-4D32-868F-57DD83B9169F}" srcOrd="2" destOrd="0" parTransId="{450D90B8-81AC-4363-804C-0242237C3AF1}" sibTransId="{72C57996-7F51-4E83-9465-1B8568011855}"/>
    <dgm:cxn modelId="{A9213477-381B-456D-BA65-73A1DB6FCC84}" srcId="{EE1B7C2C-7FF8-449D-A694-ADBC3A72F594}" destId="{8DF40BB8-9ACD-4D26-A9C8-4CBE84D160E0}" srcOrd="0" destOrd="0" parTransId="{38414B3E-6BF6-4BA6-B34D-89345EBCC21E}" sibTransId="{89C8811E-F462-49BB-922B-B5BEDC8A634A}"/>
    <dgm:cxn modelId="{CD7651A3-2F62-419F-8B10-5B6BEF219403}" type="presOf" srcId="{7C85655D-CD34-461E-B3A5-D7DF2D96BAAD}" destId="{85537BFA-47DB-4785-8200-DB9AE1BB2F9B}" srcOrd="0" destOrd="0" presId="urn:microsoft.com/office/officeart/2008/layout/LinedList"/>
    <dgm:cxn modelId="{57B1B9AD-6FE4-4D70-BA6A-069D79F16663}" type="presOf" srcId="{EC9524A9-1846-4E33-8172-42AA5A92B356}" destId="{21256514-C6EB-425B-AD30-4F4F5C7B6389}" srcOrd="0" destOrd="0" presId="urn:microsoft.com/office/officeart/2008/layout/LinedList"/>
    <dgm:cxn modelId="{CFF1F9C9-063C-4E5E-A87F-9F3BCD424CA9}" srcId="{EE1B7C2C-7FF8-449D-A694-ADBC3A72F594}" destId="{7C85655D-CD34-461E-B3A5-D7DF2D96BAAD}" srcOrd="3" destOrd="0" parTransId="{30373342-15FC-4CCD-AAB8-B73E6B76AF68}" sibTransId="{60FBCBEE-963C-49F9-8E4E-054CB367248E}"/>
    <dgm:cxn modelId="{EF020738-F271-43B9-B86B-04F15406E514}" type="presParOf" srcId="{C54C1C86-A192-4E48-974B-FCB781C61504}" destId="{FE387812-D332-4943-8D36-015F597CCA9A}" srcOrd="0" destOrd="0" presId="urn:microsoft.com/office/officeart/2008/layout/LinedList"/>
    <dgm:cxn modelId="{93036D5C-ECE1-433E-A9AC-34D0CB12401C}" type="presParOf" srcId="{C54C1C86-A192-4E48-974B-FCB781C61504}" destId="{23788920-E3DF-43BC-A4B7-824E5F6A99DC}" srcOrd="1" destOrd="0" presId="urn:microsoft.com/office/officeart/2008/layout/LinedList"/>
    <dgm:cxn modelId="{4FAF5055-E994-41BF-B66B-A572FF7D0C4B}" type="presParOf" srcId="{23788920-E3DF-43BC-A4B7-824E5F6A99DC}" destId="{C5087314-5D0B-44AB-9F2C-C303748510CA}" srcOrd="0" destOrd="0" presId="urn:microsoft.com/office/officeart/2008/layout/LinedList"/>
    <dgm:cxn modelId="{89A17B8F-01A6-43CE-86B1-CBA517ACFBC5}" type="presParOf" srcId="{23788920-E3DF-43BC-A4B7-824E5F6A99DC}" destId="{081F9BCE-D955-4913-9F3E-EA316BF6B232}" srcOrd="1" destOrd="0" presId="urn:microsoft.com/office/officeart/2008/layout/LinedList"/>
    <dgm:cxn modelId="{6DF323ED-FF9F-4930-BA0E-0B8A5C6FEF3F}" type="presParOf" srcId="{C54C1C86-A192-4E48-974B-FCB781C61504}" destId="{D6CC8270-7DD2-42F2-98F9-1EE0BAB401C1}" srcOrd="2" destOrd="0" presId="urn:microsoft.com/office/officeart/2008/layout/LinedList"/>
    <dgm:cxn modelId="{3841819A-149D-4003-A8ED-4F973D00AC42}" type="presParOf" srcId="{C54C1C86-A192-4E48-974B-FCB781C61504}" destId="{D8BAD8B1-563F-4687-AB93-E7576685E34C}" srcOrd="3" destOrd="0" presId="urn:microsoft.com/office/officeart/2008/layout/LinedList"/>
    <dgm:cxn modelId="{64433BBD-078C-4C12-AAFE-A3DCBDF8832D}" type="presParOf" srcId="{D8BAD8B1-563F-4687-AB93-E7576685E34C}" destId="{21256514-C6EB-425B-AD30-4F4F5C7B6389}" srcOrd="0" destOrd="0" presId="urn:microsoft.com/office/officeart/2008/layout/LinedList"/>
    <dgm:cxn modelId="{22C655A7-FF9B-4420-8C7F-138308069924}" type="presParOf" srcId="{D8BAD8B1-563F-4687-AB93-E7576685E34C}" destId="{54849ADC-7E82-4FB2-B3A3-200EE186D672}" srcOrd="1" destOrd="0" presId="urn:microsoft.com/office/officeart/2008/layout/LinedList"/>
    <dgm:cxn modelId="{7427C51A-3FD7-40A6-AACD-72AEBA2B14B5}" type="presParOf" srcId="{C54C1C86-A192-4E48-974B-FCB781C61504}" destId="{9C962C90-ECA2-43E2-A6AE-6C5CE04CB920}" srcOrd="4" destOrd="0" presId="urn:microsoft.com/office/officeart/2008/layout/LinedList"/>
    <dgm:cxn modelId="{64988FC7-26E5-421D-BF8C-7E7F98EA56F3}" type="presParOf" srcId="{C54C1C86-A192-4E48-974B-FCB781C61504}" destId="{D18F17A2-6D5C-4B10-82BA-EB302BAEB95A}" srcOrd="5" destOrd="0" presId="urn:microsoft.com/office/officeart/2008/layout/LinedList"/>
    <dgm:cxn modelId="{54C057B0-EE51-4D9D-A57A-CFF3DCB17B40}" type="presParOf" srcId="{D18F17A2-6D5C-4B10-82BA-EB302BAEB95A}" destId="{F3E5DEDD-71E6-4AAA-8ACE-737F8C5F4D59}" srcOrd="0" destOrd="0" presId="urn:microsoft.com/office/officeart/2008/layout/LinedList"/>
    <dgm:cxn modelId="{3E76B850-803B-47B5-994B-8176B93C39D3}" type="presParOf" srcId="{D18F17A2-6D5C-4B10-82BA-EB302BAEB95A}" destId="{890C7436-5742-44DD-ABEA-EDCB50E97146}" srcOrd="1" destOrd="0" presId="urn:microsoft.com/office/officeart/2008/layout/LinedList"/>
    <dgm:cxn modelId="{61064B06-0275-42D1-AD54-C6407540F535}" type="presParOf" srcId="{C54C1C86-A192-4E48-974B-FCB781C61504}" destId="{DBC9B538-50BB-4784-A5A4-2444CBBC5251}" srcOrd="6" destOrd="0" presId="urn:microsoft.com/office/officeart/2008/layout/LinedList"/>
    <dgm:cxn modelId="{1EAFAD37-0823-4095-A280-214CECE0462C}" type="presParOf" srcId="{C54C1C86-A192-4E48-974B-FCB781C61504}" destId="{7649F8B9-9A93-41E2-9C33-59C84D680409}" srcOrd="7" destOrd="0" presId="urn:microsoft.com/office/officeart/2008/layout/LinedList"/>
    <dgm:cxn modelId="{A038DB41-27CD-49AF-9DB5-AEB57392257D}" type="presParOf" srcId="{7649F8B9-9A93-41E2-9C33-59C84D680409}" destId="{85537BFA-47DB-4785-8200-DB9AE1BB2F9B}" srcOrd="0" destOrd="0" presId="urn:microsoft.com/office/officeart/2008/layout/LinedList"/>
    <dgm:cxn modelId="{0832885E-199D-4B26-9A27-15839C405771}" type="presParOf" srcId="{7649F8B9-9A93-41E2-9C33-59C84D680409}" destId="{FE8D1440-B385-4A2B-93B9-A6A134B6D29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B8FE0D2-0D81-4296-8B5C-5586C45331F3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D683064-5328-4D28-AD1D-0A37FB63BDAF}">
      <dgm:prSet/>
      <dgm:spPr/>
      <dgm:t>
        <a:bodyPr/>
        <a:lstStyle/>
        <a:p>
          <a:r>
            <a:rPr lang="en-SG"/>
            <a:t>Gross Margin </a:t>
          </a:r>
          <a:endParaRPr lang="en-US"/>
        </a:p>
      </dgm:t>
    </dgm:pt>
    <dgm:pt modelId="{A4F34E70-09D4-4474-9A01-3AFAA05EDBC2}" type="parTrans" cxnId="{C4BB50FF-E074-45B5-98C5-539BB18C02E3}">
      <dgm:prSet/>
      <dgm:spPr/>
      <dgm:t>
        <a:bodyPr/>
        <a:lstStyle/>
        <a:p>
          <a:endParaRPr lang="en-US"/>
        </a:p>
      </dgm:t>
    </dgm:pt>
    <dgm:pt modelId="{3EBE2675-5AE5-41E6-819C-50DF86FF9D2B}" type="sibTrans" cxnId="{C4BB50FF-E074-45B5-98C5-539BB18C02E3}">
      <dgm:prSet/>
      <dgm:spPr/>
      <dgm:t>
        <a:bodyPr/>
        <a:lstStyle/>
        <a:p>
          <a:endParaRPr lang="en-US"/>
        </a:p>
      </dgm:t>
    </dgm:pt>
    <dgm:pt modelId="{C9F817F1-F28A-43AA-B158-8E31776A30F2}">
      <dgm:prSet/>
      <dgm:spPr/>
      <dgm:t>
        <a:bodyPr/>
        <a:lstStyle/>
        <a:p>
          <a:r>
            <a:rPr lang="en-SG"/>
            <a:t>Operating Margin</a:t>
          </a:r>
          <a:endParaRPr lang="en-US"/>
        </a:p>
      </dgm:t>
    </dgm:pt>
    <dgm:pt modelId="{4467F8D8-21A5-42CA-B6A1-937F8E6CD452}" type="parTrans" cxnId="{A1E70706-5DFD-4FBD-B528-70EA161A01ED}">
      <dgm:prSet/>
      <dgm:spPr/>
      <dgm:t>
        <a:bodyPr/>
        <a:lstStyle/>
        <a:p>
          <a:endParaRPr lang="en-US"/>
        </a:p>
      </dgm:t>
    </dgm:pt>
    <dgm:pt modelId="{1ECBD0EF-EC65-4FE3-876F-25587482645F}" type="sibTrans" cxnId="{A1E70706-5DFD-4FBD-B528-70EA161A01ED}">
      <dgm:prSet/>
      <dgm:spPr/>
      <dgm:t>
        <a:bodyPr/>
        <a:lstStyle/>
        <a:p>
          <a:endParaRPr lang="en-US"/>
        </a:p>
      </dgm:t>
    </dgm:pt>
    <dgm:pt modelId="{CF57AADE-88A9-4E50-9BE0-82A51E3669DD}">
      <dgm:prSet/>
      <dgm:spPr/>
      <dgm:t>
        <a:bodyPr/>
        <a:lstStyle/>
        <a:p>
          <a:r>
            <a:rPr lang="en-SG"/>
            <a:t>Net Profit Margin</a:t>
          </a:r>
          <a:endParaRPr lang="en-US"/>
        </a:p>
      </dgm:t>
    </dgm:pt>
    <dgm:pt modelId="{42E719DD-005C-41E4-9DFB-ABEFB267B72F}" type="parTrans" cxnId="{A0BEF45B-4D81-433D-9324-91B233924EFA}">
      <dgm:prSet/>
      <dgm:spPr/>
      <dgm:t>
        <a:bodyPr/>
        <a:lstStyle/>
        <a:p>
          <a:endParaRPr lang="en-US"/>
        </a:p>
      </dgm:t>
    </dgm:pt>
    <dgm:pt modelId="{944DA347-3690-4092-8D65-4D55B9396A14}" type="sibTrans" cxnId="{A0BEF45B-4D81-433D-9324-91B233924EFA}">
      <dgm:prSet/>
      <dgm:spPr/>
      <dgm:t>
        <a:bodyPr/>
        <a:lstStyle/>
        <a:p>
          <a:endParaRPr lang="en-US"/>
        </a:p>
      </dgm:t>
    </dgm:pt>
    <dgm:pt modelId="{285D8981-53F5-46C9-AF18-35546C768555}">
      <dgm:prSet/>
      <dgm:spPr/>
      <dgm:t>
        <a:bodyPr/>
        <a:lstStyle/>
        <a:p>
          <a:r>
            <a:rPr lang="en-SG"/>
            <a:t>Return on Assets</a:t>
          </a:r>
          <a:endParaRPr lang="en-US"/>
        </a:p>
      </dgm:t>
    </dgm:pt>
    <dgm:pt modelId="{D2954B25-B6B4-4D2A-A813-9ED388B6131A}" type="parTrans" cxnId="{08804085-BE33-4AF8-B459-59E39E79C169}">
      <dgm:prSet/>
      <dgm:spPr/>
      <dgm:t>
        <a:bodyPr/>
        <a:lstStyle/>
        <a:p>
          <a:endParaRPr lang="en-US"/>
        </a:p>
      </dgm:t>
    </dgm:pt>
    <dgm:pt modelId="{7E3B3C09-995B-406A-B7BA-900CDEE8EBA6}" type="sibTrans" cxnId="{08804085-BE33-4AF8-B459-59E39E79C169}">
      <dgm:prSet/>
      <dgm:spPr/>
      <dgm:t>
        <a:bodyPr/>
        <a:lstStyle/>
        <a:p>
          <a:endParaRPr lang="en-US"/>
        </a:p>
      </dgm:t>
    </dgm:pt>
    <dgm:pt modelId="{07BCABBE-485E-4DB4-8F47-29418CD76E6E}">
      <dgm:prSet/>
      <dgm:spPr/>
      <dgm:t>
        <a:bodyPr/>
        <a:lstStyle/>
        <a:p>
          <a:r>
            <a:rPr lang="en-SG"/>
            <a:t>Return on Equity</a:t>
          </a:r>
          <a:endParaRPr lang="en-US"/>
        </a:p>
      </dgm:t>
    </dgm:pt>
    <dgm:pt modelId="{35FC0B5B-6A5A-4433-A4A9-B3AAC3BCF51F}" type="parTrans" cxnId="{108E459B-6CDF-4CFC-8703-A468A96C818C}">
      <dgm:prSet/>
      <dgm:spPr/>
      <dgm:t>
        <a:bodyPr/>
        <a:lstStyle/>
        <a:p>
          <a:endParaRPr lang="en-US"/>
        </a:p>
      </dgm:t>
    </dgm:pt>
    <dgm:pt modelId="{0478EA00-8FEB-420D-BECA-1AB5B66D50E4}" type="sibTrans" cxnId="{108E459B-6CDF-4CFC-8703-A468A96C818C}">
      <dgm:prSet/>
      <dgm:spPr/>
      <dgm:t>
        <a:bodyPr/>
        <a:lstStyle/>
        <a:p>
          <a:endParaRPr lang="en-US"/>
        </a:p>
      </dgm:t>
    </dgm:pt>
    <dgm:pt modelId="{1BE902FC-F937-42DE-AE11-E9CBFFC66EFF}" type="pres">
      <dgm:prSet presAssocID="{7B8FE0D2-0D81-4296-8B5C-5586C45331F3}" presName="vert0" presStyleCnt="0">
        <dgm:presLayoutVars>
          <dgm:dir/>
          <dgm:animOne val="branch"/>
          <dgm:animLvl val="lvl"/>
        </dgm:presLayoutVars>
      </dgm:prSet>
      <dgm:spPr/>
    </dgm:pt>
    <dgm:pt modelId="{4CED1422-B122-4DB9-AEDB-6C0B3ABFA2CF}" type="pres">
      <dgm:prSet presAssocID="{ED683064-5328-4D28-AD1D-0A37FB63BDAF}" presName="thickLine" presStyleLbl="alignNode1" presStyleIdx="0" presStyleCnt="5"/>
      <dgm:spPr/>
    </dgm:pt>
    <dgm:pt modelId="{4C84263B-8F06-488B-9D3C-3E39E39229EA}" type="pres">
      <dgm:prSet presAssocID="{ED683064-5328-4D28-AD1D-0A37FB63BDAF}" presName="horz1" presStyleCnt="0"/>
      <dgm:spPr/>
    </dgm:pt>
    <dgm:pt modelId="{1A60B073-FE15-4BC2-8538-F3D2309D9BB4}" type="pres">
      <dgm:prSet presAssocID="{ED683064-5328-4D28-AD1D-0A37FB63BDAF}" presName="tx1" presStyleLbl="revTx" presStyleIdx="0" presStyleCnt="5"/>
      <dgm:spPr/>
    </dgm:pt>
    <dgm:pt modelId="{CF32F8F7-BC02-422C-9E49-C72F991E964A}" type="pres">
      <dgm:prSet presAssocID="{ED683064-5328-4D28-AD1D-0A37FB63BDAF}" presName="vert1" presStyleCnt="0"/>
      <dgm:spPr/>
    </dgm:pt>
    <dgm:pt modelId="{E9D26AE9-A83C-472D-A472-F01EFB458317}" type="pres">
      <dgm:prSet presAssocID="{C9F817F1-F28A-43AA-B158-8E31776A30F2}" presName="thickLine" presStyleLbl="alignNode1" presStyleIdx="1" presStyleCnt="5"/>
      <dgm:spPr/>
    </dgm:pt>
    <dgm:pt modelId="{BBDE9F78-6C66-48DE-A3E6-3CD9008A0537}" type="pres">
      <dgm:prSet presAssocID="{C9F817F1-F28A-43AA-B158-8E31776A30F2}" presName="horz1" presStyleCnt="0"/>
      <dgm:spPr/>
    </dgm:pt>
    <dgm:pt modelId="{BFD604B0-F958-463C-A543-DDE6ADDE5C47}" type="pres">
      <dgm:prSet presAssocID="{C9F817F1-F28A-43AA-B158-8E31776A30F2}" presName="tx1" presStyleLbl="revTx" presStyleIdx="1" presStyleCnt="5"/>
      <dgm:spPr/>
    </dgm:pt>
    <dgm:pt modelId="{67C79760-A6F7-41F6-88B6-489E9D7F90B3}" type="pres">
      <dgm:prSet presAssocID="{C9F817F1-F28A-43AA-B158-8E31776A30F2}" presName="vert1" presStyleCnt="0"/>
      <dgm:spPr/>
    </dgm:pt>
    <dgm:pt modelId="{871CC927-7B11-4516-9FC6-4E090B01CCED}" type="pres">
      <dgm:prSet presAssocID="{CF57AADE-88A9-4E50-9BE0-82A51E3669DD}" presName="thickLine" presStyleLbl="alignNode1" presStyleIdx="2" presStyleCnt="5"/>
      <dgm:spPr/>
    </dgm:pt>
    <dgm:pt modelId="{5AA4AB92-6350-4D61-A9CA-1B8B9EC5A9EB}" type="pres">
      <dgm:prSet presAssocID="{CF57AADE-88A9-4E50-9BE0-82A51E3669DD}" presName="horz1" presStyleCnt="0"/>
      <dgm:spPr/>
    </dgm:pt>
    <dgm:pt modelId="{3A33E8C3-50E7-4B08-9954-027E65B7E03B}" type="pres">
      <dgm:prSet presAssocID="{CF57AADE-88A9-4E50-9BE0-82A51E3669DD}" presName="tx1" presStyleLbl="revTx" presStyleIdx="2" presStyleCnt="5"/>
      <dgm:spPr/>
    </dgm:pt>
    <dgm:pt modelId="{C8A6D466-2B55-4475-A793-1D2B140647E6}" type="pres">
      <dgm:prSet presAssocID="{CF57AADE-88A9-4E50-9BE0-82A51E3669DD}" presName="vert1" presStyleCnt="0"/>
      <dgm:spPr/>
    </dgm:pt>
    <dgm:pt modelId="{4A770D12-4963-4A56-9BB3-D1E71F55FF14}" type="pres">
      <dgm:prSet presAssocID="{285D8981-53F5-46C9-AF18-35546C768555}" presName="thickLine" presStyleLbl="alignNode1" presStyleIdx="3" presStyleCnt="5"/>
      <dgm:spPr/>
    </dgm:pt>
    <dgm:pt modelId="{D567F804-DBD2-4425-A5A8-1DFE8793A2E0}" type="pres">
      <dgm:prSet presAssocID="{285D8981-53F5-46C9-AF18-35546C768555}" presName="horz1" presStyleCnt="0"/>
      <dgm:spPr/>
    </dgm:pt>
    <dgm:pt modelId="{D038E3B9-CAE0-4243-B175-0104FAD5E3C3}" type="pres">
      <dgm:prSet presAssocID="{285D8981-53F5-46C9-AF18-35546C768555}" presName="tx1" presStyleLbl="revTx" presStyleIdx="3" presStyleCnt="5"/>
      <dgm:spPr/>
    </dgm:pt>
    <dgm:pt modelId="{5B88AFFD-D194-43E2-B38B-7CD989D648A1}" type="pres">
      <dgm:prSet presAssocID="{285D8981-53F5-46C9-AF18-35546C768555}" presName="vert1" presStyleCnt="0"/>
      <dgm:spPr/>
    </dgm:pt>
    <dgm:pt modelId="{84398C8C-4FD5-4937-864A-AEABBC365215}" type="pres">
      <dgm:prSet presAssocID="{07BCABBE-485E-4DB4-8F47-29418CD76E6E}" presName="thickLine" presStyleLbl="alignNode1" presStyleIdx="4" presStyleCnt="5"/>
      <dgm:spPr/>
    </dgm:pt>
    <dgm:pt modelId="{8C97613D-89DF-4130-83AB-CFD1F41619D1}" type="pres">
      <dgm:prSet presAssocID="{07BCABBE-485E-4DB4-8F47-29418CD76E6E}" presName="horz1" presStyleCnt="0"/>
      <dgm:spPr/>
    </dgm:pt>
    <dgm:pt modelId="{9F77E8FE-2B56-4D60-AE7C-A32C489E9F2A}" type="pres">
      <dgm:prSet presAssocID="{07BCABBE-485E-4DB4-8F47-29418CD76E6E}" presName="tx1" presStyleLbl="revTx" presStyleIdx="4" presStyleCnt="5"/>
      <dgm:spPr/>
    </dgm:pt>
    <dgm:pt modelId="{F7F84484-896C-442F-A71D-F71EAD3891E1}" type="pres">
      <dgm:prSet presAssocID="{07BCABBE-485E-4DB4-8F47-29418CD76E6E}" presName="vert1" presStyleCnt="0"/>
      <dgm:spPr/>
    </dgm:pt>
  </dgm:ptLst>
  <dgm:cxnLst>
    <dgm:cxn modelId="{A1E70706-5DFD-4FBD-B528-70EA161A01ED}" srcId="{7B8FE0D2-0D81-4296-8B5C-5586C45331F3}" destId="{C9F817F1-F28A-43AA-B158-8E31776A30F2}" srcOrd="1" destOrd="0" parTransId="{4467F8D8-21A5-42CA-B6A1-937F8E6CD452}" sibTransId="{1ECBD0EF-EC65-4FE3-876F-25587482645F}"/>
    <dgm:cxn modelId="{6ECC1337-8C1E-4BC0-836E-91ABF5EDD3A5}" type="presOf" srcId="{CF57AADE-88A9-4E50-9BE0-82A51E3669DD}" destId="{3A33E8C3-50E7-4B08-9954-027E65B7E03B}" srcOrd="0" destOrd="0" presId="urn:microsoft.com/office/officeart/2008/layout/LinedList"/>
    <dgm:cxn modelId="{A0BEF45B-4D81-433D-9324-91B233924EFA}" srcId="{7B8FE0D2-0D81-4296-8B5C-5586C45331F3}" destId="{CF57AADE-88A9-4E50-9BE0-82A51E3669DD}" srcOrd="2" destOrd="0" parTransId="{42E719DD-005C-41E4-9DFB-ABEFB267B72F}" sibTransId="{944DA347-3690-4092-8D65-4D55B9396A14}"/>
    <dgm:cxn modelId="{931DD57C-2DDD-4151-906D-277DB7A199BB}" type="presOf" srcId="{285D8981-53F5-46C9-AF18-35546C768555}" destId="{D038E3B9-CAE0-4243-B175-0104FAD5E3C3}" srcOrd="0" destOrd="0" presId="urn:microsoft.com/office/officeart/2008/layout/LinedList"/>
    <dgm:cxn modelId="{08804085-BE33-4AF8-B459-59E39E79C169}" srcId="{7B8FE0D2-0D81-4296-8B5C-5586C45331F3}" destId="{285D8981-53F5-46C9-AF18-35546C768555}" srcOrd="3" destOrd="0" parTransId="{D2954B25-B6B4-4D2A-A813-9ED388B6131A}" sibTransId="{7E3B3C09-995B-406A-B7BA-900CDEE8EBA6}"/>
    <dgm:cxn modelId="{73A7058E-54CF-4EF3-BB67-9BED02076E7F}" type="presOf" srcId="{C9F817F1-F28A-43AA-B158-8E31776A30F2}" destId="{BFD604B0-F958-463C-A543-DDE6ADDE5C47}" srcOrd="0" destOrd="0" presId="urn:microsoft.com/office/officeart/2008/layout/LinedList"/>
    <dgm:cxn modelId="{108E459B-6CDF-4CFC-8703-A468A96C818C}" srcId="{7B8FE0D2-0D81-4296-8B5C-5586C45331F3}" destId="{07BCABBE-485E-4DB4-8F47-29418CD76E6E}" srcOrd="4" destOrd="0" parTransId="{35FC0B5B-6A5A-4433-A4A9-B3AAC3BCF51F}" sibTransId="{0478EA00-8FEB-420D-BECA-1AB5B66D50E4}"/>
    <dgm:cxn modelId="{850B4BA4-2E75-49C5-AD39-7A2377AB34F4}" type="presOf" srcId="{ED683064-5328-4D28-AD1D-0A37FB63BDAF}" destId="{1A60B073-FE15-4BC2-8538-F3D2309D9BB4}" srcOrd="0" destOrd="0" presId="urn:microsoft.com/office/officeart/2008/layout/LinedList"/>
    <dgm:cxn modelId="{4AC08CD2-70AF-4AF4-BBA0-66F6DE55334E}" type="presOf" srcId="{07BCABBE-485E-4DB4-8F47-29418CD76E6E}" destId="{9F77E8FE-2B56-4D60-AE7C-A32C489E9F2A}" srcOrd="0" destOrd="0" presId="urn:microsoft.com/office/officeart/2008/layout/LinedList"/>
    <dgm:cxn modelId="{AC0EB5FE-6BCF-4641-88C8-6EA9FE875A99}" type="presOf" srcId="{7B8FE0D2-0D81-4296-8B5C-5586C45331F3}" destId="{1BE902FC-F937-42DE-AE11-E9CBFFC66EFF}" srcOrd="0" destOrd="0" presId="urn:microsoft.com/office/officeart/2008/layout/LinedList"/>
    <dgm:cxn modelId="{C4BB50FF-E074-45B5-98C5-539BB18C02E3}" srcId="{7B8FE0D2-0D81-4296-8B5C-5586C45331F3}" destId="{ED683064-5328-4D28-AD1D-0A37FB63BDAF}" srcOrd="0" destOrd="0" parTransId="{A4F34E70-09D4-4474-9A01-3AFAA05EDBC2}" sibTransId="{3EBE2675-5AE5-41E6-819C-50DF86FF9D2B}"/>
    <dgm:cxn modelId="{DBC4E3E4-DF0D-4319-B30C-DDE54F1A34C8}" type="presParOf" srcId="{1BE902FC-F937-42DE-AE11-E9CBFFC66EFF}" destId="{4CED1422-B122-4DB9-AEDB-6C0B3ABFA2CF}" srcOrd="0" destOrd="0" presId="urn:microsoft.com/office/officeart/2008/layout/LinedList"/>
    <dgm:cxn modelId="{DA22C624-C7D7-4703-9106-FE10CFDAE246}" type="presParOf" srcId="{1BE902FC-F937-42DE-AE11-E9CBFFC66EFF}" destId="{4C84263B-8F06-488B-9D3C-3E39E39229EA}" srcOrd="1" destOrd="0" presId="urn:microsoft.com/office/officeart/2008/layout/LinedList"/>
    <dgm:cxn modelId="{6E4CF38A-4A0A-417C-8F3E-2D4AF9A7D30D}" type="presParOf" srcId="{4C84263B-8F06-488B-9D3C-3E39E39229EA}" destId="{1A60B073-FE15-4BC2-8538-F3D2309D9BB4}" srcOrd="0" destOrd="0" presId="urn:microsoft.com/office/officeart/2008/layout/LinedList"/>
    <dgm:cxn modelId="{7E1EE40B-B456-449E-9A38-05F0862242F3}" type="presParOf" srcId="{4C84263B-8F06-488B-9D3C-3E39E39229EA}" destId="{CF32F8F7-BC02-422C-9E49-C72F991E964A}" srcOrd="1" destOrd="0" presId="urn:microsoft.com/office/officeart/2008/layout/LinedList"/>
    <dgm:cxn modelId="{CF9631CD-A98F-4268-89E2-DC45634061F2}" type="presParOf" srcId="{1BE902FC-F937-42DE-AE11-E9CBFFC66EFF}" destId="{E9D26AE9-A83C-472D-A472-F01EFB458317}" srcOrd="2" destOrd="0" presId="urn:microsoft.com/office/officeart/2008/layout/LinedList"/>
    <dgm:cxn modelId="{8441040B-7CA2-4C6E-9507-6ED034993F21}" type="presParOf" srcId="{1BE902FC-F937-42DE-AE11-E9CBFFC66EFF}" destId="{BBDE9F78-6C66-48DE-A3E6-3CD9008A0537}" srcOrd="3" destOrd="0" presId="urn:microsoft.com/office/officeart/2008/layout/LinedList"/>
    <dgm:cxn modelId="{CA4542FD-99DC-4F11-ABE6-6F454E26E778}" type="presParOf" srcId="{BBDE9F78-6C66-48DE-A3E6-3CD9008A0537}" destId="{BFD604B0-F958-463C-A543-DDE6ADDE5C47}" srcOrd="0" destOrd="0" presId="urn:microsoft.com/office/officeart/2008/layout/LinedList"/>
    <dgm:cxn modelId="{D2B3ACDF-D4CF-4528-BD86-A66B003A2352}" type="presParOf" srcId="{BBDE9F78-6C66-48DE-A3E6-3CD9008A0537}" destId="{67C79760-A6F7-41F6-88B6-489E9D7F90B3}" srcOrd="1" destOrd="0" presId="urn:microsoft.com/office/officeart/2008/layout/LinedList"/>
    <dgm:cxn modelId="{52D1944B-10C4-4063-ACAB-AEA887C6ECC4}" type="presParOf" srcId="{1BE902FC-F937-42DE-AE11-E9CBFFC66EFF}" destId="{871CC927-7B11-4516-9FC6-4E090B01CCED}" srcOrd="4" destOrd="0" presId="urn:microsoft.com/office/officeart/2008/layout/LinedList"/>
    <dgm:cxn modelId="{B629D7E2-C0A6-4C51-B132-A9473C987659}" type="presParOf" srcId="{1BE902FC-F937-42DE-AE11-E9CBFFC66EFF}" destId="{5AA4AB92-6350-4D61-A9CA-1B8B9EC5A9EB}" srcOrd="5" destOrd="0" presId="urn:microsoft.com/office/officeart/2008/layout/LinedList"/>
    <dgm:cxn modelId="{A8BB9DED-9EA6-4302-A925-6D8671A3026D}" type="presParOf" srcId="{5AA4AB92-6350-4D61-A9CA-1B8B9EC5A9EB}" destId="{3A33E8C3-50E7-4B08-9954-027E65B7E03B}" srcOrd="0" destOrd="0" presId="urn:microsoft.com/office/officeart/2008/layout/LinedList"/>
    <dgm:cxn modelId="{B045F88C-43AF-47A9-9255-129760D027CB}" type="presParOf" srcId="{5AA4AB92-6350-4D61-A9CA-1B8B9EC5A9EB}" destId="{C8A6D466-2B55-4475-A793-1D2B140647E6}" srcOrd="1" destOrd="0" presId="urn:microsoft.com/office/officeart/2008/layout/LinedList"/>
    <dgm:cxn modelId="{EF843F79-8153-45B8-A3CA-AE38F2B4B6F6}" type="presParOf" srcId="{1BE902FC-F937-42DE-AE11-E9CBFFC66EFF}" destId="{4A770D12-4963-4A56-9BB3-D1E71F55FF14}" srcOrd="6" destOrd="0" presId="urn:microsoft.com/office/officeart/2008/layout/LinedList"/>
    <dgm:cxn modelId="{B1619FD7-EFC8-49A0-B269-D08AFFED8C26}" type="presParOf" srcId="{1BE902FC-F937-42DE-AE11-E9CBFFC66EFF}" destId="{D567F804-DBD2-4425-A5A8-1DFE8793A2E0}" srcOrd="7" destOrd="0" presId="urn:microsoft.com/office/officeart/2008/layout/LinedList"/>
    <dgm:cxn modelId="{23F355F8-B6E6-4D62-971A-04E8EFC8F00D}" type="presParOf" srcId="{D567F804-DBD2-4425-A5A8-1DFE8793A2E0}" destId="{D038E3B9-CAE0-4243-B175-0104FAD5E3C3}" srcOrd="0" destOrd="0" presId="urn:microsoft.com/office/officeart/2008/layout/LinedList"/>
    <dgm:cxn modelId="{3E0F2F5C-B733-4DA1-AA3F-00E843CF290A}" type="presParOf" srcId="{D567F804-DBD2-4425-A5A8-1DFE8793A2E0}" destId="{5B88AFFD-D194-43E2-B38B-7CD989D648A1}" srcOrd="1" destOrd="0" presId="urn:microsoft.com/office/officeart/2008/layout/LinedList"/>
    <dgm:cxn modelId="{4A0726F8-5486-40D8-A168-9B2FCCF043D9}" type="presParOf" srcId="{1BE902FC-F937-42DE-AE11-E9CBFFC66EFF}" destId="{84398C8C-4FD5-4937-864A-AEABBC365215}" srcOrd="8" destOrd="0" presId="urn:microsoft.com/office/officeart/2008/layout/LinedList"/>
    <dgm:cxn modelId="{B1AF9CCE-54AB-4443-AE00-B36E4C3529F1}" type="presParOf" srcId="{1BE902FC-F937-42DE-AE11-E9CBFFC66EFF}" destId="{8C97613D-89DF-4130-83AB-CFD1F41619D1}" srcOrd="9" destOrd="0" presId="urn:microsoft.com/office/officeart/2008/layout/LinedList"/>
    <dgm:cxn modelId="{7676F7A9-BFA0-4616-83A5-251308C5F468}" type="presParOf" srcId="{8C97613D-89DF-4130-83AB-CFD1F41619D1}" destId="{9F77E8FE-2B56-4D60-AE7C-A32C489E9F2A}" srcOrd="0" destOrd="0" presId="urn:microsoft.com/office/officeart/2008/layout/LinedList"/>
    <dgm:cxn modelId="{383F0AA7-AE22-4A6F-956F-A580530DC825}" type="presParOf" srcId="{8C97613D-89DF-4130-83AB-CFD1F41619D1}" destId="{F7F84484-896C-442F-A71D-F71EAD3891E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3159981-E26E-489E-8C0C-F2A36DC1261D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4FE79A4-2602-41D1-9D26-4F95474BAF01}">
      <dgm:prSet/>
      <dgm:spPr/>
      <dgm:t>
        <a:bodyPr/>
        <a:lstStyle/>
        <a:p>
          <a:r>
            <a:rPr lang="en-SG"/>
            <a:t>Step 1 : Identify all sources of income</a:t>
          </a:r>
          <a:endParaRPr lang="en-US"/>
        </a:p>
      </dgm:t>
    </dgm:pt>
    <dgm:pt modelId="{F087350A-AE01-47E9-AA25-D02C06F8A371}" type="parTrans" cxnId="{DF6BE90A-4242-4127-B191-9CB266BAE750}">
      <dgm:prSet/>
      <dgm:spPr/>
      <dgm:t>
        <a:bodyPr/>
        <a:lstStyle/>
        <a:p>
          <a:endParaRPr lang="en-US"/>
        </a:p>
      </dgm:t>
    </dgm:pt>
    <dgm:pt modelId="{19646504-4CA1-4840-8015-C1CEEC04C119}" type="sibTrans" cxnId="{DF6BE90A-4242-4127-B191-9CB266BAE75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4F87798-9A06-4657-BBF8-3F52A1135176}">
      <dgm:prSet/>
      <dgm:spPr/>
      <dgm:t>
        <a:bodyPr/>
        <a:lstStyle/>
        <a:p>
          <a:r>
            <a:rPr lang="en-SG"/>
            <a:t>Step 2 : Identify all business expenses</a:t>
          </a:r>
          <a:endParaRPr lang="en-US"/>
        </a:p>
      </dgm:t>
    </dgm:pt>
    <dgm:pt modelId="{681F7A3E-35C2-47BE-B0E4-6F842A859F83}" type="parTrans" cxnId="{9F148B09-F9F7-41E7-AF3A-C2F70D4F0956}">
      <dgm:prSet/>
      <dgm:spPr/>
      <dgm:t>
        <a:bodyPr/>
        <a:lstStyle/>
        <a:p>
          <a:endParaRPr lang="en-US"/>
        </a:p>
      </dgm:t>
    </dgm:pt>
    <dgm:pt modelId="{74AC1BE3-1AA2-4704-9E60-761DE7D1E29D}" type="sibTrans" cxnId="{9F148B09-F9F7-41E7-AF3A-C2F70D4F095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E6B109AE-7BA6-4A02-875D-709BB55B7038}">
      <dgm:prSet/>
      <dgm:spPr/>
      <dgm:t>
        <a:bodyPr/>
        <a:lstStyle/>
        <a:p>
          <a:r>
            <a:rPr lang="en-SG"/>
            <a:t>Step 3 : Create the Cash Flow Statement</a:t>
          </a:r>
          <a:endParaRPr lang="en-US"/>
        </a:p>
      </dgm:t>
    </dgm:pt>
    <dgm:pt modelId="{3FF6404C-D245-465B-9E3D-DBC61CC6D1FB}" type="parTrans" cxnId="{F182207C-9A70-4EE3-80FA-3453FE735274}">
      <dgm:prSet/>
      <dgm:spPr/>
      <dgm:t>
        <a:bodyPr/>
        <a:lstStyle/>
        <a:p>
          <a:endParaRPr lang="en-US"/>
        </a:p>
      </dgm:t>
    </dgm:pt>
    <dgm:pt modelId="{7DBF1C04-38E8-486B-B5E2-202555660CD8}" type="sibTrans" cxnId="{F182207C-9A70-4EE3-80FA-3453FE735274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184EC48-1A1E-4FC3-8FCF-EF8D8981B7FD}">
      <dgm:prSet/>
      <dgm:spPr/>
      <dgm:t>
        <a:bodyPr/>
        <a:lstStyle/>
        <a:p>
          <a:r>
            <a:rPr lang="en-SG"/>
            <a:t>Operating Activities</a:t>
          </a:r>
          <a:endParaRPr lang="en-US"/>
        </a:p>
      </dgm:t>
    </dgm:pt>
    <dgm:pt modelId="{8AA2E220-B9B1-4D3A-B4D6-4D43435252EE}" type="parTrans" cxnId="{DF1768C1-9D4D-49DD-92DD-330656611EB6}">
      <dgm:prSet/>
      <dgm:spPr/>
      <dgm:t>
        <a:bodyPr/>
        <a:lstStyle/>
        <a:p>
          <a:endParaRPr lang="en-US"/>
        </a:p>
      </dgm:t>
    </dgm:pt>
    <dgm:pt modelId="{D7B1657F-E6F2-43E0-9C8F-C8172F04F012}" type="sibTrans" cxnId="{DF1768C1-9D4D-49DD-92DD-330656611EB6}">
      <dgm:prSet/>
      <dgm:spPr/>
      <dgm:t>
        <a:bodyPr/>
        <a:lstStyle/>
        <a:p>
          <a:endParaRPr lang="en-US"/>
        </a:p>
      </dgm:t>
    </dgm:pt>
    <dgm:pt modelId="{DB7D923A-866A-4C78-BE61-58F89A87D230}">
      <dgm:prSet/>
      <dgm:spPr/>
      <dgm:t>
        <a:bodyPr/>
        <a:lstStyle/>
        <a:p>
          <a:r>
            <a:rPr lang="en-SG"/>
            <a:t>Investing Activities</a:t>
          </a:r>
          <a:endParaRPr lang="en-US"/>
        </a:p>
      </dgm:t>
    </dgm:pt>
    <dgm:pt modelId="{E7121963-2F1C-4870-A0FE-184350752ADF}" type="parTrans" cxnId="{EC5920DF-CB1D-44D1-9A76-C9589F608544}">
      <dgm:prSet/>
      <dgm:spPr/>
      <dgm:t>
        <a:bodyPr/>
        <a:lstStyle/>
        <a:p>
          <a:endParaRPr lang="en-US"/>
        </a:p>
      </dgm:t>
    </dgm:pt>
    <dgm:pt modelId="{3565C6AD-6941-4ED8-BB1A-FDBDC61479E3}" type="sibTrans" cxnId="{EC5920DF-CB1D-44D1-9A76-C9589F608544}">
      <dgm:prSet/>
      <dgm:spPr/>
      <dgm:t>
        <a:bodyPr/>
        <a:lstStyle/>
        <a:p>
          <a:endParaRPr lang="en-US"/>
        </a:p>
      </dgm:t>
    </dgm:pt>
    <dgm:pt modelId="{586B6DCD-8668-47A6-8375-BAF2E3DBB1F3}">
      <dgm:prSet/>
      <dgm:spPr/>
      <dgm:t>
        <a:bodyPr/>
        <a:lstStyle/>
        <a:p>
          <a:r>
            <a:rPr lang="en-SG"/>
            <a:t>Financing Activities</a:t>
          </a:r>
          <a:endParaRPr lang="en-US"/>
        </a:p>
      </dgm:t>
    </dgm:pt>
    <dgm:pt modelId="{0DD6E54F-404C-4520-A476-F3538CA3EFB4}" type="parTrans" cxnId="{1AB27BEC-AC07-4151-BB58-53AE445F24CF}">
      <dgm:prSet/>
      <dgm:spPr/>
      <dgm:t>
        <a:bodyPr/>
        <a:lstStyle/>
        <a:p>
          <a:endParaRPr lang="en-US"/>
        </a:p>
      </dgm:t>
    </dgm:pt>
    <dgm:pt modelId="{B34E7EB5-278A-4CFE-823F-808F3B705377}" type="sibTrans" cxnId="{1AB27BEC-AC07-4151-BB58-53AE445F24CF}">
      <dgm:prSet/>
      <dgm:spPr/>
      <dgm:t>
        <a:bodyPr/>
        <a:lstStyle/>
        <a:p>
          <a:endParaRPr lang="en-US"/>
        </a:p>
      </dgm:t>
    </dgm:pt>
    <dgm:pt modelId="{1AAA01B2-EF6B-4381-B149-8931C9A42D08}">
      <dgm:prSet/>
      <dgm:spPr/>
      <dgm:t>
        <a:bodyPr/>
        <a:lstStyle/>
        <a:p>
          <a:r>
            <a:rPr lang="en-SG"/>
            <a:t>Step 4 : Analyse the cash flow statement</a:t>
          </a:r>
          <a:endParaRPr lang="en-US"/>
        </a:p>
      </dgm:t>
    </dgm:pt>
    <dgm:pt modelId="{48095759-21F6-43E6-9893-9F4C9667FB62}" type="parTrans" cxnId="{ADC6FB14-28CD-4E2A-A4C5-44ED114E43E8}">
      <dgm:prSet/>
      <dgm:spPr/>
      <dgm:t>
        <a:bodyPr/>
        <a:lstStyle/>
        <a:p>
          <a:endParaRPr lang="en-US"/>
        </a:p>
      </dgm:t>
    </dgm:pt>
    <dgm:pt modelId="{20977790-FA39-4122-8B68-07F074BA714A}" type="sibTrans" cxnId="{ADC6FB14-28CD-4E2A-A4C5-44ED114E43E8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362811AE-9318-497E-B60E-EE2AD36381EC}">
      <dgm:prSet/>
      <dgm:spPr/>
      <dgm:t>
        <a:bodyPr/>
        <a:lstStyle/>
        <a:p>
          <a:r>
            <a:rPr lang="en-SG"/>
            <a:t>Look for any deficit patterns</a:t>
          </a:r>
          <a:endParaRPr lang="en-US"/>
        </a:p>
      </dgm:t>
    </dgm:pt>
    <dgm:pt modelId="{3C6FA106-26FF-42F1-8178-0B5E07044903}" type="parTrans" cxnId="{BE3EC40F-A3B8-444E-8A76-5ABDB26B7B58}">
      <dgm:prSet/>
      <dgm:spPr/>
      <dgm:t>
        <a:bodyPr/>
        <a:lstStyle/>
        <a:p>
          <a:endParaRPr lang="en-US"/>
        </a:p>
      </dgm:t>
    </dgm:pt>
    <dgm:pt modelId="{74FE1996-9C89-4C6D-9937-F985902417E6}" type="sibTrans" cxnId="{BE3EC40F-A3B8-444E-8A76-5ABDB26B7B58}">
      <dgm:prSet/>
      <dgm:spPr/>
      <dgm:t>
        <a:bodyPr/>
        <a:lstStyle/>
        <a:p>
          <a:endParaRPr lang="en-US"/>
        </a:p>
      </dgm:t>
    </dgm:pt>
    <dgm:pt modelId="{531FD332-2CA0-41CA-BCE4-2DFA179FA5AB}">
      <dgm:prSet/>
      <dgm:spPr/>
      <dgm:t>
        <a:bodyPr/>
        <a:lstStyle/>
        <a:p>
          <a:r>
            <a:rPr lang="en-SG"/>
            <a:t>Better time the expenses</a:t>
          </a:r>
          <a:endParaRPr lang="en-US"/>
        </a:p>
      </dgm:t>
    </dgm:pt>
    <dgm:pt modelId="{FDB1AAB1-208B-4B16-BD11-AA8D313E96CC}" type="parTrans" cxnId="{D958B362-D13B-48CD-A0D1-B1E010F334E4}">
      <dgm:prSet/>
      <dgm:spPr/>
      <dgm:t>
        <a:bodyPr/>
        <a:lstStyle/>
        <a:p>
          <a:endParaRPr lang="en-US"/>
        </a:p>
      </dgm:t>
    </dgm:pt>
    <dgm:pt modelId="{F6CD95DE-BEFD-4502-BB99-E7B06B249DF5}" type="sibTrans" cxnId="{D958B362-D13B-48CD-A0D1-B1E010F334E4}">
      <dgm:prSet/>
      <dgm:spPr/>
      <dgm:t>
        <a:bodyPr/>
        <a:lstStyle/>
        <a:p>
          <a:endParaRPr lang="en-US"/>
        </a:p>
      </dgm:t>
    </dgm:pt>
    <dgm:pt modelId="{9AF3639A-DA7A-4D4D-8F1D-E6AC994BADE2}" type="pres">
      <dgm:prSet presAssocID="{B3159981-E26E-489E-8C0C-F2A36DC1261D}" presName="Name0" presStyleCnt="0">
        <dgm:presLayoutVars>
          <dgm:animLvl val="lvl"/>
          <dgm:resizeHandles val="exact"/>
        </dgm:presLayoutVars>
      </dgm:prSet>
      <dgm:spPr/>
    </dgm:pt>
    <dgm:pt modelId="{C6992AEA-7724-4348-8A04-B04E13991991}" type="pres">
      <dgm:prSet presAssocID="{04FE79A4-2602-41D1-9D26-4F95474BAF01}" presName="compositeNode" presStyleCnt="0">
        <dgm:presLayoutVars>
          <dgm:bulletEnabled val="1"/>
        </dgm:presLayoutVars>
      </dgm:prSet>
      <dgm:spPr/>
    </dgm:pt>
    <dgm:pt modelId="{F82DAF97-21B1-480A-B919-DDF6F19D752D}" type="pres">
      <dgm:prSet presAssocID="{04FE79A4-2602-41D1-9D26-4F95474BAF01}" presName="bgRect" presStyleLbl="bgAccFollowNode1" presStyleIdx="0" presStyleCnt="4"/>
      <dgm:spPr/>
    </dgm:pt>
    <dgm:pt modelId="{5EC2508A-CE6B-4DB1-8316-C9E122D976F4}" type="pres">
      <dgm:prSet presAssocID="{19646504-4CA1-4840-8015-C1CEEC04C119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F45C6A3F-3E47-49DD-A0EA-1CF8CE686850}" type="pres">
      <dgm:prSet presAssocID="{04FE79A4-2602-41D1-9D26-4F95474BAF01}" presName="bottomLine" presStyleLbl="alignNode1" presStyleIdx="1" presStyleCnt="8">
        <dgm:presLayoutVars/>
      </dgm:prSet>
      <dgm:spPr/>
    </dgm:pt>
    <dgm:pt modelId="{CBFE5DA7-9AAD-45A3-A100-7AD68BCA4A4E}" type="pres">
      <dgm:prSet presAssocID="{04FE79A4-2602-41D1-9D26-4F95474BAF01}" presName="nodeText" presStyleLbl="bgAccFollowNode1" presStyleIdx="0" presStyleCnt="4">
        <dgm:presLayoutVars>
          <dgm:bulletEnabled val="1"/>
        </dgm:presLayoutVars>
      </dgm:prSet>
      <dgm:spPr/>
    </dgm:pt>
    <dgm:pt modelId="{05FA886B-FA55-474D-964A-C7C39D590244}" type="pres">
      <dgm:prSet presAssocID="{19646504-4CA1-4840-8015-C1CEEC04C119}" presName="sibTrans" presStyleCnt="0"/>
      <dgm:spPr/>
    </dgm:pt>
    <dgm:pt modelId="{68F4E832-A72C-4776-A5C2-9C56E9595FB9}" type="pres">
      <dgm:prSet presAssocID="{C4F87798-9A06-4657-BBF8-3F52A1135176}" presName="compositeNode" presStyleCnt="0">
        <dgm:presLayoutVars>
          <dgm:bulletEnabled val="1"/>
        </dgm:presLayoutVars>
      </dgm:prSet>
      <dgm:spPr/>
    </dgm:pt>
    <dgm:pt modelId="{F43F0E14-A130-4FCD-80E1-71B820BDA7AA}" type="pres">
      <dgm:prSet presAssocID="{C4F87798-9A06-4657-BBF8-3F52A1135176}" presName="bgRect" presStyleLbl="bgAccFollowNode1" presStyleIdx="1" presStyleCnt="4"/>
      <dgm:spPr/>
    </dgm:pt>
    <dgm:pt modelId="{3B57A0DE-1F37-4B1E-B668-E6B1A0823DA3}" type="pres">
      <dgm:prSet presAssocID="{74AC1BE3-1AA2-4704-9E60-761DE7D1E29D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4E6FB9FC-4C32-44CF-A89F-1D6341919692}" type="pres">
      <dgm:prSet presAssocID="{C4F87798-9A06-4657-BBF8-3F52A1135176}" presName="bottomLine" presStyleLbl="alignNode1" presStyleIdx="3" presStyleCnt="8">
        <dgm:presLayoutVars/>
      </dgm:prSet>
      <dgm:spPr/>
    </dgm:pt>
    <dgm:pt modelId="{F7443A7B-10B2-4525-A03A-CC1BDD90A1E4}" type="pres">
      <dgm:prSet presAssocID="{C4F87798-9A06-4657-BBF8-3F52A1135176}" presName="nodeText" presStyleLbl="bgAccFollowNode1" presStyleIdx="1" presStyleCnt="4">
        <dgm:presLayoutVars>
          <dgm:bulletEnabled val="1"/>
        </dgm:presLayoutVars>
      </dgm:prSet>
      <dgm:spPr/>
    </dgm:pt>
    <dgm:pt modelId="{6BA85C1F-07F5-4BCA-8FE0-676D818FC1DC}" type="pres">
      <dgm:prSet presAssocID="{74AC1BE3-1AA2-4704-9E60-761DE7D1E29D}" presName="sibTrans" presStyleCnt="0"/>
      <dgm:spPr/>
    </dgm:pt>
    <dgm:pt modelId="{5D66671B-4AC4-4067-B6FC-4E043315895F}" type="pres">
      <dgm:prSet presAssocID="{E6B109AE-7BA6-4A02-875D-709BB55B7038}" presName="compositeNode" presStyleCnt="0">
        <dgm:presLayoutVars>
          <dgm:bulletEnabled val="1"/>
        </dgm:presLayoutVars>
      </dgm:prSet>
      <dgm:spPr/>
    </dgm:pt>
    <dgm:pt modelId="{42C22F81-9089-4ACF-A460-5D941000B24D}" type="pres">
      <dgm:prSet presAssocID="{E6B109AE-7BA6-4A02-875D-709BB55B7038}" presName="bgRect" presStyleLbl="bgAccFollowNode1" presStyleIdx="2" presStyleCnt="4"/>
      <dgm:spPr/>
    </dgm:pt>
    <dgm:pt modelId="{F3FF1537-BB15-4886-AABE-9C2ECBA9914E}" type="pres">
      <dgm:prSet presAssocID="{7DBF1C04-38E8-486B-B5E2-202555660CD8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BF773FD5-0532-42F3-9E74-0D1A6ED38516}" type="pres">
      <dgm:prSet presAssocID="{E6B109AE-7BA6-4A02-875D-709BB55B7038}" presName="bottomLine" presStyleLbl="alignNode1" presStyleIdx="5" presStyleCnt="8">
        <dgm:presLayoutVars/>
      </dgm:prSet>
      <dgm:spPr/>
    </dgm:pt>
    <dgm:pt modelId="{F9609F6C-B4B8-4702-BD12-93C42BE7FCD4}" type="pres">
      <dgm:prSet presAssocID="{E6B109AE-7BA6-4A02-875D-709BB55B7038}" presName="nodeText" presStyleLbl="bgAccFollowNode1" presStyleIdx="2" presStyleCnt="4">
        <dgm:presLayoutVars>
          <dgm:bulletEnabled val="1"/>
        </dgm:presLayoutVars>
      </dgm:prSet>
      <dgm:spPr/>
    </dgm:pt>
    <dgm:pt modelId="{228E2C99-89DD-4B44-88A9-09CAE8AD6AAA}" type="pres">
      <dgm:prSet presAssocID="{7DBF1C04-38E8-486B-B5E2-202555660CD8}" presName="sibTrans" presStyleCnt="0"/>
      <dgm:spPr/>
    </dgm:pt>
    <dgm:pt modelId="{D19EC2CB-CB9E-400D-B221-56673A6342DA}" type="pres">
      <dgm:prSet presAssocID="{1AAA01B2-EF6B-4381-B149-8931C9A42D08}" presName="compositeNode" presStyleCnt="0">
        <dgm:presLayoutVars>
          <dgm:bulletEnabled val="1"/>
        </dgm:presLayoutVars>
      </dgm:prSet>
      <dgm:spPr/>
    </dgm:pt>
    <dgm:pt modelId="{218AAD90-95DD-462A-8696-86262C753720}" type="pres">
      <dgm:prSet presAssocID="{1AAA01B2-EF6B-4381-B149-8931C9A42D08}" presName="bgRect" presStyleLbl="bgAccFollowNode1" presStyleIdx="3" presStyleCnt="4"/>
      <dgm:spPr/>
    </dgm:pt>
    <dgm:pt modelId="{72491A3F-FB8A-49E9-BE72-1BCFB16B477B}" type="pres">
      <dgm:prSet presAssocID="{20977790-FA39-4122-8B68-07F074BA714A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CB58BCC1-751C-491C-A90D-5722928965A3}" type="pres">
      <dgm:prSet presAssocID="{1AAA01B2-EF6B-4381-B149-8931C9A42D08}" presName="bottomLine" presStyleLbl="alignNode1" presStyleIdx="7" presStyleCnt="8">
        <dgm:presLayoutVars/>
      </dgm:prSet>
      <dgm:spPr/>
    </dgm:pt>
    <dgm:pt modelId="{CE272710-2A39-4B77-9E3C-A788557F9286}" type="pres">
      <dgm:prSet presAssocID="{1AAA01B2-EF6B-4381-B149-8931C9A42D08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9F148B09-F9F7-41E7-AF3A-C2F70D4F0956}" srcId="{B3159981-E26E-489E-8C0C-F2A36DC1261D}" destId="{C4F87798-9A06-4657-BBF8-3F52A1135176}" srcOrd="1" destOrd="0" parTransId="{681F7A3E-35C2-47BE-B0E4-6F842A859F83}" sibTransId="{74AC1BE3-1AA2-4704-9E60-761DE7D1E29D}"/>
    <dgm:cxn modelId="{DF6BE90A-4242-4127-B191-9CB266BAE750}" srcId="{B3159981-E26E-489E-8C0C-F2A36DC1261D}" destId="{04FE79A4-2602-41D1-9D26-4F95474BAF01}" srcOrd="0" destOrd="0" parTransId="{F087350A-AE01-47E9-AA25-D02C06F8A371}" sibTransId="{19646504-4CA1-4840-8015-C1CEEC04C119}"/>
    <dgm:cxn modelId="{BE3EC40F-A3B8-444E-8A76-5ABDB26B7B58}" srcId="{1AAA01B2-EF6B-4381-B149-8931C9A42D08}" destId="{362811AE-9318-497E-B60E-EE2AD36381EC}" srcOrd="0" destOrd="0" parTransId="{3C6FA106-26FF-42F1-8178-0B5E07044903}" sibTransId="{74FE1996-9C89-4C6D-9937-F985902417E6}"/>
    <dgm:cxn modelId="{82914412-4C63-4ED2-9609-D738A8E72898}" type="presOf" srcId="{74AC1BE3-1AA2-4704-9E60-761DE7D1E29D}" destId="{3B57A0DE-1F37-4B1E-B668-E6B1A0823DA3}" srcOrd="0" destOrd="0" presId="urn:microsoft.com/office/officeart/2016/7/layout/BasicLinearProcessNumbered"/>
    <dgm:cxn modelId="{ADC6FB14-28CD-4E2A-A4C5-44ED114E43E8}" srcId="{B3159981-E26E-489E-8C0C-F2A36DC1261D}" destId="{1AAA01B2-EF6B-4381-B149-8931C9A42D08}" srcOrd="3" destOrd="0" parTransId="{48095759-21F6-43E6-9893-9F4C9667FB62}" sibTransId="{20977790-FA39-4122-8B68-07F074BA714A}"/>
    <dgm:cxn modelId="{2F697A23-A5E2-4738-99EE-525C2C4CFDD7}" type="presOf" srcId="{04FE79A4-2602-41D1-9D26-4F95474BAF01}" destId="{CBFE5DA7-9AAD-45A3-A100-7AD68BCA4A4E}" srcOrd="1" destOrd="0" presId="urn:microsoft.com/office/officeart/2016/7/layout/BasicLinearProcessNumbered"/>
    <dgm:cxn modelId="{29228B3F-2F40-4217-8CF8-E8749B9FED33}" type="presOf" srcId="{9184EC48-1A1E-4FC3-8FCF-EF8D8981B7FD}" destId="{F9609F6C-B4B8-4702-BD12-93C42BE7FCD4}" srcOrd="0" destOrd="1" presId="urn:microsoft.com/office/officeart/2016/7/layout/BasicLinearProcessNumbered"/>
    <dgm:cxn modelId="{D958B362-D13B-48CD-A0D1-B1E010F334E4}" srcId="{1AAA01B2-EF6B-4381-B149-8931C9A42D08}" destId="{531FD332-2CA0-41CA-BCE4-2DFA179FA5AB}" srcOrd="1" destOrd="0" parTransId="{FDB1AAB1-208B-4B16-BD11-AA8D313E96CC}" sibTransId="{F6CD95DE-BEFD-4502-BB99-E7B06B249DF5}"/>
    <dgm:cxn modelId="{AE445F67-6E6D-44EA-8197-29BEB53E895B}" type="presOf" srcId="{20977790-FA39-4122-8B68-07F074BA714A}" destId="{72491A3F-FB8A-49E9-BE72-1BCFB16B477B}" srcOrd="0" destOrd="0" presId="urn:microsoft.com/office/officeart/2016/7/layout/BasicLinearProcessNumbered"/>
    <dgm:cxn modelId="{60527375-803A-4077-8E63-99393C9B4C8C}" type="presOf" srcId="{362811AE-9318-497E-B60E-EE2AD36381EC}" destId="{CE272710-2A39-4B77-9E3C-A788557F9286}" srcOrd="0" destOrd="1" presId="urn:microsoft.com/office/officeart/2016/7/layout/BasicLinearProcessNumbered"/>
    <dgm:cxn modelId="{F182207C-9A70-4EE3-80FA-3453FE735274}" srcId="{B3159981-E26E-489E-8C0C-F2A36DC1261D}" destId="{E6B109AE-7BA6-4A02-875D-709BB55B7038}" srcOrd="2" destOrd="0" parTransId="{3FF6404C-D245-465B-9E3D-DBC61CC6D1FB}" sibTransId="{7DBF1C04-38E8-486B-B5E2-202555660CD8}"/>
    <dgm:cxn modelId="{42FB727C-9C49-4D0D-9347-63EFDB1A030E}" type="presOf" srcId="{1AAA01B2-EF6B-4381-B149-8931C9A42D08}" destId="{CE272710-2A39-4B77-9E3C-A788557F9286}" srcOrd="1" destOrd="0" presId="urn:microsoft.com/office/officeart/2016/7/layout/BasicLinearProcessNumbered"/>
    <dgm:cxn modelId="{D8FFA98B-97FD-4B49-A195-DD0B4B154D3F}" type="presOf" srcId="{E6B109AE-7BA6-4A02-875D-709BB55B7038}" destId="{F9609F6C-B4B8-4702-BD12-93C42BE7FCD4}" srcOrd="1" destOrd="0" presId="urn:microsoft.com/office/officeart/2016/7/layout/BasicLinearProcessNumbered"/>
    <dgm:cxn modelId="{37EEB28C-32BF-497D-9ED0-EFDF9D8924C3}" type="presOf" srcId="{7DBF1C04-38E8-486B-B5E2-202555660CD8}" destId="{F3FF1537-BB15-4886-AABE-9C2ECBA9914E}" srcOrd="0" destOrd="0" presId="urn:microsoft.com/office/officeart/2016/7/layout/BasicLinearProcessNumbered"/>
    <dgm:cxn modelId="{05BA3B9F-1175-4B15-9C0B-CA00ADA1F152}" type="presOf" srcId="{B3159981-E26E-489E-8C0C-F2A36DC1261D}" destId="{9AF3639A-DA7A-4D4D-8F1D-E6AC994BADE2}" srcOrd="0" destOrd="0" presId="urn:microsoft.com/office/officeart/2016/7/layout/BasicLinearProcessNumbered"/>
    <dgm:cxn modelId="{AA86E9B1-BFF4-4804-9631-225F915F1BF1}" type="presOf" srcId="{531FD332-2CA0-41CA-BCE4-2DFA179FA5AB}" destId="{CE272710-2A39-4B77-9E3C-A788557F9286}" srcOrd="0" destOrd="2" presId="urn:microsoft.com/office/officeart/2016/7/layout/BasicLinearProcessNumbered"/>
    <dgm:cxn modelId="{F093F0B1-7B69-4B85-88A0-EC1486105439}" type="presOf" srcId="{586B6DCD-8668-47A6-8375-BAF2E3DBB1F3}" destId="{F9609F6C-B4B8-4702-BD12-93C42BE7FCD4}" srcOrd="0" destOrd="3" presId="urn:microsoft.com/office/officeart/2016/7/layout/BasicLinearProcessNumbered"/>
    <dgm:cxn modelId="{F51ACBBA-417E-4EA3-AB8F-EF8E36E39985}" type="presOf" srcId="{04FE79A4-2602-41D1-9D26-4F95474BAF01}" destId="{F82DAF97-21B1-480A-B919-DDF6F19D752D}" srcOrd="0" destOrd="0" presId="urn:microsoft.com/office/officeart/2016/7/layout/BasicLinearProcessNumbered"/>
    <dgm:cxn modelId="{4A2FDEBA-0807-4BC3-A9B8-0F2970C0F451}" type="presOf" srcId="{19646504-4CA1-4840-8015-C1CEEC04C119}" destId="{5EC2508A-CE6B-4DB1-8316-C9E122D976F4}" srcOrd="0" destOrd="0" presId="urn:microsoft.com/office/officeart/2016/7/layout/BasicLinearProcessNumbered"/>
    <dgm:cxn modelId="{DF1768C1-9D4D-49DD-92DD-330656611EB6}" srcId="{E6B109AE-7BA6-4A02-875D-709BB55B7038}" destId="{9184EC48-1A1E-4FC3-8FCF-EF8D8981B7FD}" srcOrd="0" destOrd="0" parTransId="{8AA2E220-B9B1-4D3A-B4D6-4D43435252EE}" sibTransId="{D7B1657F-E6F2-43E0-9C8F-C8172F04F012}"/>
    <dgm:cxn modelId="{842F57CA-511A-4394-91E1-F1E0FE4A4A51}" type="presOf" srcId="{DB7D923A-866A-4C78-BE61-58F89A87D230}" destId="{F9609F6C-B4B8-4702-BD12-93C42BE7FCD4}" srcOrd="0" destOrd="2" presId="urn:microsoft.com/office/officeart/2016/7/layout/BasicLinearProcessNumbered"/>
    <dgm:cxn modelId="{D1BF96D5-C04F-47CC-8131-DFD027919DBF}" type="presOf" srcId="{E6B109AE-7BA6-4A02-875D-709BB55B7038}" destId="{42C22F81-9089-4ACF-A460-5D941000B24D}" srcOrd="0" destOrd="0" presId="urn:microsoft.com/office/officeart/2016/7/layout/BasicLinearProcessNumbered"/>
    <dgm:cxn modelId="{BDB30CD6-095F-49A5-9AA8-8D960C3B2CDA}" type="presOf" srcId="{C4F87798-9A06-4657-BBF8-3F52A1135176}" destId="{F7443A7B-10B2-4525-A03A-CC1BDD90A1E4}" srcOrd="1" destOrd="0" presId="urn:microsoft.com/office/officeart/2016/7/layout/BasicLinearProcessNumbered"/>
    <dgm:cxn modelId="{EC5920DF-CB1D-44D1-9A76-C9589F608544}" srcId="{E6B109AE-7BA6-4A02-875D-709BB55B7038}" destId="{DB7D923A-866A-4C78-BE61-58F89A87D230}" srcOrd="1" destOrd="0" parTransId="{E7121963-2F1C-4870-A0FE-184350752ADF}" sibTransId="{3565C6AD-6941-4ED8-BB1A-FDBDC61479E3}"/>
    <dgm:cxn modelId="{029A56E1-D3C0-4658-BD89-0A6ADBD579AE}" type="presOf" srcId="{1AAA01B2-EF6B-4381-B149-8931C9A42D08}" destId="{218AAD90-95DD-462A-8696-86262C753720}" srcOrd="0" destOrd="0" presId="urn:microsoft.com/office/officeart/2016/7/layout/BasicLinearProcessNumbered"/>
    <dgm:cxn modelId="{B6EDDEE2-6291-44D9-8D6A-AFF549B20D85}" type="presOf" srcId="{C4F87798-9A06-4657-BBF8-3F52A1135176}" destId="{F43F0E14-A130-4FCD-80E1-71B820BDA7AA}" srcOrd="0" destOrd="0" presId="urn:microsoft.com/office/officeart/2016/7/layout/BasicLinearProcessNumbered"/>
    <dgm:cxn modelId="{1AB27BEC-AC07-4151-BB58-53AE445F24CF}" srcId="{E6B109AE-7BA6-4A02-875D-709BB55B7038}" destId="{586B6DCD-8668-47A6-8375-BAF2E3DBB1F3}" srcOrd="2" destOrd="0" parTransId="{0DD6E54F-404C-4520-A476-F3538CA3EFB4}" sibTransId="{B34E7EB5-278A-4CFE-823F-808F3B705377}"/>
    <dgm:cxn modelId="{2FF4D75C-8B52-4471-9380-91F568A4A64F}" type="presParOf" srcId="{9AF3639A-DA7A-4D4D-8F1D-E6AC994BADE2}" destId="{C6992AEA-7724-4348-8A04-B04E13991991}" srcOrd="0" destOrd="0" presId="urn:microsoft.com/office/officeart/2016/7/layout/BasicLinearProcessNumbered"/>
    <dgm:cxn modelId="{C5F52511-2311-49CC-8D47-7ED3A6D9A1EE}" type="presParOf" srcId="{C6992AEA-7724-4348-8A04-B04E13991991}" destId="{F82DAF97-21B1-480A-B919-DDF6F19D752D}" srcOrd="0" destOrd="0" presId="urn:microsoft.com/office/officeart/2016/7/layout/BasicLinearProcessNumbered"/>
    <dgm:cxn modelId="{8DF85CDC-4646-4D08-9D59-0AEB862B880A}" type="presParOf" srcId="{C6992AEA-7724-4348-8A04-B04E13991991}" destId="{5EC2508A-CE6B-4DB1-8316-C9E122D976F4}" srcOrd="1" destOrd="0" presId="urn:microsoft.com/office/officeart/2016/7/layout/BasicLinearProcessNumbered"/>
    <dgm:cxn modelId="{0AA6424E-04A7-4A35-BC96-7A6AF1874A5A}" type="presParOf" srcId="{C6992AEA-7724-4348-8A04-B04E13991991}" destId="{F45C6A3F-3E47-49DD-A0EA-1CF8CE686850}" srcOrd="2" destOrd="0" presId="urn:microsoft.com/office/officeart/2016/7/layout/BasicLinearProcessNumbered"/>
    <dgm:cxn modelId="{1C4CA29E-23D5-4244-8594-6F3766E1F4B4}" type="presParOf" srcId="{C6992AEA-7724-4348-8A04-B04E13991991}" destId="{CBFE5DA7-9AAD-45A3-A100-7AD68BCA4A4E}" srcOrd="3" destOrd="0" presId="urn:microsoft.com/office/officeart/2016/7/layout/BasicLinearProcessNumbered"/>
    <dgm:cxn modelId="{F9835FF9-B8EE-444D-848E-EBF19649D582}" type="presParOf" srcId="{9AF3639A-DA7A-4D4D-8F1D-E6AC994BADE2}" destId="{05FA886B-FA55-474D-964A-C7C39D590244}" srcOrd="1" destOrd="0" presId="urn:microsoft.com/office/officeart/2016/7/layout/BasicLinearProcessNumbered"/>
    <dgm:cxn modelId="{F0F9AAB6-EBAC-46F3-A832-A5762CED9825}" type="presParOf" srcId="{9AF3639A-DA7A-4D4D-8F1D-E6AC994BADE2}" destId="{68F4E832-A72C-4776-A5C2-9C56E9595FB9}" srcOrd="2" destOrd="0" presId="urn:microsoft.com/office/officeart/2016/7/layout/BasicLinearProcessNumbered"/>
    <dgm:cxn modelId="{BAD4C245-DCCC-4551-B2B9-498B9B056557}" type="presParOf" srcId="{68F4E832-A72C-4776-A5C2-9C56E9595FB9}" destId="{F43F0E14-A130-4FCD-80E1-71B820BDA7AA}" srcOrd="0" destOrd="0" presId="urn:microsoft.com/office/officeart/2016/7/layout/BasicLinearProcessNumbered"/>
    <dgm:cxn modelId="{410B591C-F73A-4BA6-8419-129FFCAD526F}" type="presParOf" srcId="{68F4E832-A72C-4776-A5C2-9C56E9595FB9}" destId="{3B57A0DE-1F37-4B1E-B668-E6B1A0823DA3}" srcOrd="1" destOrd="0" presId="urn:microsoft.com/office/officeart/2016/7/layout/BasicLinearProcessNumbered"/>
    <dgm:cxn modelId="{FBB6EEAC-4C3F-4B31-938C-332EC454DA82}" type="presParOf" srcId="{68F4E832-A72C-4776-A5C2-9C56E9595FB9}" destId="{4E6FB9FC-4C32-44CF-A89F-1D6341919692}" srcOrd="2" destOrd="0" presId="urn:microsoft.com/office/officeart/2016/7/layout/BasicLinearProcessNumbered"/>
    <dgm:cxn modelId="{479318FE-F8F0-4E8C-9DFC-0C8C7BA0E1F4}" type="presParOf" srcId="{68F4E832-A72C-4776-A5C2-9C56E9595FB9}" destId="{F7443A7B-10B2-4525-A03A-CC1BDD90A1E4}" srcOrd="3" destOrd="0" presId="urn:microsoft.com/office/officeart/2016/7/layout/BasicLinearProcessNumbered"/>
    <dgm:cxn modelId="{9E6ECDFF-42B8-4732-8744-EE1D76DEA084}" type="presParOf" srcId="{9AF3639A-DA7A-4D4D-8F1D-E6AC994BADE2}" destId="{6BA85C1F-07F5-4BCA-8FE0-676D818FC1DC}" srcOrd="3" destOrd="0" presId="urn:microsoft.com/office/officeart/2016/7/layout/BasicLinearProcessNumbered"/>
    <dgm:cxn modelId="{8FA948F0-E88E-4FAA-8E56-A74823D0D3E8}" type="presParOf" srcId="{9AF3639A-DA7A-4D4D-8F1D-E6AC994BADE2}" destId="{5D66671B-4AC4-4067-B6FC-4E043315895F}" srcOrd="4" destOrd="0" presId="urn:microsoft.com/office/officeart/2016/7/layout/BasicLinearProcessNumbered"/>
    <dgm:cxn modelId="{0D7EF7E1-5DA4-48C0-BAE9-EBF34473AA4F}" type="presParOf" srcId="{5D66671B-4AC4-4067-B6FC-4E043315895F}" destId="{42C22F81-9089-4ACF-A460-5D941000B24D}" srcOrd="0" destOrd="0" presId="urn:microsoft.com/office/officeart/2016/7/layout/BasicLinearProcessNumbered"/>
    <dgm:cxn modelId="{67555A6C-F8C2-4999-B18F-CCF3CE7EB331}" type="presParOf" srcId="{5D66671B-4AC4-4067-B6FC-4E043315895F}" destId="{F3FF1537-BB15-4886-AABE-9C2ECBA9914E}" srcOrd="1" destOrd="0" presId="urn:microsoft.com/office/officeart/2016/7/layout/BasicLinearProcessNumbered"/>
    <dgm:cxn modelId="{F208344D-5CC3-4D0C-A771-DBA6058ABAF3}" type="presParOf" srcId="{5D66671B-4AC4-4067-B6FC-4E043315895F}" destId="{BF773FD5-0532-42F3-9E74-0D1A6ED38516}" srcOrd="2" destOrd="0" presId="urn:microsoft.com/office/officeart/2016/7/layout/BasicLinearProcessNumbered"/>
    <dgm:cxn modelId="{7487F8B4-0BCB-43F9-8CF1-A2C4A8464999}" type="presParOf" srcId="{5D66671B-4AC4-4067-B6FC-4E043315895F}" destId="{F9609F6C-B4B8-4702-BD12-93C42BE7FCD4}" srcOrd="3" destOrd="0" presId="urn:microsoft.com/office/officeart/2016/7/layout/BasicLinearProcessNumbered"/>
    <dgm:cxn modelId="{7D1FD9BB-5244-4C7A-B7F8-26676EAAADB0}" type="presParOf" srcId="{9AF3639A-DA7A-4D4D-8F1D-E6AC994BADE2}" destId="{228E2C99-89DD-4B44-88A9-09CAE8AD6AAA}" srcOrd="5" destOrd="0" presId="urn:microsoft.com/office/officeart/2016/7/layout/BasicLinearProcessNumbered"/>
    <dgm:cxn modelId="{C617D7A7-0D65-409C-8B60-E7FBBCB40375}" type="presParOf" srcId="{9AF3639A-DA7A-4D4D-8F1D-E6AC994BADE2}" destId="{D19EC2CB-CB9E-400D-B221-56673A6342DA}" srcOrd="6" destOrd="0" presId="urn:microsoft.com/office/officeart/2016/7/layout/BasicLinearProcessNumbered"/>
    <dgm:cxn modelId="{CBCE894A-1BD1-43E6-9068-F16C84836CF6}" type="presParOf" srcId="{D19EC2CB-CB9E-400D-B221-56673A6342DA}" destId="{218AAD90-95DD-462A-8696-86262C753720}" srcOrd="0" destOrd="0" presId="urn:microsoft.com/office/officeart/2016/7/layout/BasicLinearProcessNumbered"/>
    <dgm:cxn modelId="{A28A2667-DFA3-4DDF-B62A-C46B3A999BEC}" type="presParOf" srcId="{D19EC2CB-CB9E-400D-B221-56673A6342DA}" destId="{72491A3F-FB8A-49E9-BE72-1BCFB16B477B}" srcOrd="1" destOrd="0" presId="urn:microsoft.com/office/officeart/2016/7/layout/BasicLinearProcessNumbered"/>
    <dgm:cxn modelId="{B6592461-8FAC-437F-A509-EB26149D4AB9}" type="presParOf" srcId="{D19EC2CB-CB9E-400D-B221-56673A6342DA}" destId="{CB58BCC1-751C-491C-A90D-5722928965A3}" srcOrd="2" destOrd="0" presId="urn:microsoft.com/office/officeart/2016/7/layout/BasicLinearProcessNumbered"/>
    <dgm:cxn modelId="{FA5CF1CC-D250-433A-9D6A-F7C8430B7BF6}" type="presParOf" srcId="{D19EC2CB-CB9E-400D-B221-56673A6342DA}" destId="{CE272710-2A39-4B77-9E3C-A788557F928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29569C7-FEBB-4260-89C4-4AC2E8DB8B7A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5608D93-C3F1-4BFE-A79C-DA0DBEA2286D}">
      <dgm:prSet/>
      <dgm:spPr/>
      <dgm:t>
        <a:bodyPr/>
        <a:lstStyle/>
        <a:p>
          <a:r>
            <a:rPr lang="en-SG"/>
            <a:t>Plan for upcoming expenses</a:t>
          </a:r>
          <a:endParaRPr lang="en-US"/>
        </a:p>
      </dgm:t>
    </dgm:pt>
    <dgm:pt modelId="{93CE82BE-2D9C-4C29-8527-456E2A7D6C94}" type="parTrans" cxnId="{6BE6F55F-E113-4AAA-8B40-05E4543E746F}">
      <dgm:prSet/>
      <dgm:spPr/>
      <dgm:t>
        <a:bodyPr/>
        <a:lstStyle/>
        <a:p>
          <a:endParaRPr lang="en-US"/>
        </a:p>
      </dgm:t>
    </dgm:pt>
    <dgm:pt modelId="{F708F68E-23DE-4845-AFE0-D10DE7DEC768}" type="sibTrans" cxnId="{6BE6F55F-E113-4AAA-8B40-05E4543E746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F2475E1-95F1-4B0C-8F4F-5C391A8FB1B3}">
      <dgm:prSet/>
      <dgm:spPr/>
      <dgm:t>
        <a:bodyPr/>
        <a:lstStyle/>
        <a:p>
          <a:r>
            <a:rPr lang="en-SG"/>
            <a:t>Increase the Income</a:t>
          </a:r>
          <a:endParaRPr lang="en-US"/>
        </a:p>
      </dgm:t>
    </dgm:pt>
    <dgm:pt modelId="{6DC32B1F-F4AE-428D-9A4E-7035760F7543}" type="parTrans" cxnId="{2BD3AEF2-D20B-4033-804E-4B00D6830B9A}">
      <dgm:prSet/>
      <dgm:spPr/>
      <dgm:t>
        <a:bodyPr/>
        <a:lstStyle/>
        <a:p>
          <a:endParaRPr lang="en-US"/>
        </a:p>
      </dgm:t>
    </dgm:pt>
    <dgm:pt modelId="{F6340210-4136-4CF2-A48F-94DF04CFAB4F}" type="sibTrans" cxnId="{2BD3AEF2-D20B-4033-804E-4B00D6830B9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AE5F388-2099-41CF-A6A6-F9A91C271592}">
      <dgm:prSet/>
      <dgm:spPr/>
      <dgm:t>
        <a:bodyPr/>
        <a:lstStyle/>
        <a:p>
          <a:r>
            <a:rPr lang="en-SG"/>
            <a:t>Re-examine payment schedules </a:t>
          </a:r>
          <a:endParaRPr lang="en-US"/>
        </a:p>
      </dgm:t>
    </dgm:pt>
    <dgm:pt modelId="{0E3FCBFC-7C99-4662-B7CD-028508B06FF8}" type="parTrans" cxnId="{224025C6-457F-4921-A056-86FAB262CC9E}">
      <dgm:prSet/>
      <dgm:spPr/>
      <dgm:t>
        <a:bodyPr/>
        <a:lstStyle/>
        <a:p>
          <a:endParaRPr lang="en-US"/>
        </a:p>
      </dgm:t>
    </dgm:pt>
    <dgm:pt modelId="{8B611490-D53A-49AF-B643-DF2EFC601C86}" type="sibTrans" cxnId="{224025C6-457F-4921-A056-86FAB262CC9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0C108AA-E709-4458-ABF3-0895BA63C9AA}">
      <dgm:prSet/>
      <dgm:spPr/>
      <dgm:t>
        <a:bodyPr/>
        <a:lstStyle/>
        <a:p>
          <a:r>
            <a:rPr lang="en-SG"/>
            <a:t>Look at average collections period</a:t>
          </a:r>
          <a:endParaRPr lang="en-US"/>
        </a:p>
      </dgm:t>
    </dgm:pt>
    <dgm:pt modelId="{4FA88709-9E88-4DF3-8963-3AB04788D3F4}" type="parTrans" cxnId="{7E0B497F-23E6-49D9-AB74-7D7001475C00}">
      <dgm:prSet/>
      <dgm:spPr/>
      <dgm:t>
        <a:bodyPr/>
        <a:lstStyle/>
        <a:p>
          <a:endParaRPr lang="en-US"/>
        </a:p>
      </dgm:t>
    </dgm:pt>
    <dgm:pt modelId="{CA9A095F-FD50-4152-94F7-49C19B45C674}" type="sibTrans" cxnId="{7E0B497F-23E6-49D9-AB74-7D7001475C00}">
      <dgm:prSet/>
      <dgm:spPr/>
      <dgm:t>
        <a:bodyPr/>
        <a:lstStyle/>
        <a:p>
          <a:endParaRPr lang="en-US"/>
        </a:p>
      </dgm:t>
    </dgm:pt>
    <dgm:pt modelId="{282DC57E-B1C6-4FF5-8D54-906C98E6D6A5}">
      <dgm:prSet/>
      <dgm:spPr/>
      <dgm:t>
        <a:bodyPr/>
        <a:lstStyle/>
        <a:p>
          <a:r>
            <a:rPr lang="en-SG"/>
            <a:t>Look at average payables period</a:t>
          </a:r>
          <a:endParaRPr lang="en-US"/>
        </a:p>
      </dgm:t>
    </dgm:pt>
    <dgm:pt modelId="{D644F30B-B6CF-49FB-BE12-AB44849BF1EC}" type="parTrans" cxnId="{41075DEB-9F0D-4C08-B94C-B47E76964CE7}">
      <dgm:prSet/>
      <dgm:spPr/>
      <dgm:t>
        <a:bodyPr/>
        <a:lstStyle/>
        <a:p>
          <a:endParaRPr lang="en-US"/>
        </a:p>
      </dgm:t>
    </dgm:pt>
    <dgm:pt modelId="{4515BB2A-0818-4B1D-B4AE-6D006DC2E34D}" type="sibTrans" cxnId="{41075DEB-9F0D-4C08-B94C-B47E76964CE7}">
      <dgm:prSet/>
      <dgm:spPr/>
      <dgm:t>
        <a:bodyPr/>
        <a:lstStyle/>
        <a:p>
          <a:endParaRPr lang="en-US"/>
        </a:p>
      </dgm:t>
    </dgm:pt>
    <dgm:pt modelId="{9E101EC2-74A5-4CE2-B0F1-0F1F45A2F637}" type="pres">
      <dgm:prSet presAssocID="{329569C7-FEBB-4260-89C4-4AC2E8DB8B7A}" presName="Name0" presStyleCnt="0">
        <dgm:presLayoutVars>
          <dgm:animLvl val="lvl"/>
          <dgm:resizeHandles val="exact"/>
        </dgm:presLayoutVars>
      </dgm:prSet>
      <dgm:spPr/>
    </dgm:pt>
    <dgm:pt modelId="{DB028B1A-27C6-4798-8F7B-638496463DD6}" type="pres">
      <dgm:prSet presAssocID="{D5608D93-C3F1-4BFE-A79C-DA0DBEA2286D}" presName="compositeNode" presStyleCnt="0">
        <dgm:presLayoutVars>
          <dgm:bulletEnabled val="1"/>
        </dgm:presLayoutVars>
      </dgm:prSet>
      <dgm:spPr/>
    </dgm:pt>
    <dgm:pt modelId="{7B646E61-DC7D-4971-B52A-9244173F7E86}" type="pres">
      <dgm:prSet presAssocID="{D5608D93-C3F1-4BFE-A79C-DA0DBEA2286D}" presName="bgRect" presStyleLbl="bgAccFollowNode1" presStyleIdx="0" presStyleCnt="3"/>
      <dgm:spPr/>
    </dgm:pt>
    <dgm:pt modelId="{B4B83E3A-EDAC-4D7A-A185-8F09DE93318C}" type="pres">
      <dgm:prSet presAssocID="{F708F68E-23DE-4845-AFE0-D10DE7DEC768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326462AE-F85C-43BA-A596-4C65F7D61577}" type="pres">
      <dgm:prSet presAssocID="{D5608D93-C3F1-4BFE-A79C-DA0DBEA2286D}" presName="bottomLine" presStyleLbl="alignNode1" presStyleIdx="1" presStyleCnt="6">
        <dgm:presLayoutVars/>
      </dgm:prSet>
      <dgm:spPr/>
    </dgm:pt>
    <dgm:pt modelId="{2C533487-FE31-4302-8A07-861D35ED4F28}" type="pres">
      <dgm:prSet presAssocID="{D5608D93-C3F1-4BFE-A79C-DA0DBEA2286D}" presName="nodeText" presStyleLbl="bgAccFollowNode1" presStyleIdx="0" presStyleCnt="3">
        <dgm:presLayoutVars>
          <dgm:bulletEnabled val="1"/>
        </dgm:presLayoutVars>
      </dgm:prSet>
      <dgm:spPr/>
    </dgm:pt>
    <dgm:pt modelId="{68978C0E-8B00-41A2-879D-FC1AE9D632F6}" type="pres">
      <dgm:prSet presAssocID="{F708F68E-23DE-4845-AFE0-D10DE7DEC768}" presName="sibTrans" presStyleCnt="0"/>
      <dgm:spPr/>
    </dgm:pt>
    <dgm:pt modelId="{980CB22A-FD49-4C94-AF6B-12FE529F001D}" type="pres">
      <dgm:prSet presAssocID="{DF2475E1-95F1-4B0C-8F4F-5C391A8FB1B3}" presName="compositeNode" presStyleCnt="0">
        <dgm:presLayoutVars>
          <dgm:bulletEnabled val="1"/>
        </dgm:presLayoutVars>
      </dgm:prSet>
      <dgm:spPr/>
    </dgm:pt>
    <dgm:pt modelId="{B91108DC-A56A-42C3-AEBB-06BED5F68B3E}" type="pres">
      <dgm:prSet presAssocID="{DF2475E1-95F1-4B0C-8F4F-5C391A8FB1B3}" presName="bgRect" presStyleLbl="bgAccFollowNode1" presStyleIdx="1" presStyleCnt="3"/>
      <dgm:spPr/>
    </dgm:pt>
    <dgm:pt modelId="{16F10915-E8BD-49D1-8983-A05E7F786602}" type="pres">
      <dgm:prSet presAssocID="{F6340210-4136-4CF2-A48F-94DF04CFAB4F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7A1996BC-7C95-46D2-8F74-3A332543A04F}" type="pres">
      <dgm:prSet presAssocID="{DF2475E1-95F1-4B0C-8F4F-5C391A8FB1B3}" presName="bottomLine" presStyleLbl="alignNode1" presStyleIdx="3" presStyleCnt="6">
        <dgm:presLayoutVars/>
      </dgm:prSet>
      <dgm:spPr/>
    </dgm:pt>
    <dgm:pt modelId="{E4B79D59-6A65-4249-985A-437E4A8B5155}" type="pres">
      <dgm:prSet presAssocID="{DF2475E1-95F1-4B0C-8F4F-5C391A8FB1B3}" presName="nodeText" presStyleLbl="bgAccFollowNode1" presStyleIdx="1" presStyleCnt="3">
        <dgm:presLayoutVars>
          <dgm:bulletEnabled val="1"/>
        </dgm:presLayoutVars>
      </dgm:prSet>
      <dgm:spPr/>
    </dgm:pt>
    <dgm:pt modelId="{E2842F3C-7091-425A-B42E-04096597D1D2}" type="pres">
      <dgm:prSet presAssocID="{F6340210-4136-4CF2-A48F-94DF04CFAB4F}" presName="sibTrans" presStyleCnt="0"/>
      <dgm:spPr/>
    </dgm:pt>
    <dgm:pt modelId="{CFBA59D2-CA37-44B2-BA30-591FC7462825}" type="pres">
      <dgm:prSet presAssocID="{3AE5F388-2099-41CF-A6A6-F9A91C271592}" presName="compositeNode" presStyleCnt="0">
        <dgm:presLayoutVars>
          <dgm:bulletEnabled val="1"/>
        </dgm:presLayoutVars>
      </dgm:prSet>
      <dgm:spPr/>
    </dgm:pt>
    <dgm:pt modelId="{7DD2DFC8-F926-49C4-84A0-79A355129888}" type="pres">
      <dgm:prSet presAssocID="{3AE5F388-2099-41CF-A6A6-F9A91C271592}" presName="bgRect" presStyleLbl="bgAccFollowNode1" presStyleIdx="2" presStyleCnt="3"/>
      <dgm:spPr/>
    </dgm:pt>
    <dgm:pt modelId="{3732D95D-B826-4C93-9DB7-DAFC9175E7C0}" type="pres">
      <dgm:prSet presAssocID="{8B611490-D53A-49AF-B643-DF2EFC601C86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BF83A26F-EBED-4976-AABB-7EBD7BF13392}" type="pres">
      <dgm:prSet presAssocID="{3AE5F388-2099-41CF-A6A6-F9A91C271592}" presName="bottomLine" presStyleLbl="alignNode1" presStyleIdx="5" presStyleCnt="6">
        <dgm:presLayoutVars/>
      </dgm:prSet>
      <dgm:spPr/>
    </dgm:pt>
    <dgm:pt modelId="{07893D56-65A5-4064-9135-28A26376E78E}" type="pres">
      <dgm:prSet presAssocID="{3AE5F388-2099-41CF-A6A6-F9A91C271592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31EFE20A-955C-457A-AC82-2CD8B69C85E3}" type="presOf" srcId="{DF2475E1-95F1-4B0C-8F4F-5C391A8FB1B3}" destId="{B91108DC-A56A-42C3-AEBB-06BED5F68B3E}" srcOrd="0" destOrd="0" presId="urn:microsoft.com/office/officeart/2016/7/layout/BasicLinearProcessNumbered"/>
    <dgm:cxn modelId="{35ED6B0D-5922-4891-8DC8-DBD293D835CE}" type="presOf" srcId="{F708F68E-23DE-4845-AFE0-D10DE7DEC768}" destId="{B4B83E3A-EDAC-4D7A-A185-8F09DE93318C}" srcOrd="0" destOrd="0" presId="urn:microsoft.com/office/officeart/2016/7/layout/BasicLinearProcessNumbered"/>
    <dgm:cxn modelId="{8D3C0F2A-0198-4A84-BADF-F7D91A77259C}" type="presOf" srcId="{329569C7-FEBB-4260-89C4-4AC2E8DB8B7A}" destId="{9E101EC2-74A5-4CE2-B0F1-0F1F45A2F637}" srcOrd="0" destOrd="0" presId="urn:microsoft.com/office/officeart/2016/7/layout/BasicLinearProcessNumbered"/>
    <dgm:cxn modelId="{74164E30-944C-4BA4-9B71-4AF114F2CDFA}" type="presOf" srcId="{D5608D93-C3F1-4BFE-A79C-DA0DBEA2286D}" destId="{2C533487-FE31-4302-8A07-861D35ED4F28}" srcOrd="1" destOrd="0" presId="urn:microsoft.com/office/officeart/2016/7/layout/BasicLinearProcessNumbered"/>
    <dgm:cxn modelId="{0EBC313B-0D8A-4365-9E97-321E8A3FB490}" type="presOf" srcId="{D5608D93-C3F1-4BFE-A79C-DA0DBEA2286D}" destId="{7B646E61-DC7D-4971-B52A-9244173F7E86}" srcOrd="0" destOrd="0" presId="urn:microsoft.com/office/officeart/2016/7/layout/BasicLinearProcessNumbered"/>
    <dgm:cxn modelId="{344BF648-8EB0-47B7-A779-10C7823026BA}" type="presOf" srcId="{3AE5F388-2099-41CF-A6A6-F9A91C271592}" destId="{7DD2DFC8-F926-49C4-84A0-79A355129888}" srcOrd="0" destOrd="0" presId="urn:microsoft.com/office/officeart/2016/7/layout/BasicLinearProcessNumbered"/>
    <dgm:cxn modelId="{75B0905F-EC80-4FA6-B48C-92F1FF618429}" type="presOf" srcId="{F6340210-4136-4CF2-A48F-94DF04CFAB4F}" destId="{16F10915-E8BD-49D1-8983-A05E7F786602}" srcOrd="0" destOrd="0" presId="urn:microsoft.com/office/officeart/2016/7/layout/BasicLinearProcessNumbered"/>
    <dgm:cxn modelId="{6BE6F55F-E113-4AAA-8B40-05E4543E746F}" srcId="{329569C7-FEBB-4260-89C4-4AC2E8DB8B7A}" destId="{D5608D93-C3F1-4BFE-A79C-DA0DBEA2286D}" srcOrd="0" destOrd="0" parTransId="{93CE82BE-2D9C-4C29-8527-456E2A7D6C94}" sibTransId="{F708F68E-23DE-4845-AFE0-D10DE7DEC768}"/>
    <dgm:cxn modelId="{3D44F46C-E5EE-461F-B334-0C756C7CD43A}" type="presOf" srcId="{3AE5F388-2099-41CF-A6A6-F9A91C271592}" destId="{07893D56-65A5-4064-9135-28A26376E78E}" srcOrd="1" destOrd="0" presId="urn:microsoft.com/office/officeart/2016/7/layout/BasicLinearProcessNumbered"/>
    <dgm:cxn modelId="{7E0B497F-23E6-49D9-AB74-7D7001475C00}" srcId="{3AE5F388-2099-41CF-A6A6-F9A91C271592}" destId="{10C108AA-E709-4458-ABF3-0895BA63C9AA}" srcOrd="0" destOrd="0" parTransId="{4FA88709-9E88-4DF3-8963-3AB04788D3F4}" sibTransId="{CA9A095F-FD50-4152-94F7-49C19B45C674}"/>
    <dgm:cxn modelId="{8BFEFE9E-4BF9-40B2-AF10-394596250639}" type="presOf" srcId="{282DC57E-B1C6-4FF5-8D54-906C98E6D6A5}" destId="{07893D56-65A5-4064-9135-28A26376E78E}" srcOrd="0" destOrd="2" presId="urn:microsoft.com/office/officeart/2016/7/layout/BasicLinearProcessNumbered"/>
    <dgm:cxn modelId="{224025C6-457F-4921-A056-86FAB262CC9E}" srcId="{329569C7-FEBB-4260-89C4-4AC2E8DB8B7A}" destId="{3AE5F388-2099-41CF-A6A6-F9A91C271592}" srcOrd="2" destOrd="0" parTransId="{0E3FCBFC-7C99-4662-B7CD-028508B06FF8}" sibTransId="{8B611490-D53A-49AF-B643-DF2EFC601C86}"/>
    <dgm:cxn modelId="{BA286DC6-E5F5-4066-9449-7856AF73B22C}" type="presOf" srcId="{DF2475E1-95F1-4B0C-8F4F-5C391A8FB1B3}" destId="{E4B79D59-6A65-4249-985A-437E4A8B5155}" srcOrd="1" destOrd="0" presId="urn:microsoft.com/office/officeart/2016/7/layout/BasicLinearProcessNumbered"/>
    <dgm:cxn modelId="{E255CAC6-22B6-442B-BCDE-C38D2589763B}" type="presOf" srcId="{10C108AA-E709-4458-ABF3-0895BA63C9AA}" destId="{07893D56-65A5-4064-9135-28A26376E78E}" srcOrd="0" destOrd="1" presId="urn:microsoft.com/office/officeart/2016/7/layout/BasicLinearProcessNumbered"/>
    <dgm:cxn modelId="{085F68CA-CADC-4ADA-8F65-5AC4C741C83E}" type="presOf" srcId="{8B611490-D53A-49AF-B643-DF2EFC601C86}" destId="{3732D95D-B826-4C93-9DB7-DAFC9175E7C0}" srcOrd="0" destOrd="0" presId="urn:microsoft.com/office/officeart/2016/7/layout/BasicLinearProcessNumbered"/>
    <dgm:cxn modelId="{41075DEB-9F0D-4C08-B94C-B47E76964CE7}" srcId="{3AE5F388-2099-41CF-A6A6-F9A91C271592}" destId="{282DC57E-B1C6-4FF5-8D54-906C98E6D6A5}" srcOrd="1" destOrd="0" parTransId="{D644F30B-B6CF-49FB-BE12-AB44849BF1EC}" sibTransId="{4515BB2A-0818-4B1D-B4AE-6D006DC2E34D}"/>
    <dgm:cxn modelId="{2BD3AEF2-D20B-4033-804E-4B00D6830B9A}" srcId="{329569C7-FEBB-4260-89C4-4AC2E8DB8B7A}" destId="{DF2475E1-95F1-4B0C-8F4F-5C391A8FB1B3}" srcOrd="1" destOrd="0" parTransId="{6DC32B1F-F4AE-428D-9A4E-7035760F7543}" sibTransId="{F6340210-4136-4CF2-A48F-94DF04CFAB4F}"/>
    <dgm:cxn modelId="{CF2A2D7A-5CA6-438A-B841-F4B2D0C0EDE4}" type="presParOf" srcId="{9E101EC2-74A5-4CE2-B0F1-0F1F45A2F637}" destId="{DB028B1A-27C6-4798-8F7B-638496463DD6}" srcOrd="0" destOrd="0" presId="urn:microsoft.com/office/officeart/2016/7/layout/BasicLinearProcessNumbered"/>
    <dgm:cxn modelId="{1A25E414-5E7C-4371-8558-8B78FFE19E1B}" type="presParOf" srcId="{DB028B1A-27C6-4798-8F7B-638496463DD6}" destId="{7B646E61-DC7D-4971-B52A-9244173F7E86}" srcOrd="0" destOrd="0" presId="urn:microsoft.com/office/officeart/2016/7/layout/BasicLinearProcessNumbered"/>
    <dgm:cxn modelId="{605FB1A3-73B5-456F-816B-D5435B7A99E1}" type="presParOf" srcId="{DB028B1A-27C6-4798-8F7B-638496463DD6}" destId="{B4B83E3A-EDAC-4D7A-A185-8F09DE93318C}" srcOrd="1" destOrd="0" presId="urn:microsoft.com/office/officeart/2016/7/layout/BasicLinearProcessNumbered"/>
    <dgm:cxn modelId="{1308A901-734B-4B1D-A9B9-00997617215C}" type="presParOf" srcId="{DB028B1A-27C6-4798-8F7B-638496463DD6}" destId="{326462AE-F85C-43BA-A596-4C65F7D61577}" srcOrd="2" destOrd="0" presId="urn:microsoft.com/office/officeart/2016/7/layout/BasicLinearProcessNumbered"/>
    <dgm:cxn modelId="{6D0346B8-ECB3-44B6-B958-E6944BC1A8AA}" type="presParOf" srcId="{DB028B1A-27C6-4798-8F7B-638496463DD6}" destId="{2C533487-FE31-4302-8A07-861D35ED4F28}" srcOrd="3" destOrd="0" presId="urn:microsoft.com/office/officeart/2016/7/layout/BasicLinearProcessNumbered"/>
    <dgm:cxn modelId="{B10B0C2E-80FF-42F2-A93A-9BD138B9D282}" type="presParOf" srcId="{9E101EC2-74A5-4CE2-B0F1-0F1F45A2F637}" destId="{68978C0E-8B00-41A2-879D-FC1AE9D632F6}" srcOrd="1" destOrd="0" presId="urn:microsoft.com/office/officeart/2016/7/layout/BasicLinearProcessNumbered"/>
    <dgm:cxn modelId="{4DEF3146-45F6-48A6-A69D-F6BC1FD9F933}" type="presParOf" srcId="{9E101EC2-74A5-4CE2-B0F1-0F1F45A2F637}" destId="{980CB22A-FD49-4C94-AF6B-12FE529F001D}" srcOrd="2" destOrd="0" presId="urn:microsoft.com/office/officeart/2016/7/layout/BasicLinearProcessNumbered"/>
    <dgm:cxn modelId="{A7DC7FBE-CB22-4BA9-8F6D-454B3B235937}" type="presParOf" srcId="{980CB22A-FD49-4C94-AF6B-12FE529F001D}" destId="{B91108DC-A56A-42C3-AEBB-06BED5F68B3E}" srcOrd="0" destOrd="0" presId="urn:microsoft.com/office/officeart/2016/7/layout/BasicLinearProcessNumbered"/>
    <dgm:cxn modelId="{BFF96147-D473-4324-8CA6-3AD385C7029A}" type="presParOf" srcId="{980CB22A-FD49-4C94-AF6B-12FE529F001D}" destId="{16F10915-E8BD-49D1-8983-A05E7F786602}" srcOrd="1" destOrd="0" presId="urn:microsoft.com/office/officeart/2016/7/layout/BasicLinearProcessNumbered"/>
    <dgm:cxn modelId="{2D1A0ADF-1B16-46D6-826B-03FB06BFCCBF}" type="presParOf" srcId="{980CB22A-FD49-4C94-AF6B-12FE529F001D}" destId="{7A1996BC-7C95-46D2-8F74-3A332543A04F}" srcOrd="2" destOrd="0" presId="urn:microsoft.com/office/officeart/2016/7/layout/BasicLinearProcessNumbered"/>
    <dgm:cxn modelId="{CD0A2701-4319-491B-87FA-EA011E11B714}" type="presParOf" srcId="{980CB22A-FD49-4C94-AF6B-12FE529F001D}" destId="{E4B79D59-6A65-4249-985A-437E4A8B5155}" srcOrd="3" destOrd="0" presId="urn:microsoft.com/office/officeart/2016/7/layout/BasicLinearProcessNumbered"/>
    <dgm:cxn modelId="{6BC6B0B2-7433-44CC-B0F8-D9EB5B4BE255}" type="presParOf" srcId="{9E101EC2-74A5-4CE2-B0F1-0F1F45A2F637}" destId="{E2842F3C-7091-425A-B42E-04096597D1D2}" srcOrd="3" destOrd="0" presId="urn:microsoft.com/office/officeart/2016/7/layout/BasicLinearProcessNumbered"/>
    <dgm:cxn modelId="{F3ABC337-9C1C-45A2-9124-E857F7A46951}" type="presParOf" srcId="{9E101EC2-74A5-4CE2-B0F1-0F1F45A2F637}" destId="{CFBA59D2-CA37-44B2-BA30-591FC7462825}" srcOrd="4" destOrd="0" presId="urn:microsoft.com/office/officeart/2016/7/layout/BasicLinearProcessNumbered"/>
    <dgm:cxn modelId="{4F3B5A40-0946-4319-A78A-BB245F39E7E9}" type="presParOf" srcId="{CFBA59D2-CA37-44B2-BA30-591FC7462825}" destId="{7DD2DFC8-F926-49C4-84A0-79A355129888}" srcOrd="0" destOrd="0" presId="urn:microsoft.com/office/officeart/2016/7/layout/BasicLinearProcessNumbered"/>
    <dgm:cxn modelId="{76BDAB92-322A-423B-A090-3270B06FF2CF}" type="presParOf" srcId="{CFBA59D2-CA37-44B2-BA30-591FC7462825}" destId="{3732D95D-B826-4C93-9DB7-DAFC9175E7C0}" srcOrd="1" destOrd="0" presId="urn:microsoft.com/office/officeart/2016/7/layout/BasicLinearProcessNumbered"/>
    <dgm:cxn modelId="{BE89E3D1-814D-4010-AF98-600D97CA2D91}" type="presParOf" srcId="{CFBA59D2-CA37-44B2-BA30-591FC7462825}" destId="{BF83A26F-EBED-4976-AABB-7EBD7BF13392}" srcOrd="2" destOrd="0" presId="urn:microsoft.com/office/officeart/2016/7/layout/BasicLinearProcessNumbered"/>
    <dgm:cxn modelId="{BCC9617B-54F4-4C4E-B0E2-0181A84FE26F}" type="presParOf" srcId="{CFBA59D2-CA37-44B2-BA30-591FC7462825}" destId="{07893D56-65A5-4064-9135-28A26376E78E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E1810ED-9AA7-48D9-8205-C63BA64C150A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7C05D50-3E5F-406D-A845-4DE9034CB1AA}">
      <dgm:prSet/>
      <dgm:spPr/>
      <dgm:t>
        <a:bodyPr/>
        <a:lstStyle/>
        <a:p>
          <a:r>
            <a:rPr lang="en-SG"/>
            <a:t>Analyse Historical Data</a:t>
          </a:r>
          <a:endParaRPr lang="en-US"/>
        </a:p>
      </dgm:t>
    </dgm:pt>
    <dgm:pt modelId="{E9A7DED2-F1AA-4928-818E-8B248CC1FE26}" type="parTrans" cxnId="{0FD85EA2-799E-49AA-ABC0-D3C849CE4577}">
      <dgm:prSet/>
      <dgm:spPr/>
      <dgm:t>
        <a:bodyPr/>
        <a:lstStyle/>
        <a:p>
          <a:endParaRPr lang="en-US"/>
        </a:p>
      </dgm:t>
    </dgm:pt>
    <dgm:pt modelId="{5DF3BFBD-3E90-4E96-9B92-73ABAA0BF62A}" type="sibTrans" cxnId="{0FD85EA2-799E-49AA-ABC0-D3C849CE4577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58981A7-3B61-4C3E-AD8E-9761FB37EA21}">
      <dgm:prSet/>
      <dgm:spPr/>
      <dgm:t>
        <a:bodyPr/>
        <a:lstStyle/>
        <a:p>
          <a:r>
            <a:rPr lang="en-SG"/>
            <a:t>Forecast Revenue</a:t>
          </a:r>
          <a:endParaRPr lang="en-US"/>
        </a:p>
      </dgm:t>
    </dgm:pt>
    <dgm:pt modelId="{B9A5D7AA-22DF-4056-9C12-61153750FF99}" type="parTrans" cxnId="{C2794730-CEBA-4C3E-9C62-7F3C13AB87E8}">
      <dgm:prSet/>
      <dgm:spPr/>
      <dgm:t>
        <a:bodyPr/>
        <a:lstStyle/>
        <a:p>
          <a:endParaRPr lang="en-US"/>
        </a:p>
      </dgm:t>
    </dgm:pt>
    <dgm:pt modelId="{FE84AB04-DDC5-4592-B1F0-8E45E208BE09}" type="sibTrans" cxnId="{C2794730-CEBA-4C3E-9C62-7F3C13AB87E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8295C26-6B83-4EE6-A9A0-E1A8A6ABFAE9}">
      <dgm:prSet/>
      <dgm:spPr/>
      <dgm:t>
        <a:bodyPr/>
        <a:lstStyle/>
        <a:p>
          <a:r>
            <a:rPr lang="en-SG"/>
            <a:t>Predict Cost of Goods Sold</a:t>
          </a:r>
          <a:endParaRPr lang="en-US"/>
        </a:p>
      </dgm:t>
    </dgm:pt>
    <dgm:pt modelId="{B5F5C94B-900F-4CAD-97BE-9B29CC55A5DC}" type="parTrans" cxnId="{3AF57B83-3FB5-435F-BC0E-ABD4E8EEF5E4}">
      <dgm:prSet/>
      <dgm:spPr/>
      <dgm:t>
        <a:bodyPr/>
        <a:lstStyle/>
        <a:p>
          <a:endParaRPr lang="en-US"/>
        </a:p>
      </dgm:t>
    </dgm:pt>
    <dgm:pt modelId="{4CD545F0-30E4-4F9C-9F96-11126ACC489D}" type="sibTrans" cxnId="{3AF57B83-3FB5-435F-BC0E-ABD4E8EEF5E4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C578016-B81F-4941-ADD4-55EB3D8AED70}">
      <dgm:prSet/>
      <dgm:spPr/>
      <dgm:t>
        <a:bodyPr/>
        <a:lstStyle/>
        <a:p>
          <a:r>
            <a:rPr lang="en-SG"/>
            <a:t>Determine Operating Expenses</a:t>
          </a:r>
          <a:endParaRPr lang="en-US"/>
        </a:p>
      </dgm:t>
    </dgm:pt>
    <dgm:pt modelId="{DC2B94DA-C4FA-417F-A577-D31BE30C715C}" type="parTrans" cxnId="{C9168C5A-EC69-4573-A819-23D7F6AAA660}">
      <dgm:prSet/>
      <dgm:spPr/>
      <dgm:t>
        <a:bodyPr/>
        <a:lstStyle/>
        <a:p>
          <a:endParaRPr lang="en-US"/>
        </a:p>
      </dgm:t>
    </dgm:pt>
    <dgm:pt modelId="{11814A60-B406-4C2F-8463-F4F839C61B0F}" type="sibTrans" cxnId="{C9168C5A-EC69-4573-A819-23D7F6AAA660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10FBAAE9-AB7B-4A45-9E5F-C951DD5B67FC}">
      <dgm:prSet/>
      <dgm:spPr/>
      <dgm:t>
        <a:bodyPr/>
        <a:lstStyle/>
        <a:p>
          <a:r>
            <a:rPr lang="en-SG"/>
            <a:t>Calculate Projected Net Income</a:t>
          </a:r>
          <a:endParaRPr lang="en-US"/>
        </a:p>
      </dgm:t>
    </dgm:pt>
    <dgm:pt modelId="{B857CAFE-FEC2-476F-8382-E33D432189CD}" type="parTrans" cxnId="{1B1C5096-BE9E-4384-9D94-415288B4AC9B}">
      <dgm:prSet/>
      <dgm:spPr/>
      <dgm:t>
        <a:bodyPr/>
        <a:lstStyle/>
        <a:p>
          <a:endParaRPr lang="en-US"/>
        </a:p>
      </dgm:t>
    </dgm:pt>
    <dgm:pt modelId="{5E8A07E3-BD79-424B-A5FE-0FC40DECC28B}" type="sibTrans" cxnId="{1B1C5096-BE9E-4384-9D94-415288B4AC9B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BAC19E45-3124-454C-87B7-042193C3C91C}" type="pres">
      <dgm:prSet presAssocID="{5E1810ED-9AA7-48D9-8205-C63BA64C150A}" presName="Name0" presStyleCnt="0">
        <dgm:presLayoutVars>
          <dgm:animLvl val="lvl"/>
          <dgm:resizeHandles val="exact"/>
        </dgm:presLayoutVars>
      </dgm:prSet>
      <dgm:spPr/>
    </dgm:pt>
    <dgm:pt modelId="{E2AC6526-2F03-4D7D-BFE1-909581FBE707}" type="pres">
      <dgm:prSet presAssocID="{97C05D50-3E5F-406D-A845-4DE9034CB1AA}" presName="compositeNode" presStyleCnt="0">
        <dgm:presLayoutVars>
          <dgm:bulletEnabled val="1"/>
        </dgm:presLayoutVars>
      </dgm:prSet>
      <dgm:spPr/>
    </dgm:pt>
    <dgm:pt modelId="{997F1F41-E861-4504-A3E0-75C28769F48F}" type="pres">
      <dgm:prSet presAssocID="{97C05D50-3E5F-406D-A845-4DE9034CB1AA}" presName="bgRect" presStyleLbl="bgAccFollowNode1" presStyleIdx="0" presStyleCnt="5"/>
      <dgm:spPr/>
    </dgm:pt>
    <dgm:pt modelId="{771E95F8-51D8-4EB5-9E2A-15098802F739}" type="pres">
      <dgm:prSet presAssocID="{5DF3BFBD-3E90-4E96-9B92-73ABAA0BF62A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B9AB7EB0-E2FE-4107-941D-B9039FCDE6BA}" type="pres">
      <dgm:prSet presAssocID="{97C05D50-3E5F-406D-A845-4DE9034CB1AA}" presName="bottomLine" presStyleLbl="alignNode1" presStyleIdx="1" presStyleCnt="10">
        <dgm:presLayoutVars/>
      </dgm:prSet>
      <dgm:spPr/>
    </dgm:pt>
    <dgm:pt modelId="{955846A0-5595-42F7-BB5E-ABCA5EB7C090}" type="pres">
      <dgm:prSet presAssocID="{97C05D50-3E5F-406D-A845-4DE9034CB1AA}" presName="nodeText" presStyleLbl="bgAccFollowNode1" presStyleIdx="0" presStyleCnt="5">
        <dgm:presLayoutVars>
          <dgm:bulletEnabled val="1"/>
        </dgm:presLayoutVars>
      </dgm:prSet>
      <dgm:spPr/>
    </dgm:pt>
    <dgm:pt modelId="{46C2C6BC-0A47-4CE3-A5CB-3759C7E81768}" type="pres">
      <dgm:prSet presAssocID="{5DF3BFBD-3E90-4E96-9B92-73ABAA0BF62A}" presName="sibTrans" presStyleCnt="0"/>
      <dgm:spPr/>
    </dgm:pt>
    <dgm:pt modelId="{A0B04B83-1C64-441F-BC57-B05543BD2410}" type="pres">
      <dgm:prSet presAssocID="{A58981A7-3B61-4C3E-AD8E-9761FB37EA21}" presName="compositeNode" presStyleCnt="0">
        <dgm:presLayoutVars>
          <dgm:bulletEnabled val="1"/>
        </dgm:presLayoutVars>
      </dgm:prSet>
      <dgm:spPr/>
    </dgm:pt>
    <dgm:pt modelId="{64578293-DCFB-4CB3-890B-6DFC1E428ED0}" type="pres">
      <dgm:prSet presAssocID="{A58981A7-3B61-4C3E-AD8E-9761FB37EA21}" presName="bgRect" presStyleLbl="bgAccFollowNode1" presStyleIdx="1" presStyleCnt="5"/>
      <dgm:spPr/>
    </dgm:pt>
    <dgm:pt modelId="{2C8E9C67-3C95-4DD1-8874-3D6760C1ECDE}" type="pres">
      <dgm:prSet presAssocID="{FE84AB04-DDC5-4592-B1F0-8E45E208BE09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282E4916-9EDA-47C6-8A52-A6F5B5CEF433}" type="pres">
      <dgm:prSet presAssocID="{A58981A7-3B61-4C3E-AD8E-9761FB37EA21}" presName="bottomLine" presStyleLbl="alignNode1" presStyleIdx="3" presStyleCnt="10">
        <dgm:presLayoutVars/>
      </dgm:prSet>
      <dgm:spPr/>
    </dgm:pt>
    <dgm:pt modelId="{10E170CF-0D25-464C-9B95-E4AA6F284239}" type="pres">
      <dgm:prSet presAssocID="{A58981A7-3B61-4C3E-AD8E-9761FB37EA21}" presName="nodeText" presStyleLbl="bgAccFollowNode1" presStyleIdx="1" presStyleCnt="5">
        <dgm:presLayoutVars>
          <dgm:bulletEnabled val="1"/>
        </dgm:presLayoutVars>
      </dgm:prSet>
      <dgm:spPr/>
    </dgm:pt>
    <dgm:pt modelId="{645977D7-CE0E-450E-837E-121CA6EABB66}" type="pres">
      <dgm:prSet presAssocID="{FE84AB04-DDC5-4592-B1F0-8E45E208BE09}" presName="sibTrans" presStyleCnt="0"/>
      <dgm:spPr/>
    </dgm:pt>
    <dgm:pt modelId="{463AC6F4-B68E-449A-80BA-2D8207D41A16}" type="pres">
      <dgm:prSet presAssocID="{48295C26-6B83-4EE6-A9A0-E1A8A6ABFAE9}" presName="compositeNode" presStyleCnt="0">
        <dgm:presLayoutVars>
          <dgm:bulletEnabled val="1"/>
        </dgm:presLayoutVars>
      </dgm:prSet>
      <dgm:spPr/>
    </dgm:pt>
    <dgm:pt modelId="{7F6632BC-A7EB-4EF8-9956-54D2E6CE7627}" type="pres">
      <dgm:prSet presAssocID="{48295C26-6B83-4EE6-A9A0-E1A8A6ABFAE9}" presName="bgRect" presStyleLbl="bgAccFollowNode1" presStyleIdx="2" presStyleCnt="5"/>
      <dgm:spPr/>
    </dgm:pt>
    <dgm:pt modelId="{6204B052-BE48-49C8-82B0-1EA27BF7C45F}" type="pres">
      <dgm:prSet presAssocID="{4CD545F0-30E4-4F9C-9F96-11126ACC489D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A144ABBF-E304-48BB-903F-FE674A45C72B}" type="pres">
      <dgm:prSet presAssocID="{48295C26-6B83-4EE6-A9A0-E1A8A6ABFAE9}" presName="bottomLine" presStyleLbl="alignNode1" presStyleIdx="5" presStyleCnt="10">
        <dgm:presLayoutVars/>
      </dgm:prSet>
      <dgm:spPr/>
    </dgm:pt>
    <dgm:pt modelId="{0C549263-452C-45AE-B2D5-1DCF6D0A0B7F}" type="pres">
      <dgm:prSet presAssocID="{48295C26-6B83-4EE6-A9A0-E1A8A6ABFAE9}" presName="nodeText" presStyleLbl="bgAccFollowNode1" presStyleIdx="2" presStyleCnt="5">
        <dgm:presLayoutVars>
          <dgm:bulletEnabled val="1"/>
        </dgm:presLayoutVars>
      </dgm:prSet>
      <dgm:spPr/>
    </dgm:pt>
    <dgm:pt modelId="{E7565B80-C0C6-42CF-AEEB-072064F9E63A}" type="pres">
      <dgm:prSet presAssocID="{4CD545F0-30E4-4F9C-9F96-11126ACC489D}" presName="sibTrans" presStyleCnt="0"/>
      <dgm:spPr/>
    </dgm:pt>
    <dgm:pt modelId="{B82BA509-E9CF-4878-9A28-47B07DF915D7}" type="pres">
      <dgm:prSet presAssocID="{AC578016-B81F-4941-ADD4-55EB3D8AED70}" presName="compositeNode" presStyleCnt="0">
        <dgm:presLayoutVars>
          <dgm:bulletEnabled val="1"/>
        </dgm:presLayoutVars>
      </dgm:prSet>
      <dgm:spPr/>
    </dgm:pt>
    <dgm:pt modelId="{1618D724-D0DA-4E49-AD72-038E90F5CDB2}" type="pres">
      <dgm:prSet presAssocID="{AC578016-B81F-4941-ADD4-55EB3D8AED70}" presName="bgRect" presStyleLbl="bgAccFollowNode1" presStyleIdx="3" presStyleCnt="5"/>
      <dgm:spPr/>
    </dgm:pt>
    <dgm:pt modelId="{BBC140E6-646C-493D-A189-104806F551DD}" type="pres">
      <dgm:prSet presAssocID="{11814A60-B406-4C2F-8463-F4F839C61B0F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C0709670-026A-45AB-B5B2-6CAE9F57EE1A}" type="pres">
      <dgm:prSet presAssocID="{AC578016-B81F-4941-ADD4-55EB3D8AED70}" presName="bottomLine" presStyleLbl="alignNode1" presStyleIdx="7" presStyleCnt="10">
        <dgm:presLayoutVars/>
      </dgm:prSet>
      <dgm:spPr/>
    </dgm:pt>
    <dgm:pt modelId="{F66BDE85-5D9F-4C6A-AC71-E099CD2E628E}" type="pres">
      <dgm:prSet presAssocID="{AC578016-B81F-4941-ADD4-55EB3D8AED70}" presName="nodeText" presStyleLbl="bgAccFollowNode1" presStyleIdx="3" presStyleCnt="5">
        <dgm:presLayoutVars>
          <dgm:bulletEnabled val="1"/>
        </dgm:presLayoutVars>
      </dgm:prSet>
      <dgm:spPr/>
    </dgm:pt>
    <dgm:pt modelId="{E5E0074C-3894-4C7A-BA31-F93561D1A978}" type="pres">
      <dgm:prSet presAssocID="{11814A60-B406-4C2F-8463-F4F839C61B0F}" presName="sibTrans" presStyleCnt="0"/>
      <dgm:spPr/>
    </dgm:pt>
    <dgm:pt modelId="{AA651E65-3596-45B7-8EAE-12B35EFD5BC7}" type="pres">
      <dgm:prSet presAssocID="{10FBAAE9-AB7B-4A45-9E5F-C951DD5B67FC}" presName="compositeNode" presStyleCnt="0">
        <dgm:presLayoutVars>
          <dgm:bulletEnabled val="1"/>
        </dgm:presLayoutVars>
      </dgm:prSet>
      <dgm:spPr/>
    </dgm:pt>
    <dgm:pt modelId="{01A5D84C-D644-423E-A92F-533B1140B51A}" type="pres">
      <dgm:prSet presAssocID="{10FBAAE9-AB7B-4A45-9E5F-C951DD5B67FC}" presName="bgRect" presStyleLbl="bgAccFollowNode1" presStyleIdx="4" presStyleCnt="5"/>
      <dgm:spPr/>
    </dgm:pt>
    <dgm:pt modelId="{DE89D14E-F086-4873-83BD-7E827A196D53}" type="pres">
      <dgm:prSet presAssocID="{5E8A07E3-BD79-424B-A5FE-0FC40DECC28B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53B2A72E-7031-4F16-A324-5AC1BBCBE26E}" type="pres">
      <dgm:prSet presAssocID="{10FBAAE9-AB7B-4A45-9E5F-C951DD5B67FC}" presName="bottomLine" presStyleLbl="alignNode1" presStyleIdx="9" presStyleCnt="10">
        <dgm:presLayoutVars/>
      </dgm:prSet>
      <dgm:spPr/>
    </dgm:pt>
    <dgm:pt modelId="{9EE936B6-5181-45C4-8846-86073CBE0A86}" type="pres">
      <dgm:prSet presAssocID="{10FBAAE9-AB7B-4A45-9E5F-C951DD5B67FC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4BB9B801-9EEB-4228-AA77-BB19C91D7834}" type="presOf" srcId="{11814A60-B406-4C2F-8463-F4F839C61B0F}" destId="{BBC140E6-646C-493D-A189-104806F551DD}" srcOrd="0" destOrd="0" presId="urn:microsoft.com/office/officeart/2016/7/layout/BasicLinearProcessNumbered"/>
    <dgm:cxn modelId="{3D531908-21F2-45F8-B00C-C22B1D3758C8}" type="presOf" srcId="{97C05D50-3E5F-406D-A845-4DE9034CB1AA}" destId="{955846A0-5595-42F7-BB5E-ABCA5EB7C090}" srcOrd="1" destOrd="0" presId="urn:microsoft.com/office/officeart/2016/7/layout/BasicLinearProcessNumbered"/>
    <dgm:cxn modelId="{B5F5D72F-6485-409F-8227-3E61C449E303}" type="presOf" srcId="{4CD545F0-30E4-4F9C-9F96-11126ACC489D}" destId="{6204B052-BE48-49C8-82B0-1EA27BF7C45F}" srcOrd="0" destOrd="0" presId="urn:microsoft.com/office/officeart/2016/7/layout/BasicLinearProcessNumbered"/>
    <dgm:cxn modelId="{C2794730-CEBA-4C3E-9C62-7F3C13AB87E8}" srcId="{5E1810ED-9AA7-48D9-8205-C63BA64C150A}" destId="{A58981A7-3B61-4C3E-AD8E-9761FB37EA21}" srcOrd="1" destOrd="0" parTransId="{B9A5D7AA-22DF-4056-9C12-61153750FF99}" sibTransId="{FE84AB04-DDC5-4592-B1F0-8E45E208BE09}"/>
    <dgm:cxn modelId="{968F6B35-5905-4991-88D6-3267A9C8DDED}" type="presOf" srcId="{10FBAAE9-AB7B-4A45-9E5F-C951DD5B67FC}" destId="{01A5D84C-D644-423E-A92F-533B1140B51A}" srcOrd="0" destOrd="0" presId="urn:microsoft.com/office/officeart/2016/7/layout/BasicLinearProcessNumbered"/>
    <dgm:cxn modelId="{D9D4C741-D102-4D36-94DF-BE12EE9A153C}" type="presOf" srcId="{A58981A7-3B61-4C3E-AD8E-9761FB37EA21}" destId="{64578293-DCFB-4CB3-890B-6DFC1E428ED0}" srcOrd="0" destOrd="0" presId="urn:microsoft.com/office/officeart/2016/7/layout/BasicLinearProcessNumbered"/>
    <dgm:cxn modelId="{B0CE2042-4DCE-475D-971F-3021F5B66BC6}" type="presOf" srcId="{48295C26-6B83-4EE6-A9A0-E1A8A6ABFAE9}" destId="{7F6632BC-A7EB-4EF8-9956-54D2E6CE7627}" srcOrd="0" destOrd="0" presId="urn:microsoft.com/office/officeart/2016/7/layout/BasicLinearProcessNumbered"/>
    <dgm:cxn modelId="{3D9CEE46-D820-4450-AA0D-54EECD3CAED0}" type="presOf" srcId="{48295C26-6B83-4EE6-A9A0-E1A8A6ABFAE9}" destId="{0C549263-452C-45AE-B2D5-1DCF6D0A0B7F}" srcOrd="1" destOrd="0" presId="urn:microsoft.com/office/officeart/2016/7/layout/BasicLinearProcessNumbered"/>
    <dgm:cxn modelId="{D219E548-F609-4BE7-8324-E7CC5C58CD26}" type="presOf" srcId="{AC578016-B81F-4941-ADD4-55EB3D8AED70}" destId="{F66BDE85-5D9F-4C6A-AC71-E099CD2E628E}" srcOrd="1" destOrd="0" presId="urn:microsoft.com/office/officeart/2016/7/layout/BasicLinearProcessNumbered"/>
    <dgm:cxn modelId="{C9168C5A-EC69-4573-A819-23D7F6AAA660}" srcId="{5E1810ED-9AA7-48D9-8205-C63BA64C150A}" destId="{AC578016-B81F-4941-ADD4-55EB3D8AED70}" srcOrd="3" destOrd="0" parTransId="{DC2B94DA-C4FA-417F-A577-D31BE30C715C}" sibTransId="{11814A60-B406-4C2F-8463-F4F839C61B0F}"/>
    <dgm:cxn modelId="{D7C4C26B-FA2B-4F05-8599-603CA3364F58}" type="presOf" srcId="{FE84AB04-DDC5-4592-B1F0-8E45E208BE09}" destId="{2C8E9C67-3C95-4DD1-8874-3D6760C1ECDE}" srcOrd="0" destOrd="0" presId="urn:microsoft.com/office/officeart/2016/7/layout/BasicLinearProcessNumbered"/>
    <dgm:cxn modelId="{75426E73-37A0-4107-81D6-D143B91073A1}" type="presOf" srcId="{AC578016-B81F-4941-ADD4-55EB3D8AED70}" destId="{1618D724-D0DA-4E49-AD72-038E90F5CDB2}" srcOrd="0" destOrd="0" presId="urn:microsoft.com/office/officeart/2016/7/layout/BasicLinearProcessNumbered"/>
    <dgm:cxn modelId="{3AF57B83-3FB5-435F-BC0E-ABD4E8EEF5E4}" srcId="{5E1810ED-9AA7-48D9-8205-C63BA64C150A}" destId="{48295C26-6B83-4EE6-A9A0-E1A8A6ABFAE9}" srcOrd="2" destOrd="0" parTransId="{B5F5C94B-900F-4CAD-97BE-9B29CC55A5DC}" sibTransId="{4CD545F0-30E4-4F9C-9F96-11126ACC489D}"/>
    <dgm:cxn modelId="{1B1C5096-BE9E-4384-9D94-415288B4AC9B}" srcId="{5E1810ED-9AA7-48D9-8205-C63BA64C150A}" destId="{10FBAAE9-AB7B-4A45-9E5F-C951DD5B67FC}" srcOrd="4" destOrd="0" parTransId="{B857CAFE-FEC2-476F-8382-E33D432189CD}" sibTransId="{5E8A07E3-BD79-424B-A5FE-0FC40DECC28B}"/>
    <dgm:cxn modelId="{156C5896-4038-46A3-873E-7C412E38CDA5}" type="presOf" srcId="{A58981A7-3B61-4C3E-AD8E-9761FB37EA21}" destId="{10E170CF-0D25-464C-9B95-E4AA6F284239}" srcOrd="1" destOrd="0" presId="urn:microsoft.com/office/officeart/2016/7/layout/BasicLinearProcessNumbered"/>
    <dgm:cxn modelId="{209A0C9F-8C25-428E-9F2D-FAB9DAF1A6F4}" type="presOf" srcId="{5E1810ED-9AA7-48D9-8205-C63BA64C150A}" destId="{BAC19E45-3124-454C-87B7-042193C3C91C}" srcOrd="0" destOrd="0" presId="urn:microsoft.com/office/officeart/2016/7/layout/BasicLinearProcessNumbered"/>
    <dgm:cxn modelId="{0FD85EA2-799E-49AA-ABC0-D3C849CE4577}" srcId="{5E1810ED-9AA7-48D9-8205-C63BA64C150A}" destId="{97C05D50-3E5F-406D-A845-4DE9034CB1AA}" srcOrd="0" destOrd="0" parTransId="{E9A7DED2-F1AA-4928-818E-8B248CC1FE26}" sibTransId="{5DF3BFBD-3E90-4E96-9B92-73ABAA0BF62A}"/>
    <dgm:cxn modelId="{08353DA4-CF2F-486F-A2B5-3306E398FFC3}" type="presOf" srcId="{5E8A07E3-BD79-424B-A5FE-0FC40DECC28B}" destId="{DE89D14E-F086-4873-83BD-7E827A196D53}" srcOrd="0" destOrd="0" presId="urn:microsoft.com/office/officeart/2016/7/layout/BasicLinearProcessNumbered"/>
    <dgm:cxn modelId="{2BA8DCB3-6DC3-4F01-B12F-ADE44E441529}" type="presOf" srcId="{10FBAAE9-AB7B-4A45-9E5F-C951DD5B67FC}" destId="{9EE936B6-5181-45C4-8846-86073CBE0A86}" srcOrd="1" destOrd="0" presId="urn:microsoft.com/office/officeart/2016/7/layout/BasicLinearProcessNumbered"/>
    <dgm:cxn modelId="{D00A86BC-A6DA-47E2-8B57-AC3D68D5D5CB}" type="presOf" srcId="{97C05D50-3E5F-406D-A845-4DE9034CB1AA}" destId="{997F1F41-E861-4504-A3E0-75C28769F48F}" srcOrd="0" destOrd="0" presId="urn:microsoft.com/office/officeart/2016/7/layout/BasicLinearProcessNumbered"/>
    <dgm:cxn modelId="{861D98C6-2F7B-4063-B60E-BDB6F6AA2E11}" type="presOf" srcId="{5DF3BFBD-3E90-4E96-9B92-73ABAA0BF62A}" destId="{771E95F8-51D8-4EB5-9E2A-15098802F739}" srcOrd="0" destOrd="0" presId="urn:microsoft.com/office/officeart/2016/7/layout/BasicLinearProcessNumbered"/>
    <dgm:cxn modelId="{64DA0BBB-0603-4743-AA60-986F6C00EDD9}" type="presParOf" srcId="{BAC19E45-3124-454C-87B7-042193C3C91C}" destId="{E2AC6526-2F03-4D7D-BFE1-909581FBE707}" srcOrd="0" destOrd="0" presId="urn:microsoft.com/office/officeart/2016/7/layout/BasicLinearProcessNumbered"/>
    <dgm:cxn modelId="{3CE33DFE-9F4C-46E2-99F3-2A387C9E4A74}" type="presParOf" srcId="{E2AC6526-2F03-4D7D-BFE1-909581FBE707}" destId="{997F1F41-E861-4504-A3E0-75C28769F48F}" srcOrd="0" destOrd="0" presId="urn:microsoft.com/office/officeart/2016/7/layout/BasicLinearProcessNumbered"/>
    <dgm:cxn modelId="{1B62C7FC-6B9F-4C43-8558-4D7592F75AC0}" type="presParOf" srcId="{E2AC6526-2F03-4D7D-BFE1-909581FBE707}" destId="{771E95F8-51D8-4EB5-9E2A-15098802F739}" srcOrd="1" destOrd="0" presId="urn:microsoft.com/office/officeart/2016/7/layout/BasicLinearProcessNumbered"/>
    <dgm:cxn modelId="{579E75FD-A081-43B3-A953-FFAF36715750}" type="presParOf" srcId="{E2AC6526-2F03-4D7D-BFE1-909581FBE707}" destId="{B9AB7EB0-E2FE-4107-941D-B9039FCDE6BA}" srcOrd="2" destOrd="0" presId="urn:microsoft.com/office/officeart/2016/7/layout/BasicLinearProcessNumbered"/>
    <dgm:cxn modelId="{A3062C6A-26F9-4F4D-9E7F-5C18F7926BE7}" type="presParOf" srcId="{E2AC6526-2F03-4D7D-BFE1-909581FBE707}" destId="{955846A0-5595-42F7-BB5E-ABCA5EB7C090}" srcOrd="3" destOrd="0" presId="urn:microsoft.com/office/officeart/2016/7/layout/BasicLinearProcessNumbered"/>
    <dgm:cxn modelId="{040F8160-EDE3-4969-AE0A-8493E9F6BB3C}" type="presParOf" srcId="{BAC19E45-3124-454C-87B7-042193C3C91C}" destId="{46C2C6BC-0A47-4CE3-A5CB-3759C7E81768}" srcOrd="1" destOrd="0" presId="urn:microsoft.com/office/officeart/2016/7/layout/BasicLinearProcessNumbered"/>
    <dgm:cxn modelId="{3604EEAF-1713-4737-9936-5CB4C807F4E0}" type="presParOf" srcId="{BAC19E45-3124-454C-87B7-042193C3C91C}" destId="{A0B04B83-1C64-441F-BC57-B05543BD2410}" srcOrd="2" destOrd="0" presId="urn:microsoft.com/office/officeart/2016/7/layout/BasicLinearProcessNumbered"/>
    <dgm:cxn modelId="{A386A7A9-64B5-420E-8739-BF44A844873A}" type="presParOf" srcId="{A0B04B83-1C64-441F-BC57-B05543BD2410}" destId="{64578293-DCFB-4CB3-890B-6DFC1E428ED0}" srcOrd="0" destOrd="0" presId="urn:microsoft.com/office/officeart/2016/7/layout/BasicLinearProcessNumbered"/>
    <dgm:cxn modelId="{EF9833E5-B494-4B25-9E86-645E3BB85357}" type="presParOf" srcId="{A0B04B83-1C64-441F-BC57-B05543BD2410}" destId="{2C8E9C67-3C95-4DD1-8874-3D6760C1ECDE}" srcOrd="1" destOrd="0" presId="urn:microsoft.com/office/officeart/2016/7/layout/BasicLinearProcessNumbered"/>
    <dgm:cxn modelId="{642A4B41-52F1-4B85-90C5-14798FF7A8C9}" type="presParOf" srcId="{A0B04B83-1C64-441F-BC57-B05543BD2410}" destId="{282E4916-9EDA-47C6-8A52-A6F5B5CEF433}" srcOrd="2" destOrd="0" presId="urn:microsoft.com/office/officeart/2016/7/layout/BasicLinearProcessNumbered"/>
    <dgm:cxn modelId="{DA42A90A-CFD6-40AA-A107-D8B1CCB4FEEF}" type="presParOf" srcId="{A0B04B83-1C64-441F-BC57-B05543BD2410}" destId="{10E170CF-0D25-464C-9B95-E4AA6F284239}" srcOrd="3" destOrd="0" presId="urn:microsoft.com/office/officeart/2016/7/layout/BasicLinearProcessNumbered"/>
    <dgm:cxn modelId="{809D040A-4062-4CCC-8411-8571776F2EFB}" type="presParOf" srcId="{BAC19E45-3124-454C-87B7-042193C3C91C}" destId="{645977D7-CE0E-450E-837E-121CA6EABB66}" srcOrd="3" destOrd="0" presId="urn:microsoft.com/office/officeart/2016/7/layout/BasicLinearProcessNumbered"/>
    <dgm:cxn modelId="{6BEA0529-33F4-467E-8197-5C46EE7A2508}" type="presParOf" srcId="{BAC19E45-3124-454C-87B7-042193C3C91C}" destId="{463AC6F4-B68E-449A-80BA-2D8207D41A16}" srcOrd="4" destOrd="0" presId="urn:microsoft.com/office/officeart/2016/7/layout/BasicLinearProcessNumbered"/>
    <dgm:cxn modelId="{A1D16F31-1871-46D1-B335-F29AEF21B62B}" type="presParOf" srcId="{463AC6F4-B68E-449A-80BA-2D8207D41A16}" destId="{7F6632BC-A7EB-4EF8-9956-54D2E6CE7627}" srcOrd="0" destOrd="0" presId="urn:microsoft.com/office/officeart/2016/7/layout/BasicLinearProcessNumbered"/>
    <dgm:cxn modelId="{0D8DA0A8-61E3-4963-9012-EE656292D3C2}" type="presParOf" srcId="{463AC6F4-B68E-449A-80BA-2D8207D41A16}" destId="{6204B052-BE48-49C8-82B0-1EA27BF7C45F}" srcOrd="1" destOrd="0" presId="urn:microsoft.com/office/officeart/2016/7/layout/BasicLinearProcessNumbered"/>
    <dgm:cxn modelId="{F7836F15-6FB5-4864-9E3C-474730FBB08F}" type="presParOf" srcId="{463AC6F4-B68E-449A-80BA-2D8207D41A16}" destId="{A144ABBF-E304-48BB-903F-FE674A45C72B}" srcOrd="2" destOrd="0" presId="urn:microsoft.com/office/officeart/2016/7/layout/BasicLinearProcessNumbered"/>
    <dgm:cxn modelId="{401BD24E-C4C2-4C05-BB57-E3EA8545C3D4}" type="presParOf" srcId="{463AC6F4-B68E-449A-80BA-2D8207D41A16}" destId="{0C549263-452C-45AE-B2D5-1DCF6D0A0B7F}" srcOrd="3" destOrd="0" presId="urn:microsoft.com/office/officeart/2016/7/layout/BasicLinearProcessNumbered"/>
    <dgm:cxn modelId="{F3772884-87E5-4B1E-9D39-9AA959F5F2EF}" type="presParOf" srcId="{BAC19E45-3124-454C-87B7-042193C3C91C}" destId="{E7565B80-C0C6-42CF-AEEB-072064F9E63A}" srcOrd="5" destOrd="0" presId="urn:microsoft.com/office/officeart/2016/7/layout/BasicLinearProcessNumbered"/>
    <dgm:cxn modelId="{618847AA-3916-4B6A-AA68-ED05D1E338DB}" type="presParOf" srcId="{BAC19E45-3124-454C-87B7-042193C3C91C}" destId="{B82BA509-E9CF-4878-9A28-47B07DF915D7}" srcOrd="6" destOrd="0" presId="urn:microsoft.com/office/officeart/2016/7/layout/BasicLinearProcessNumbered"/>
    <dgm:cxn modelId="{938A6CD1-9258-4C3E-99B7-B456EB3CE5A5}" type="presParOf" srcId="{B82BA509-E9CF-4878-9A28-47B07DF915D7}" destId="{1618D724-D0DA-4E49-AD72-038E90F5CDB2}" srcOrd="0" destOrd="0" presId="urn:microsoft.com/office/officeart/2016/7/layout/BasicLinearProcessNumbered"/>
    <dgm:cxn modelId="{76FDD5BC-D589-4F94-9393-3050E3506C40}" type="presParOf" srcId="{B82BA509-E9CF-4878-9A28-47B07DF915D7}" destId="{BBC140E6-646C-493D-A189-104806F551DD}" srcOrd="1" destOrd="0" presId="urn:microsoft.com/office/officeart/2016/7/layout/BasicLinearProcessNumbered"/>
    <dgm:cxn modelId="{F5230722-9B77-47F3-82E7-1ED755277086}" type="presParOf" srcId="{B82BA509-E9CF-4878-9A28-47B07DF915D7}" destId="{C0709670-026A-45AB-B5B2-6CAE9F57EE1A}" srcOrd="2" destOrd="0" presId="urn:microsoft.com/office/officeart/2016/7/layout/BasicLinearProcessNumbered"/>
    <dgm:cxn modelId="{7F435862-5BC4-4E82-8E05-F827E9F6CEFF}" type="presParOf" srcId="{B82BA509-E9CF-4878-9A28-47B07DF915D7}" destId="{F66BDE85-5D9F-4C6A-AC71-E099CD2E628E}" srcOrd="3" destOrd="0" presId="urn:microsoft.com/office/officeart/2016/7/layout/BasicLinearProcessNumbered"/>
    <dgm:cxn modelId="{5CF68F45-6A4F-4187-A64E-0953E3869832}" type="presParOf" srcId="{BAC19E45-3124-454C-87B7-042193C3C91C}" destId="{E5E0074C-3894-4C7A-BA31-F93561D1A978}" srcOrd="7" destOrd="0" presId="urn:microsoft.com/office/officeart/2016/7/layout/BasicLinearProcessNumbered"/>
    <dgm:cxn modelId="{EC1B5D87-AC87-434B-824A-010A27F0117A}" type="presParOf" srcId="{BAC19E45-3124-454C-87B7-042193C3C91C}" destId="{AA651E65-3596-45B7-8EAE-12B35EFD5BC7}" srcOrd="8" destOrd="0" presId="urn:microsoft.com/office/officeart/2016/7/layout/BasicLinearProcessNumbered"/>
    <dgm:cxn modelId="{FBB7088F-4DB6-49AF-A8C3-8551357EE31A}" type="presParOf" srcId="{AA651E65-3596-45B7-8EAE-12B35EFD5BC7}" destId="{01A5D84C-D644-423E-A92F-533B1140B51A}" srcOrd="0" destOrd="0" presId="urn:microsoft.com/office/officeart/2016/7/layout/BasicLinearProcessNumbered"/>
    <dgm:cxn modelId="{B1DE09DF-75C9-4233-954E-33D291B44239}" type="presParOf" srcId="{AA651E65-3596-45B7-8EAE-12B35EFD5BC7}" destId="{DE89D14E-F086-4873-83BD-7E827A196D53}" srcOrd="1" destOrd="0" presId="urn:microsoft.com/office/officeart/2016/7/layout/BasicLinearProcessNumbered"/>
    <dgm:cxn modelId="{34ED88A4-3355-464A-B600-A1772FED1D22}" type="presParOf" srcId="{AA651E65-3596-45B7-8EAE-12B35EFD5BC7}" destId="{53B2A72E-7031-4F16-A324-5AC1BBCBE26E}" srcOrd="2" destOrd="0" presId="urn:microsoft.com/office/officeart/2016/7/layout/BasicLinearProcessNumbered"/>
    <dgm:cxn modelId="{25851A83-6233-4CA1-9386-C6A47E2937FB}" type="presParOf" srcId="{AA651E65-3596-45B7-8EAE-12B35EFD5BC7}" destId="{9EE936B6-5181-45C4-8846-86073CBE0A8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6CC52CB-548E-4D16-93F7-877A109D7AF0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9CE6CE5-3226-4EAC-8DE1-2CD990C02F05}">
      <dgm:prSet/>
      <dgm:spPr/>
      <dgm:t>
        <a:bodyPr/>
        <a:lstStyle/>
        <a:p>
          <a:r>
            <a:rPr lang="en-SG"/>
            <a:t>Enter Short term and Long term assets</a:t>
          </a:r>
          <a:endParaRPr lang="en-US"/>
        </a:p>
      </dgm:t>
    </dgm:pt>
    <dgm:pt modelId="{71422790-8021-443D-89AF-BB0492F4BAFD}" type="parTrans" cxnId="{12B69CD5-CB82-47B1-9F00-15349F0A7360}">
      <dgm:prSet/>
      <dgm:spPr/>
      <dgm:t>
        <a:bodyPr/>
        <a:lstStyle/>
        <a:p>
          <a:endParaRPr lang="en-US"/>
        </a:p>
      </dgm:t>
    </dgm:pt>
    <dgm:pt modelId="{67A6B0D0-FA3A-43A0-BE8C-2D49D868A4A7}" type="sibTrans" cxnId="{12B69CD5-CB82-47B1-9F00-15349F0A736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4460BCA-7468-4B16-A7CD-8B6C34DC2411}">
      <dgm:prSet/>
      <dgm:spPr/>
      <dgm:t>
        <a:bodyPr/>
        <a:lstStyle/>
        <a:p>
          <a:r>
            <a:rPr lang="en-SG"/>
            <a:t>Include current and Long Term Liabilities</a:t>
          </a:r>
          <a:endParaRPr lang="en-US"/>
        </a:p>
      </dgm:t>
    </dgm:pt>
    <dgm:pt modelId="{DDBAC01F-D5B9-4421-8D96-CEE2B16D2AAD}" type="parTrans" cxnId="{79759BC9-7C3E-49F7-8B61-0D912D9EE9A9}">
      <dgm:prSet/>
      <dgm:spPr/>
      <dgm:t>
        <a:bodyPr/>
        <a:lstStyle/>
        <a:p>
          <a:endParaRPr lang="en-US"/>
        </a:p>
      </dgm:t>
    </dgm:pt>
    <dgm:pt modelId="{5C3140A6-58C0-436C-9FE9-4EB54BB911D8}" type="sibTrans" cxnId="{79759BC9-7C3E-49F7-8B61-0D912D9EE9A9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08F3D7C-DC9D-4DB8-89A9-672C83767BE8}">
      <dgm:prSet/>
      <dgm:spPr/>
      <dgm:t>
        <a:bodyPr/>
        <a:lstStyle/>
        <a:p>
          <a:r>
            <a:rPr lang="en-SG"/>
            <a:t>Calculate the Final Figures</a:t>
          </a:r>
          <a:endParaRPr lang="en-US"/>
        </a:p>
      </dgm:t>
    </dgm:pt>
    <dgm:pt modelId="{6541D072-7FEC-464D-8EE4-63C0F6FEEBFE}" type="parTrans" cxnId="{842B67F2-5857-488C-84D0-33D047F3D7E3}">
      <dgm:prSet/>
      <dgm:spPr/>
      <dgm:t>
        <a:bodyPr/>
        <a:lstStyle/>
        <a:p>
          <a:endParaRPr lang="en-US"/>
        </a:p>
      </dgm:t>
    </dgm:pt>
    <dgm:pt modelId="{5B2C0BB5-341A-447C-8B40-F360C66F0898}" type="sibTrans" cxnId="{842B67F2-5857-488C-84D0-33D047F3D7E3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60342F9-39DA-4569-89FB-9753EF5B9401}" type="pres">
      <dgm:prSet presAssocID="{46CC52CB-548E-4D16-93F7-877A109D7AF0}" presName="Name0" presStyleCnt="0">
        <dgm:presLayoutVars>
          <dgm:animLvl val="lvl"/>
          <dgm:resizeHandles val="exact"/>
        </dgm:presLayoutVars>
      </dgm:prSet>
      <dgm:spPr/>
    </dgm:pt>
    <dgm:pt modelId="{989780A4-F47E-4D54-9C98-FE5E57A48D5F}" type="pres">
      <dgm:prSet presAssocID="{79CE6CE5-3226-4EAC-8DE1-2CD990C02F05}" presName="compositeNode" presStyleCnt="0">
        <dgm:presLayoutVars>
          <dgm:bulletEnabled val="1"/>
        </dgm:presLayoutVars>
      </dgm:prSet>
      <dgm:spPr/>
    </dgm:pt>
    <dgm:pt modelId="{246101F3-EEB5-4DC9-8F08-BE086901650E}" type="pres">
      <dgm:prSet presAssocID="{79CE6CE5-3226-4EAC-8DE1-2CD990C02F05}" presName="bgRect" presStyleLbl="bgAccFollowNode1" presStyleIdx="0" presStyleCnt="3"/>
      <dgm:spPr/>
    </dgm:pt>
    <dgm:pt modelId="{2B8F32FA-C447-4033-9A7C-08060B287CE3}" type="pres">
      <dgm:prSet presAssocID="{67A6B0D0-FA3A-43A0-BE8C-2D49D868A4A7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766A92AA-1D2C-4EAC-B54C-09B2366AE53C}" type="pres">
      <dgm:prSet presAssocID="{79CE6CE5-3226-4EAC-8DE1-2CD990C02F05}" presName="bottomLine" presStyleLbl="alignNode1" presStyleIdx="1" presStyleCnt="6">
        <dgm:presLayoutVars/>
      </dgm:prSet>
      <dgm:spPr/>
    </dgm:pt>
    <dgm:pt modelId="{07882E9C-277B-4CD7-9BA9-808EBA8DB20C}" type="pres">
      <dgm:prSet presAssocID="{79CE6CE5-3226-4EAC-8DE1-2CD990C02F05}" presName="nodeText" presStyleLbl="bgAccFollowNode1" presStyleIdx="0" presStyleCnt="3">
        <dgm:presLayoutVars>
          <dgm:bulletEnabled val="1"/>
        </dgm:presLayoutVars>
      </dgm:prSet>
      <dgm:spPr/>
    </dgm:pt>
    <dgm:pt modelId="{91D6F859-C71F-4B36-97D7-315FC4F8F303}" type="pres">
      <dgm:prSet presAssocID="{67A6B0D0-FA3A-43A0-BE8C-2D49D868A4A7}" presName="sibTrans" presStyleCnt="0"/>
      <dgm:spPr/>
    </dgm:pt>
    <dgm:pt modelId="{A77ACF5A-D159-41C4-AA4C-13C7DB12C210}" type="pres">
      <dgm:prSet presAssocID="{F4460BCA-7468-4B16-A7CD-8B6C34DC2411}" presName="compositeNode" presStyleCnt="0">
        <dgm:presLayoutVars>
          <dgm:bulletEnabled val="1"/>
        </dgm:presLayoutVars>
      </dgm:prSet>
      <dgm:spPr/>
    </dgm:pt>
    <dgm:pt modelId="{19195DDF-3008-4617-9EA9-58003533400D}" type="pres">
      <dgm:prSet presAssocID="{F4460BCA-7468-4B16-A7CD-8B6C34DC2411}" presName="bgRect" presStyleLbl="bgAccFollowNode1" presStyleIdx="1" presStyleCnt="3"/>
      <dgm:spPr/>
    </dgm:pt>
    <dgm:pt modelId="{14534656-8060-4540-9FA3-0FB9DFEBACC2}" type="pres">
      <dgm:prSet presAssocID="{5C3140A6-58C0-436C-9FE9-4EB54BB911D8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D0B63BB4-0707-40A6-B8CA-88BEA22B324B}" type="pres">
      <dgm:prSet presAssocID="{F4460BCA-7468-4B16-A7CD-8B6C34DC2411}" presName="bottomLine" presStyleLbl="alignNode1" presStyleIdx="3" presStyleCnt="6">
        <dgm:presLayoutVars/>
      </dgm:prSet>
      <dgm:spPr/>
    </dgm:pt>
    <dgm:pt modelId="{EF88958E-C8F3-4C7C-9057-D9062921971A}" type="pres">
      <dgm:prSet presAssocID="{F4460BCA-7468-4B16-A7CD-8B6C34DC2411}" presName="nodeText" presStyleLbl="bgAccFollowNode1" presStyleIdx="1" presStyleCnt="3">
        <dgm:presLayoutVars>
          <dgm:bulletEnabled val="1"/>
        </dgm:presLayoutVars>
      </dgm:prSet>
      <dgm:spPr/>
    </dgm:pt>
    <dgm:pt modelId="{98545656-D202-4008-8EA6-CF71F6E54CCB}" type="pres">
      <dgm:prSet presAssocID="{5C3140A6-58C0-436C-9FE9-4EB54BB911D8}" presName="sibTrans" presStyleCnt="0"/>
      <dgm:spPr/>
    </dgm:pt>
    <dgm:pt modelId="{C617EA76-BD8F-45DB-B67D-2444380246F7}" type="pres">
      <dgm:prSet presAssocID="{108F3D7C-DC9D-4DB8-89A9-672C83767BE8}" presName="compositeNode" presStyleCnt="0">
        <dgm:presLayoutVars>
          <dgm:bulletEnabled val="1"/>
        </dgm:presLayoutVars>
      </dgm:prSet>
      <dgm:spPr/>
    </dgm:pt>
    <dgm:pt modelId="{F4B57265-B5B5-41BB-B8DD-B8CF6EF34020}" type="pres">
      <dgm:prSet presAssocID="{108F3D7C-DC9D-4DB8-89A9-672C83767BE8}" presName="bgRect" presStyleLbl="bgAccFollowNode1" presStyleIdx="2" presStyleCnt="3"/>
      <dgm:spPr/>
    </dgm:pt>
    <dgm:pt modelId="{285997F9-9F19-4C78-B157-6AC2E353C265}" type="pres">
      <dgm:prSet presAssocID="{5B2C0BB5-341A-447C-8B40-F360C66F0898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5DA68534-438C-48EF-8194-783E5B476F98}" type="pres">
      <dgm:prSet presAssocID="{108F3D7C-DC9D-4DB8-89A9-672C83767BE8}" presName="bottomLine" presStyleLbl="alignNode1" presStyleIdx="5" presStyleCnt="6">
        <dgm:presLayoutVars/>
      </dgm:prSet>
      <dgm:spPr/>
    </dgm:pt>
    <dgm:pt modelId="{4528072F-F498-428E-89B2-7B4CB75F1395}" type="pres">
      <dgm:prSet presAssocID="{108F3D7C-DC9D-4DB8-89A9-672C83767BE8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82E4D707-59E8-4A3E-9411-D9AA2E714007}" type="presOf" srcId="{108F3D7C-DC9D-4DB8-89A9-672C83767BE8}" destId="{4528072F-F498-428E-89B2-7B4CB75F1395}" srcOrd="1" destOrd="0" presId="urn:microsoft.com/office/officeart/2016/7/layout/BasicLinearProcessNumbered"/>
    <dgm:cxn modelId="{DFA1EF3B-0D9B-423B-AB3B-82EBEFB3C6F0}" type="presOf" srcId="{F4460BCA-7468-4B16-A7CD-8B6C34DC2411}" destId="{EF88958E-C8F3-4C7C-9057-D9062921971A}" srcOrd="1" destOrd="0" presId="urn:microsoft.com/office/officeart/2016/7/layout/BasicLinearProcessNumbered"/>
    <dgm:cxn modelId="{3FA41852-3304-4353-8815-F68721E46AC2}" type="presOf" srcId="{5B2C0BB5-341A-447C-8B40-F360C66F0898}" destId="{285997F9-9F19-4C78-B157-6AC2E353C265}" srcOrd="0" destOrd="0" presId="urn:microsoft.com/office/officeart/2016/7/layout/BasicLinearProcessNumbered"/>
    <dgm:cxn modelId="{86763B6B-D91C-46FD-A37C-57B2074FB8AF}" type="presOf" srcId="{5C3140A6-58C0-436C-9FE9-4EB54BB911D8}" destId="{14534656-8060-4540-9FA3-0FB9DFEBACC2}" srcOrd="0" destOrd="0" presId="urn:microsoft.com/office/officeart/2016/7/layout/BasicLinearProcessNumbered"/>
    <dgm:cxn modelId="{8230F072-BB1A-48BC-A00A-D58C4DA1615F}" type="presOf" srcId="{79CE6CE5-3226-4EAC-8DE1-2CD990C02F05}" destId="{07882E9C-277B-4CD7-9BA9-808EBA8DB20C}" srcOrd="1" destOrd="0" presId="urn:microsoft.com/office/officeart/2016/7/layout/BasicLinearProcessNumbered"/>
    <dgm:cxn modelId="{6141ED7A-6693-4EC2-B7CB-D836A3CAFBE8}" type="presOf" srcId="{67A6B0D0-FA3A-43A0-BE8C-2D49D868A4A7}" destId="{2B8F32FA-C447-4033-9A7C-08060B287CE3}" srcOrd="0" destOrd="0" presId="urn:microsoft.com/office/officeart/2016/7/layout/BasicLinearProcessNumbered"/>
    <dgm:cxn modelId="{9E141E7B-2414-4E62-AC66-8AFB750F2A32}" type="presOf" srcId="{46CC52CB-548E-4D16-93F7-877A109D7AF0}" destId="{860342F9-39DA-4569-89FB-9753EF5B9401}" srcOrd="0" destOrd="0" presId="urn:microsoft.com/office/officeart/2016/7/layout/BasicLinearProcessNumbered"/>
    <dgm:cxn modelId="{CF1D1FA4-D91E-4AD3-A93A-FAF751888801}" type="presOf" srcId="{108F3D7C-DC9D-4DB8-89A9-672C83767BE8}" destId="{F4B57265-B5B5-41BB-B8DD-B8CF6EF34020}" srcOrd="0" destOrd="0" presId="urn:microsoft.com/office/officeart/2016/7/layout/BasicLinearProcessNumbered"/>
    <dgm:cxn modelId="{C4FEE0C4-1D88-4653-89D3-E5CEFD53FCB9}" type="presOf" srcId="{79CE6CE5-3226-4EAC-8DE1-2CD990C02F05}" destId="{246101F3-EEB5-4DC9-8F08-BE086901650E}" srcOrd="0" destOrd="0" presId="urn:microsoft.com/office/officeart/2016/7/layout/BasicLinearProcessNumbered"/>
    <dgm:cxn modelId="{79759BC9-7C3E-49F7-8B61-0D912D9EE9A9}" srcId="{46CC52CB-548E-4D16-93F7-877A109D7AF0}" destId="{F4460BCA-7468-4B16-A7CD-8B6C34DC2411}" srcOrd="1" destOrd="0" parTransId="{DDBAC01F-D5B9-4421-8D96-CEE2B16D2AAD}" sibTransId="{5C3140A6-58C0-436C-9FE9-4EB54BB911D8}"/>
    <dgm:cxn modelId="{12B69CD5-CB82-47B1-9F00-15349F0A7360}" srcId="{46CC52CB-548E-4D16-93F7-877A109D7AF0}" destId="{79CE6CE5-3226-4EAC-8DE1-2CD990C02F05}" srcOrd="0" destOrd="0" parTransId="{71422790-8021-443D-89AF-BB0492F4BAFD}" sibTransId="{67A6B0D0-FA3A-43A0-BE8C-2D49D868A4A7}"/>
    <dgm:cxn modelId="{7790C1E9-3B30-4570-8812-982823E4C0F4}" type="presOf" srcId="{F4460BCA-7468-4B16-A7CD-8B6C34DC2411}" destId="{19195DDF-3008-4617-9EA9-58003533400D}" srcOrd="0" destOrd="0" presId="urn:microsoft.com/office/officeart/2016/7/layout/BasicLinearProcessNumbered"/>
    <dgm:cxn modelId="{842B67F2-5857-488C-84D0-33D047F3D7E3}" srcId="{46CC52CB-548E-4D16-93F7-877A109D7AF0}" destId="{108F3D7C-DC9D-4DB8-89A9-672C83767BE8}" srcOrd="2" destOrd="0" parTransId="{6541D072-7FEC-464D-8EE4-63C0F6FEEBFE}" sibTransId="{5B2C0BB5-341A-447C-8B40-F360C66F0898}"/>
    <dgm:cxn modelId="{8796A827-6B48-4BAE-865F-2A5C8D3A951B}" type="presParOf" srcId="{860342F9-39DA-4569-89FB-9753EF5B9401}" destId="{989780A4-F47E-4D54-9C98-FE5E57A48D5F}" srcOrd="0" destOrd="0" presId="urn:microsoft.com/office/officeart/2016/7/layout/BasicLinearProcessNumbered"/>
    <dgm:cxn modelId="{AA62459C-9AA2-4BF0-BDEB-D6BE9220B291}" type="presParOf" srcId="{989780A4-F47E-4D54-9C98-FE5E57A48D5F}" destId="{246101F3-EEB5-4DC9-8F08-BE086901650E}" srcOrd="0" destOrd="0" presId="urn:microsoft.com/office/officeart/2016/7/layout/BasicLinearProcessNumbered"/>
    <dgm:cxn modelId="{7B3215F9-A13D-446E-BCBE-E9383282D7B5}" type="presParOf" srcId="{989780A4-F47E-4D54-9C98-FE5E57A48D5F}" destId="{2B8F32FA-C447-4033-9A7C-08060B287CE3}" srcOrd="1" destOrd="0" presId="urn:microsoft.com/office/officeart/2016/7/layout/BasicLinearProcessNumbered"/>
    <dgm:cxn modelId="{A09E6B40-DF5D-4963-A9BC-8BA2BAD8BE49}" type="presParOf" srcId="{989780A4-F47E-4D54-9C98-FE5E57A48D5F}" destId="{766A92AA-1D2C-4EAC-B54C-09B2366AE53C}" srcOrd="2" destOrd="0" presId="urn:microsoft.com/office/officeart/2016/7/layout/BasicLinearProcessNumbered"/>
    <dgm:cxn modelId="{B08350AB-E45E-4A69-BFF3-6372BC3F3ACF}" type="presParOf" srcId="{989780A4-F47E-4D54-9C98-FE5E57A48D5F}" destId="{07882E9C-277B-4CD7-9BA9-808EBA8DB20C}" srcOrd="3" destOrd="0" presId="urn:microsoft.com/office/officeart/2016/7/layout/BasicLinearProcessNumbered"/>
    <dgm:cxn modelId="{B765B47D-C0F2-4CCC-A132-72AF6B6813BD}" type="presParOf" srcId="{860342F9-39DA-4569-89FB-9753EF5B9401}" destId="{91D6F859-C71F-4B36-97D7-315FC4F8F303}" srcOrd="1" destOrd="0" presId="urn:microsoft.com/office/officeart/2016/7/layout/BasicLinearProcessNumbered"/>
    <dgm:cxn modelId="{DBB257AA-A1BB-4F94-A002-4F895A2121B3}" type="presParOf" srcId="{860342F9-39DA-4569-89FB-9753EF5B9401}" destId="{A77ACF5A-D159-41C4-AA4C-13C7DB12C210}" srcOrd="2" destOrd="0" presId="urn:microsoft.com/office/officeart/2016/7/layout/BasicLinearProcessNumbered"/>
    <dgm:cxn modelId="{0994CFE9-D91B-4614-84B0-A1AA8455A489}" type="presParOf" srcId="{A77ACF5A-D159-41C4-AA4C-13C7DB12C210}" destId="{19195DDF-3008-4617-9EA9-58003533400D}" srcOrd="0" destOrd="0" presId="urn:microsoft.com/office/officeart/2016/7/layout/BasicLinearProcessNumbered"/>
    <dgm:cxn modelId="{F58683BD-EFCC-45C3-8204-457FF20BEBA8}" type="presParOf" srcId="{A77ACF5A-D159-41C4-AA4C-13C7DB12C210}" destId="{14534656-8060-4540-9FA3-0FB9DFEBACC2}" srcOrd="1" destOrd="0" presId="urn:microsoft.com/office/officeart/2016/7/layout/BasicLinearProcessNumbered"/>
    <dgm:cxn modelId="{AA62B009-E1B8-4157-9D70-EF6A97789A52}" type="presParOf" srcId="{A77ACF5A-D159-41C4-AA4C-13C7DB12C210}" destId="{D0B63BB4-0707-40A6-B8CA-88BEA22B324B}" srcOrd="2" destOrd="0" presId="urn:microsoft.com/office/officeart/2016/7/layout/BasicLinearProcessNumbered"/>
    <dgm:cxn modelId="{A4FB94E5-4F35-4F8C-9B80-4D5BDAF3B2B3}" type="presParOf" srcId="{A77ACF5A-D159-41C4-AA4C-13C7DB12C210}" destId="{EF88958E-C8F3-4C7C-9057-D9062921971A}" srcOrd="3" destOrd="0" presId="urn:microsoft.com/office/officeart/2016/7/layout/BasicLinearProcessNumbered"/>
    <dgm:cxn modelId="{82A2FA18-4BD1-499D-A07D-E25F960E8D2A}" type="presParOf" srcId="{860342F9-39DA-4569-89FB-9753EF5B9401}" destId="{98545656-D202-4008-8EA6-CF71F6E54CCB}" srcOrd="3" destOrd="0" presId="urn:microsoft.com/office/officeart/2016/7/layout/BasicLinearProcessNumbered"/>
    <dgm:cxn modelId="{51655EA6-66AC-4513-A251-D93021D52DDF}" type="presParOf" srcId="{860342F9-39DA-4569-89FB-9753EF5B9401}" destId="{C617EA76-BD8F-45DB-B67D-2444380246F7}" srcOrd="4" destOrd="0" presId="urn:microsoft.com/office/officeart/2016/7/layout/BasicLinearProcessNumbered"/>
    <dgm:cxn modelId="{95E0572D-2418-45DA-8701-B96BD1C54B45}" type="presParOf" srcId="{C617EA76-BD8F-45DB-B67D-2444380246F7}" destId="{F4B57265-B5B5-41BB-B8DD-B8CF6EF34020}" srcOrd="0" destOrd="0" presId="urn:microsoft.com/office/officeart/2016/7/layout/BasicLinearProcessNumbered"/>
    <dgm:cxn modelId="{ECC5EBF4-0CCC-459B-866E-C0EA9A3C51DF}" type="presParOf" srcId="{C617EA76-BD8F-45DB-B67D-2444380246F7}" destId="{285997F9-9F19-4C78-B157-6AC2E353C265}" srcOrd="1" destOrd="0" presId="urn:microsoft.com/office/officeart/2016/7/layout/BasicLinearProcessNumbered"/>
    <dgm:cxn modelId="{1024D9EC-9C4F-429F-892A-3C3A7A605A20}" type="presParOf" srcId="{C617EA76-BD8F-45DB-B67D-2444380246F7}" destId="{5DA68534-438C-48EF-8194-783E5B476F98}" srcOrd="2" destOrd="0" presId="urn:microsoft.com/office/officeart/2016/7/layout/BasicLinearProcessNumbered"/>
    <dgm:cxn modelId="{57582DE6-48D6-485E-ADF9-49BD8D10F15D}" type="presParOf" srcId="{C617EA76-BD8F-45DB-B67D-2444380246F7}" destId="{4528072F-F498-428E-89B2-7B4CB75F139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B8901BF-A01D-4CC8-91FA-B4397E25602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95C3BCA-BE4C-4F4B-97FD-6F46320CFAC6}">
      <dgm:prSet/>
      <dgm:spPr/>
      <dgm:t>
        <a:bodyPr/>
        <a:lstStyle/>
        <a:p>
          <a:r>
            <a:rPr lang="en-SG"/>
            <a:t>Direct</a:t>
          </a:r>
          <a:endParaRPr lang="en-US"/>
        </a:p>
      </dgm:t>
    </dgm:pt>
    <dgm:pt modelId="{07C85E6E-5FC9-4CD8-ABFE-21F77C9AC235}" type="parTrans" cxnId="{DC5F1C5A-D68C-4969-8E83-DDD51A99CFBA}">
      <dgm:prSet/>
      <dgm:spPr/>
      <dgm:t>
        <a:bodyPr/>
        <a:lstStyle/>
        <a:p>
          <a:endParaRPr lang="en-US"/>
        </a:p>
      </dgm:t>
    </dgm:pt>
    <dgm:pt modelId="{0D1E9562-55AF-415A-9511-85E0787DF4C1}" type="sibTrans" cxnId="{DC5F1C5A-D68C-4969-8E83-DDD51A99CFBA}">
      <dgm:prSet/>
      <dgm:spPr/>
      <dgm:t>
        <a:bodyPr/>
        <a:lstStyle/>
        <a:p>
          <a:endParaRPr lang="en-US"/>
        </a:p>
      </dgm:t>
    </dgm:pt>
    <dgm:pt modelId="{0AA1B1BB-88FE-4F74-BFF9-E43609209818}">
      <dgm:prSet/>
      <dgm:spPr/>
      <dgm:t>
        <a:bodyPr/>
        <a:lstStyle/>
        <a:p>
          <a:r>
            <a:rPr lang="en-SG"/>
            <a:t>Cash flow = receivables - expenditures</a:t>
          </a:r>
          <a:endParaRPr lang="en-US"/>
        </a:p>
      </dgm:t>
    </dgm:pt>
    <dgm:pt modelId="{8B15CDED-48E1-4B3C-A511-099542274A26}" type="parTrans" cxnId="{4B4FD7D5-59E9-45D7-902F-FD46C3660246}">
      <dgm:prSet/>
      <dgm:spPr/>
      <dgm:t>
        <a:bodyPr/>
        <a:lstStyle/>
        <a:p>
          <a:endParaRPr lang="en-US"/>
        </a:p>
      </dgm:t>
    </dgm:pt>
    <dgm:pt modelId="{D715EA03-BC9B-4F03-9BB2-479B54626351}" type="sibTrans" cxnId="{4B4FD7D5-59E9-45D7-902F-FD46C3660246}">
      <dgm:prSet/>
      <dgm:spPr/>
      <dgm:t>
        <a:bodyPr/>
        <a:lstStyle/>
        <a:p>
          <a:endParaRPr lang="en-US"/>
        </a:p>
      </dgm:t>
    </dgm:pt>
    <dgm:pt modelId="{6FA13471-C302-40D1-A785-0E62AD4A2E6B}">
      <dgm:prSet/>
      <dgm:spPr/>
      <dgm:t>
        <a:bodyPr/>
        <a:lstStyle/>
        <a:p>
          <a:r>
            <a:rPr lang="en-SG"/>
            <a:t>Indirect</a:t>
          </a:r>
          <a:endParaRPr lang="en-US"/>
        </a:p>
      </dgm:t>
    </dgm:pt>
    <dgm:pt modelId="{8093DCDA-0277-4402-8C4E-0E8B87BFD191}" type="parTrans" cxnId="{3A3C92E0-BDAC-4286-9E49-FAD649D6517F}">
      <dgm:prSet/>
      <dgm:spPr/>
      <dgm:t>
        <a:bodyPr/>
        <a:lstStyle/>
        <a:p>
          <a:endParaRPr lang="en-US"/>
        </a:p>
      </dgm:t>
    </dgm:pt>
    <dgm:pt modelId="{DC872991-AABB-4BAA-8FE7-B6C3CA61FE40}" type="sibTrans" cxnId="{3A3C92E0-BDAC-4286-9E49-FAD649D6517F}">
      <dgm:prSet/>
      <dgm:spPr/>
      <dgm:t>
        <a:bodyPr/>
        <a:lstStyle/>
        <a:p>
          <a:endParaRPr lang="en-US"/>
        </a:p>
      </dgm:t>
    </dgm:pt>
    <dgm:pt modelId="{BF104DBA-CC79-4A21-89DF-9D986B224E5E}">
      <dgm:prSet/>
      <dgm:spPr/>
      <dgm:t>
        <a:bodyPr/>
        <a:lstStyle/>
        <a:p>
          <a:r>
            <a:rPr lang="en-SG"/>
            <a:t>Start with net income and account for items affecting profit but not cash flow</a:t>
          </a:r>
          <a:endParaRPr lang="en-US"/>
        </a:p>
      </dgm:t>
    </dgm:pt>
    <dgm:pt modelId="{5071E63B-44DE-42E2-8108-03C6B7887CA7}" type="parTrans" cxnId="{A4ACEFE8-C59F-4AD3-A613-4D17FE4B6554}">
      <dgm:prSet/>
      <dgm:spPr/>
      <dgm:t>
        <a:bodyPr/>
        <a:lstStyle/>
        <a:p>
          <a:endParaRPr lang="en-US"/>
        </a:p>
      </dgm:t>
    </dgm:pt>
    <dgm:pt modelId="{ABDEEFAE-F0BE-4D55-8117-6A77A3E3D469}" type="sibTrans" cxnId="{A4ACEFE8-C59F-4AD3-A613-4D17FE4B6554}">
      <dgm:prSet/>
      <dgm:spPr/>
      <dgm:t>
        <a:bodyPr/>
        <a:lstStyle/>
        <a:p>
          <a:endParaRPr lang="en-US"/>
        </a:p>
      </dgm:t>
    </dgm:pt>
    <dgm:pt modelId="{C99FB56B-61C8-4D94-A8BC-4F6D9B7042C4}" type="pres">
      <dgm:prSet presAssocID="{AB8901BF-A01D-4CC8-91FA-B4397E25602E}" presName="root" presStyleCnt="0">
        <dgm:presLayoutVars>
          <dgm:dir/>
          <dgm:resizeHandles val="exact"/>
        </dgm:presLayoutVars>
      </dgm:prSet>
      <dgm:spPr/>
    </dgm:pt>
    <dgm:pt modelId="{BF748803-116F-4195-BAA8-2FAF84DDCB5D}" type="pres">
      <dgm:prSet presAssocID="{995C3BCA-BE4C-4F4B-97FD-6F46320CFAC6}" presName="compNode" presStyleCnt="0"/>
      <dgm:spPr/>
    </dgm:pt>
    <dgm:pt modelId="{C58B6884-C412-4403-A1A6-E20C3C1A94F8}" type="pres">
      <dgm:prSet presAssocID="{995C3BCA-BE4C-4F4B-97FD-6F46320CFAC6}" presName="bgRect" presStyleLbl="bgShp" presStyleIdx="0" presStyleCnt="2"/>
      <dgm:spPr/>
    </dgm:pt>
    <dgm:pt modelId="{CEBAFF5E-F6F9-4A1D-AB0D-C944CF9220CE}" type="pres">
      <dgm:prSet presAssocID="{995C3BCA-BE4C-4F4B-97FD-6F46320CFAC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2E0C6BFA-49A7-45F0-AAC7-38762175D5B5}" type="pres">
      <dgm:prSet presAssocID="{995C3BCA-BE4C-4F4B-97FD-6F46320CFAC6}" presName="spaceRect" presStyleCnt="0"/>
      <dgm:spPr/>
    </dgm:pt>
    <dgm:pt modelId="{EAC2442C-22BA-4CE6-9E67-AA53E50717BC}" type="pres">
      <dgm:prSet presAssocID="{995C3BCA-BE4C-4F4B-97FD-6F46320CFAC6}" presName="parTx" presStyleLbl="revTx" presStyleIdx="0" presStyleCnt="4">
        <dgm:presLayoutVars>
          <dgm:chMax val="0"/>
          <dgm:chPref val="0"/>
        </dgm:presLayoutVars>
      </dgm:prSet>
      <dgm:spPr/>
    </dgm:pt>
    <dgm:pt modelId="{7E1E3D06-C5EB-47D1-A81F-86F533B483E2}" type="pres">
      <dgm:prSet presAssocID="{995C3BCA-BE4C-4F4B-97FD-6F46320CFAC6}" presName="desTx" presStyleLbl="revTx" presStyleIdx="1" presStyleCnt="4">
        <dgm:presLayoutVars/>
      </dgm:prSet>
      <dgm:spPr/>
    </dgm:pt>
    <dgm:pt modelId="{C392AFE3-2C2E-4E9D-B033-AF56D0629CE5}" type="pres">
      <dgm:prSet presAssocID="{0D1E9562-55AF-415A-9511-85E0787DF4C1}" presName="sibTrans" presStyleCnt="0"/>
      <dgm:spPr/>
    </dgm:pt>
    <dgm:pt modelId="{23B28351-D39D-405E-8BFA-FD0DDC3C421B}" type="pres">
      <dgm:prSet presAssocID="{6FA13471-C302-40D1-A785-0E62AD4A2E6B}" presName="compNode" presStyleCnt="0"/>
      <dgm:spPr/>
    </dgm:pt>
    <dgm:pt modelId="{7E87D6C2-AE94-4557-AE10-FD72E23622E8}" type="pres">
      <dgm:prSet presAssocID="{6FA13471-C302-40D1-A785-0E62AD4A2E6B}" presName="bgRect" presStyleLbl="bgShp" presStyleIdx="1" presStyleCnt="2"/>
      <dgm:spPr/>
    </dgm:pt>
    <dgm:pt modelId="{663EE9C4-460C-42A8-AF8C-F806724EFA00}" type="pres">
      <dgm:prSet presAssocID="{6FA13471-C302-40D1-A785-0E62AD4A2E6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3CAD2919-5106-4083-BC59-4AE2BDA36814}" type="pres">
      <dgm:prSet presAssocID="{6FA13471-C302-40D1-A785-0E62AD4A2E6B}" presName="spaceRect" presStyleCnt="0"/>
      <dgm:spPr/>
    </dgm:pt>
    <dgm:pt modelId="{57A1464F-88C5-4D65-9E1E-AAA277231F13}" type="pres">
      <dgm:prSet presAssocID="{6FA13471-C302-40D1-A785-0E62AD4A2E6B}" presName="parTx" presStyleLbl="revTx" presStyleIdx="2" presStyleCnt="4">
        <dgm:presLayoutVars>
          <dgm:chMax val="0"/>
          <dgm:chPref val="0"/>
        </dgm:presLayoutVars>
      </dgm:prSet>
      <dgm:spPr/>
    </dgm:pt>
    <dgm:pt modelId="{98DAF428-1F16-4781-BF53-E2C9DA21EB6D}" type="pres">
      <dgm:prSet presAssocID="{6FA13471-C302-40D1-A785-0E62AD4A2E6B}" presName="desTx" presStyleLbl="revTx" presStyleIdx="3" presStyleCnt="4">
        <dgm:presLayoutVars/>
      </dgm:prSet>
      <dgm:spPr/>
    </dgm:pt>
  </dgm:ptLst>
  <dgm:cxnLst>
    <dgm:cxn modelId="{ECECB221-146C-4250-BB07-E2776830FA4F}" type="presOf" srcId="{0AA1B1BB-88FE-4F74-BFF9-E43609209818}" destId="{7E1E3D06-C5EB-47D1-A81F-86F533B483E2}" srcOrd="0" destOrd="0" presId="urn:microsoft.com/office/officeart/2018/2/layout/IconVerticalSolidList"/>
    <dgm:cxn modelId="{89640248-15D9-4095-9BB2-FD7D19A0BBA4}" type="presOf" srcId="{6FA13471-C302-40D1-A785-0E62AD4A2E6B}" destId="{57A1464F-88C5-4D65-9E1E-AAA277231F13}" srcOrd="0" destOrd="0" presId="urn:microsoft.com/office/officeart/2018/2/layout/IconVerticalSolidList"/>
    <dgm:cxn modelId="{DC5F1C5A-D68C-4969-8E83-DDD51A99CFBA}" srcId="{AB8901BF-A01D-4CC8-91FA-B4397E25602E}" destId="{995C3BCA-BE4C-4F4B-97FD-6F46320CFAC6}" srcOrd="0" destOrd="0" parTransId="{07C85E6E-5FC9-4CD8-ABFE-21F77C9AC235}" sibTransId="{0D1E9562-55AF-415A-9511-85E0787DF4C1}"/>
    <dgm:cxn modelId="{5BCD4E78-40C7-4BBA-8922-C8B50E6849D1}" type="presOf" srcId="{995C3BCA-BE4C-4F4B-97FD-6F46320CFAC6}" destId="{EAC2442C-22BA-4CE6-9E67-AA53E50717BC}" srcOrd="0" destOrd="0" presId="urn:microsoft.com/office/officeart/2018/2/layout/IconVerticalSolidList"/>
    <dgm:cxn modelId="{0408E9A1-7C75-4A02-8A5D-1900A4BE3C1C}" type="presOf" srcId="{AB8901BF-A01D-4CC8-91FA-B4397E25602E}" destId="{C99FB56B-61C8-4D94-A8BC-4F6D9B7042C4}" srcOrd="0" destOrd="0" presId="urn:microsoft.com/office/officeart/2018/2/layout/IconVerticalSolidList"/>
    <dgm:cxn modelId="{F6FA96AF-DE7C-443B-8BCF-54D83AE5DD56}" type="presOf" srcId="{BF104DBA-CC79-4A21-89DF-9D986B224E5E}" destId="{98DAF428-1F16-4781-BF53-E2C9DA21EB6D}" srcOrd="0" destOrd="0" presId="urn:microsoft.com/office/officeart/2018/2/layout/IconVerticalSolidList"/>
    <dgm:cxn modelId="{4B4FD7D5-59E9-45D7-902F-FD46C3660246}" srcId="{995C3BCA-BE4C-4F4B-97FD-6F46320CFAC6}" destId="{0AA1B1BB-88FE-4F74-BFF9-E43609209818}" srcOrd="0" destOrd="0" parTransId="{8B15CDED-48E1-4B3C-A511-099542274A26}" sibTransId="{D715EA03-BC9B-4F03-9BB2-479B54626351}"/>
    <dgm:cxn modelId="{3A3C92E0-BDAC-4286-9E49-FAD649D6517F}" srcId="{AB8901BF-A01D-4CC8-91FA-B4397E25602E}" destId="{6FA13471-C302-40D1-A785-0E62AD4A2E6B}" srcOrd="1" destOrd="0" parTransId="{8093DCDA-0277-4402-8C4E-0E8B87BFD191}" sibTransId="{DC872991-AABB-4BAA-8FE7-B6C3CA61FE40}"/>
    <dgm:cxn modelId="{A4ACEFE8-C59F-4AD3-A613-4D17FE4B6554}" srcId="{6FA13471-C302-40D1-A785-0E62AD4A2E6B}" destId="{BF104DBA-CC79-4A21-89DF-9D986B224E5E}" srcOrd="0" destOrd="0" parTransId="{5071E63B-44DE-42E2-8108-03C6B7887CA7}" sibTransId="{ABDEEFAE-F0BE-4D55-8117-6A77A3E3D469}"/>
    <dgm:cxn modelId="{047ABC77-5EFA-4E83-BEC2-12956F60EDBC}" type="presParOf" srcId="{C99FB56B-61C8-4D94-A8BC-4F6D9B7042C4}" destId="{BF748803-116F-4195-BAA8-2FAF84DDCB5D}" srcOrd="0" destOrd="0" presId="urn:microsoft.com/office/officeart/2018/2/layout/IconVerticalSolidList"/>
    <dgm:cxn modelId="{8CB8C541-E8A4-40A5-A2BF-BF1DC4F7D49A}" type="presParOf" srcId="{BF748803-116F-4195-BAA8-2FAF84DDCB5D}" destId="{C58B6884-C412-4403-A1A6-E20C3C1A94F8}" srcOrd="0" destOrd="0" presId="urn:microsoft.com/office/officeart/2018/2/layout/IconVerticalSolidList"/>
    <dgm:cxn modelId="{86A6EC14-B298-4560-A373-946124CD3943}" type="presParOf" srcId="{BF748803-116F-4195-BAA8-2FAF84DDCB5D}" destId="{CEBAFF5E-F6F9-4A1D-AB0D-C944CF9220CE}" srcOrd="1" destOrd="0" presId="urn:microsoft.com/office/officeart/2018/2/layout/IconVerticalSolidList"/>
    <dgm:cxn modelId="{657810A9-9372-442A-A14D-E7711070661F}" type="presParOf" srcId="{BF748803-116F-4195-BAA8-2FAF84DDCB5D}" destId="{2E0C6BFA-49A7-45F0-AAC7-38762175D5B5}" srcOrd="2" destOrd="0" presId="urn:microsoft.com/office/officeart/2018/2/layout/IconVerticalSolidList"/>
    <dgm:cxn modelId="{6274D34D-0E7B-4AB3-9671-258D0162C1A6}" type="presParOf" srcId="{BF748803-116F-4195-BAA8-2FAF84DDCB5D}" destId="{EAC2442C-22BA-4CE6-9E67-AA53E50717BC}" srcOrd="3" destOrd="0" presId="urn:microsoft.com/office/officeart/2018/2/layout/IconVerticalSolidList"/>
    <dgm:cxn modelId="{6F825010-E587-423F-ADCD-AF11AADCEE9D}" type="presParOf" srcId="{BF748803-116F-4195-BAA8-2FAF84DDCB5D}" destId="{7E1E3D06-C5EB-47D1-A81F-86F533B483E2}" srcOrd="4" destOrd="0" presId="urn:microsoft.com/office/officeart/2018/2/layout/IconVerticalSolidList"/>
    <dgm:cxn modelId="{1AD90E7F-DB17-4A22-BD8A-F8BA755DEEB5}" type="presParOf" srcId="{C99FB56B-61C8-4D94-A8BC-4F6D9B7042C4}" destId="{C392AFE3-2C2E-4E9D-B033-AF56D0629CE5}" srcOrd="1" destOrd="0" presId="urn:microsoft.com/office/officeart/2018/2/layout/IconVerticalSolidList"/>
    <dgm:cxn modelId="{68F245D4-6BA2-49BC-A415-372079CAF878}" type="presParOf" srcId="{C99FB56B-61C8-4D94-A8BC-4F6D9B7042C4}" destId="{23B28351-D39D-405E-8BFA-FD0DDC3C421B}" srcOrd="2" destOrd="0" presId="urn:microsoft.com/office/officeart/2018/2/layout/IconVerticalSolidList"/>
    <dgm:cxn modelId="{7661F19C-0067-4E5F-BC02-DE4A551011AC}" type="presParOf" srcId="{23B28351-D39D-405E-8BFA-FD0DDC3C421B}" destId="{7E87D6C2-AE94-4557-AE10-FD72E23622E8}" srcOrd="0" destOrd="0" presId="urn:microsoft.com/office/officeart/2018/2/layout/IconVerticalSolidList"/>
    <dgm:cxn modelId="{E93AF1B2-634A-4D91-B10C-643BFBBB1502}" type="presParOf" srcId="{23B28351-D39D-405E-8BFA-FD0DDC3C421B}" destId="{663EE9C4-460C-42A8-AF8C-F806724EFA00}" srcOrd="1" destOrd="0" presId="urn:microsoft.com/office/officeart/2018/2/layout/IconVerticalSolidList"/>
    <dgm:cxn modelId="{FE273602-0ABD-4A63-9759-5F5016D5B2DE}" type="presParOf" srcId="{23B28351-D39D-405E-8BFA-FD0DDC3C421B}" destId="{3CAD2919-5106-4083-BC59-4AE2BDA36814}" srcOrd="2" destOrd="0" presId="urn:microsoft.com/office/officeart/2018/2/layout/IconVerticalSolidList"/>
    <dgm:cxn modelId="{FFEAEC06-DFC2-478B-8580-FB06E0C39D8C}" type="presParOf" srcId="{23B28351-D39D-405E-8BFA-FD0DDC3C421B}" destId="{57A1464F-88C5-4D65-9E1E-AAA277231F13}" srcOrd="3" destOrd="0" presId="urn:microsoft.com/office/officeart/2018/2/layout/IconVerticalSolidList"/>
    <dgm:cxn modelId="{EECAB35F-8A59-44C9-83EB-00C7667B09BD}" type="presParOf" srcId="{23B28351-D39D-405E-8BFA-FD0DDC3C421B}" destId="{98DAF428-1F16-4781-BF53-E2C9DA21EB6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4845D1F-A614-4978-9447-C056F0E89C94}" type="doc">
      <dgm:prSet loTypeId="urn:microsoft.com/office/officeart/2005/8/layout/vList5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53DB5DA-8463-45A0-8F3A-F665025B822B}">
      <dgm:prSet/>
      <dgm:spPr/>
      <dgm:t>
        <a:bodyPr/>
        <a:lstStyle/>
        <a:p>
          <a:r>
            <a:rPr lang="en-SG"/>
            <a:t>Analyse Balance Sheet</a:t>
          </a:r>
          <a:endParaRPr lang="en-US"/>
        </a:p>
      </dgm:t>
    </dgm:pt>
    <dgm:pt modelId="{FC09BD22-174F-4C71-8CB5-4FE5962B32AA}" type="parTrans" cxnId="{0F625C07-5A4E-402D-837D-0983E6C6CE24}">
      <dgm:prSet/>
      <dgm:spPr/>
      <dgm:t>
        <a:bodyPr/>
        <a:lstStyle/>
        <a:p>
          <a:endParaRPr lang="en-US"/>
        </a:p>
      </dgm:t>
    </dgm:pt>
    <dgm:pt modelId="{E56BAC11-0897-499B-A605-0CEB34233804}" type="sibTrans" cxnId="{0F625C07-5A4E-402D-837D-0983E6C6CE24}">
      <dgm:prSet/>
      <dgm:spPr/>
      <dgm:t>
        <a:bodyPr/>
        <a:lstStyle/>
        <a:p>
          <a:endParaRPr lang="en-US"/>
        </a:p>
      </dgm:t>
    </dgm:pt>
    <dgm:pt modelId="{EB381D6B-2582-45E3-9083-3EB46EC1A163}">
      <dgm:prSet/>
      <dgm:spPr/>
      <dgm:t>
        <a:bodyPr/>
        <a:lstStyle/>
        <a:p>
          <a:r>
            <a:rPr lang="en-SG"/>
            <a:t>Analyse Income Statement</a:t>
          </a:r>
          <a:endParaRPr lang="en-US"/>
        </a:p>
      </dgm:t>
    </dgm:pt>
    <dgm:pt modelId="{1DE35D77-BD61-4854-A949-A1520EE022A1}" type="parTrans" cxnId="{96474AE4-71E6-4BEF-AFD2-D4D98EDB12CB}">
      <dgm:prSet/>
      <dgm:spPr/>
      <dgm:t>
        <a:bodyPr/>
        <a:lstStyle/>
        <a:p>
          <a:endParaRPr lang="en-US"/>
        </a:p>
      </dgm:t>
    </dgm:pt>
    <dgm:pt modelId="{3DC9D060-DE8E-4CB6-B36F-A920CE91A135}" type="sibTrans" cxnId="{96474AE4-71E6-4BEF-AFD2-D4D98EDB12CB}">
      <dgm:prSet/>
      <dgm:spPr/>
      <dgm:t>
        <a:bodyPr/>
        <a:lstStyle/>
        <a:p>
          <a:endParaRPr lang="en-US"/>
        </a:p>
      </dgm:t>
    </dgm:pt>
    <dgm:pt modelId="{B6EB7ADD-D993-4795-B9C5-F2CCC9C7C3AE}">
      <dgm:prSet/>
      <dgm:spPr/>
      <dgm:t>
        <a:bodyPr/>
        <a:lstStyle/>
        <a:p>
          <a:r>
            <a:rPr lang="en-SG"/>
            <a:t>Analyse Cash Flow Statement</a:t>
          </a:r>
          <a:endParaRPr lang="en-US"/>
        </a:p>
      </dgm:t>
    </dgm:pt>
    <dgm:pt modelId="{9E2AF173-7A7E-4EC1-947C-C51250EE91DC}" type="parTrans" cxnId="{F08F7B82-3767-49D4-9420-BB7D2D19D7C1}">
      <dgm:prSet/>
      <dgm:spPr/>
      <dgm:t>
        <a:bodyPr/>
        <a:lstStyle/>
        <a:p>
          <a:endParaRPr lang="en-US"/>
        </a:p>
      </dgm:t>
    </dgm:pt>
    <dgm:pt modelId="{BE006186-1ECE-4D32-A58F-209C1A2C0FD8}" type="sibTrans" cxnId="{F08F7B82-3767-49D4-9420-BB7D2D19D7C1}">
      <dgm:prSet/>
      <dgm:spPr/>
      <dgm:t>
        <a:bodyPr/>
        <a:lstStyle/>
        <a:p>
          <a:endParaRPr lang="en-US"/>
        </a:p>
      </dgm:t>
    </dgm:pt>
    <dgm:pt modelId="{ABD59272-B01A-41DC-8741-E7C533F398DC}">
      <dgm:prSet/>
      <dgm:spPr/>
      <dgm:t>
        <a:bodyPr/>
        <a:lstStyle/>
        <a:p>
          <a:r>
            <a:rPr lang="en-SG"/>
            <a:t>Financial Ratio Analysis</a:t>
          </a:r>
          <a:endParaRPr lang="en-US"/>
        </a:p>
      </dgm:t>
    </dgm:pt>
    <dgm:pt modelId="{028F9A1E-5A4B-40B7-A1AB-F05C4D2AEFE6}" type="parTrans" cxnId="{39683F21-0C05-402A-A5EC-F4D868CE7C23}">
      <dgm:prSet/>
      <dgm:spPr/>
      <dgm:t>
        <a:bodyPr/>
        <a:lstStyle/>
        <a:p>
          <a:endParaRPr lang="en-US"/>
        </a:p>
      </dgm:t>
    </dgm:pt>
    <dgm:pt modelId="{55C59008-3543-4AC2-9FD3-BF3C5786B21A}" type="sibTrans" cxnId="{39683F21-0C05-402A-A5EC-F4D868CE7C23}">
      <dgm:prSet/>
      <dgm:spPr/>
      <dgm:t>
        <a:bodyPr/>
        <a:lstStyle/>
        <a:p>
          <a:endParaRPr lang="en-US"/>
        </a:p>
      </dgm:t>
    </dgm:pt>
    <dgm:pt modelId="{EC65DB0B-9380-4190-B497-600623735B4B}" type="pres">
      <dgm:prSet presAssocID="{24845D1F-A614-4978-9447-C056F0E89C94}" presName="Name0" presStyleCnt="0">
        <dgm:presLayoutVars>
          <dgm:dir/>
          <dgm:animLvl val="lvl"/>
          <dgm:resizeHandles val="exact"/>
        </dgm:presLayoutVars>
      </dgm:prSet>
      <dgm:spPr/>
    </dgm:pt>
    <dgm:pt modelId="{81C75F2D-9784-4402-9017-C628BE4FD8B0}" type="pres">
      <dgm:prSet presAssocID="{953DB5DA-8463-45A0-8F3A-F665025B822B}" presName="linNode" presStyleCnt="0"/>
      <dgm:spPr/>
    </dgm:pt>
    <dgm:pt modelId="{87C0B48E-3029-4996-B330-14D761D1832F}" type="pres">
      <dgm:prSet presAssocID="{953DB5DA-8463-45A0-8F3A-F665025B822B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DE2A7CB8-3927-4E88-ABF0-939B35E05632}" type="pres">
      <dgm:prSet presAssocID="{E56BAC11-0897-499B-A605-0CEB34233804}" presName="sp" presStyleCnt="0"/>
      <dgm:spPr/>
    </dgm:pt>
    <dgm:pt modelId="{A043F2EC-C72D-4047-8A90-4D073A3833DB}" type="pres">
      <dgm:prSet presAssocID="{EB381D6B-2582-45E3-9083-3EB46EC1A163}" presName="linNode" presStyleCnt="0"/>
      <dgm:spPr/>
    </dgm:pt>
    <dgm:pt modelId="{7480998F-B403-4035-BAED-BD8C0B3FC93E}" type="pres">
      <dgm:prSet presAssocID="{EB381D6B-2582-45E3-9083-3EB46EC1A163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D8E2C993-FE49-42B2-8FDE-8FB5B0581F35}" type="pres">
      <dgm:prSet presAssocID="{3DC9D060-DE8E-4CB6-B36F-A920CE91A135}" presName="sp" presStyleCnt="0"/>
      <dgm:spPr/>
    </dgm:pt>
    <dgm:pt modelId="{45EAD5EF-7E7D-4AC9-9D7D-175CF5E1153B}" type="pres">
      <dgm:prSet presAssocID="{B6EB7ADD-D993-4795-B9C5-F2CCC9C7C3AE}" presName="linNode" presStyleCnt="0"/>
      <dgm:spPr/>
    </dgm:pt>
    <dgm:pt modelId="{DA2EB527-FACB-4B51-B065-8B937B3917A9}" type="pres">
      <dgm:prSet presAssocID="{B6EB7ADD-D993-4795-B9C5-F2CCC9C7C3AE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41438648-8F79-48EB-AA01-155ED068F504}" type="pres">
      <dgm:prSet presAssocID="{BE006186-1ECE-4D32-A58F-209C1A2C0FD8}" presName="sp" presStyleCnt="0"/>
      <dgm:spPr/>
    </dgm:pt>
    <dgm:pt modelId="{7F05281A-8A64-4528-8524-2555A18CE7D9}" type="pres">
      <dgm:prSet presAssocID="{ABD59272-B01A-41DC-8741-E7C533F398DC}" presName="linNode" presStyleCnt="0"/>
      <dgm:spPr/>
    </dgm:pt>
    <dgm:pt modelId="{36CCC1C5-68BA-4050-8CC9-373F95B2D7F7}" type="pres">
      <dgm:prSet presAssocID="{ABD59272-B01A-41DC-8741-E7C533F398DC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0F625C07-5A4E-402D-837D-0983E6C6CE24}" srcId="{24845D1F-A614-4978-9447-C056F0E89C94}" destId="{953DB5DA-8463-45A0-8F3A-F665025B822B}" srcOrd="0" destOrd="0" parTransId="{FC09BD22-174F-4C71-8CB5-4FE5962B32AA}" sibTransId="{E56BAC11-0897-499B-A605-0CEB34233804}"/>
    <dgm:cxn modelId="{39683F21-0C05-402A-A5EC-F4D868CE7C23}" srcId="{24845D1F-A614-4978-9447-C056F0E89C94}" destId="{ABD59272-B01A-41DC-8741-E7C533F398DC}" srcOrd="3" destOrd="0" parTransId="{028F9A1E-5A4B-40B7-A1AB-F05C4D2AEFE6}" sibTransId="{55C59008-3543-4AC2-9FD3-BF3C5786B21A}"/>
    <dgm:cxn modelId="{A03FFB55-0496-46F7-B23A-06F5A9C9E05F}" type="presOf" srcId="{24845D1F-A614-4978-9447-C056F0E89C94}" destId="{EC65DB0B-9380-4190-B497-600623735B4B}" srcOrd="0" destOrd="0" presId="urn:microsoft.com/office/officeart/2005/8/layout/vList5"/>
    <dgm:cxn modelId="{C89FCD56-7DE9-4802-B3AA-8601DBD448A0}" type="presOf" srcId="{EB381D6B-2582-45E3-9083-3EB46EC1A163}" destId="{7480998F-B403-4035-BAED-BD8C0B3FC93E}" srcOrd="0" destOrd="0" presId="urn:microsoft.com/office/officeart/2005/8/layout/vList5"/>
    <dgm:cxn modelId="{220BD069-73F6-4A37-BB34-3C6579D05F8A}" type="presOf" srcId="{953DB5DA-8463-45A0-8F3A-F665025B822B}" destId="{87C0B48E-3029-4996-B330-14D761D1832F}" srcOrd="0" destOrd="0" presId="urn:microsoft.com/office/officeart/2005/8/layout/vList5"/>
    <dgm:cxn modelId="{F08F7B82-3767-49D4-9420-BB7D2D19D7C1}" srcId="{24845D1F-A614-4978-9447-C056F0E89C94}" destId="{B6EB7ADD-D993-4795-B9C5-F2CCC9C7C3AE}" srcOrd="2" destOrd="0" parTransId="{9E2AF173-7A7E-4EC1-947C-C51250EE91DC}" sibTransId="{BE006186-1ECE-4D32-A58F-209C1A2C0FD8}"/>
    <dgm:cxn modelId="{3EAB2189-CE4D-431F-9B09-83BA2C1A5D97}" type="presOf" srcId="{ABD59272-B01A-41DC-8741-E7C533F398DC}" destId="{36CCC1C5-68BA-4050-8CC9-373F95B2D7F7}" srcOrd="0" destOrd="0" presId="urn:microsoft.com/office/officeart/2005/8/layout/vList5"/>
    <dgm:cxn modelId="{87EA1DC9-B031-4CFE-A353-9F4859E37F81}" type="presOf" srcId="{B6EB7ADD-D993-4795-B9C5-F2CCC9C7C3AE}" destId="{DA2EB527-FACB-4B51-B065-8B937B3917A9}" srcOrd="0" destOrd="0" presId="urn:microsoft.com/office/officeart/2005/8/layout/vList5"/>
    <dgm:cxn modelId="{96474AE4-71E6-4BEF-AFD2-D4D98EDB12CB}" srcId="{24845D1F-A614-4978-9447-C056F0E89C94}" destId="{EB381D6B-2582-45E3-9083-3EB46EC1A163}" srcOrd="1" destOrd="0" parTransId="{1DE35D77-BD61-4854-A949-A1520EE022A1}" sibTransId="{3DC9D060-DE8E-4CB6-B36F-A920CE91A135}"/>
    <dgm:cxn modelId="{E2172C73-F25B-424C-B7EF-831317C124D2}" type="presParOf" srcId="{EC65DB0B-9380-4190-B497-600623735B4B}" destId="{81C75F2D-9784-4402-9017-C628BE4FD8B0}" srcOrd="0" destOrd="0" presId="urn:microsoft.com/office/officeart/2005/8/layout/vList5"/>
    <dgm:cxn modelId="{4D65FF80-B1D6-4CD6-8930-B393A0A80677}" type="presParOf" srcId="{81C75F2D-9784-4402-9017-C628BE4FD8B0}" destId="{87C0B48E-3029-4996-B330-14D761D1832F}" srcOrd="0" destOrd="0" presId="urn:microsoft.com/office/officeart/2005/8/layout/vList5"/>
    <dgm:cxn modelId="{A1B9CC60-5F0E-4265-A500-A5016F250C4E}" type="presParOf" srcId="{EC65DB0B-9380-4190-B497-600623735B4B}" destId="{DE2A7CB8-3927-4E88-ABF0-939B35E05632}" srcOrd="1" destOrd="0" presId="urn:microsoft.com/office/officeart/2005/8/layout/vList5"/>
    <dgm:cxn modelId="{F80B3679-834A-4010-9182-71896E8C334F}" type="presParOf" srcId="{EC65DB0B-9380-4190-B497-600623735B4B}" destId="{A043F2EC-C72D-4047-8A90-4D073A3833DB}" srcOrd="2" destOrd="0" presId="urn:microsoft.com/office/officeart/2005/8/layout/vList5"/>
    <dgm:cxn modelId="{173C0853-06B5-47ED-AD4B-1CD8A394D66E}" type="presParOf" srcId="{A043F2EC-C72D-4047-8A90-4D073A3833DB}" destId="{7480998F-B403-4035-BAED-BD8C0B3FC93E}" srcOrd="0" destOrd="0" presId="urn:microsoft.com/office/officeart/2005/8/layout/vList5"/>
    <dgm:cxn modelId="{F8CBB8CF-9A69-4704-83FF-D536D803BB91}" type="presParOf" srcId="{EC65DB0B-9380-4190-B497-600623735B4B}" destId="{D8E2C993-FE49-42B2-8FDE-8FB5B0581F35}" srcOrd="3" destOrd="0" presId="urn:microsoft.com/office/officeart/2005/8/layout/vList5"/>
    <dgm:cxn modelId="{47EB5A03-EB4D-48E6-9E8B-6EF614C4BAD5}" type="presParOf" srcId="{EC65DB0B-9380-4190-B497-600623735B4B}" destId="{45EAD5EF-7E7D-4AC9-9D7D-175CF5E1153B}" srcOrd="4" destOrd="0" presId="urn:microsoft.com/office/officeart/2005/8/layout/vList5"/>
    <dgm:cxn modelId="{497F61AB-482A-4A93-A45B-BD1D4809009D}" type="presParOf" srcId="{45EAD5EF-7E7D-4AC9-9D7D-175CF5E1153B}" destId="{DA2EB527-FACB-4B51-B065-8B937B3917A9}" srcOrd="0" destOrd="0" presId="urn:microsoft.com/office/officeart/2005/8/layout/vList5"/>
    <dgm:cxn modelId="{F77145B7-B2EA-4C25-AE69-07ED23A05F06}" type="presParOf" srcId="{EC65DB0B-9380-4190-B497-600623735B4B}" destId="{41438648-8F79-48EB-AA01-155ED068F504}" srcOrd="5" destOrd="0" presId="urn:microsoft.com/office/officeart/2005/8/layout/vList5"/>
    <dgm:cxn modelId="{E4984F48-E181-42F0-A160-6C33412B2A40}" type="presParOf" srcId="{EC65DB0B-9380-4190-B497-600623735B4B}" destId="{7F05281A-8A64-4528-8524-2555A18CE7D9}" srcOrd="6" destOrd="0" presId="urn:microsoft.com/office/officeart/2005/8/layout/vList5"/>
    <dgm:cxn modelId="{565912CC-B578-4CEC-BDA6-BB953F59F9BA}" type="presParOf" srcId="{7F05281A-8A64-4528-8524-2555A18CE7D9}" destId="{36CCC1C5-68BA-4050-8CC9-373F95B2D7F7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B456674-244A-49C3-AE0A-98AEC795FFA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B32C6A4-02DD-437D-B853-E663BA9AF5B7}">
      <dgm:prSet/>
      <dgm:spPr/>
      <dgm:t>
        <a:bodyPr/>
        <a:lstStyle/>
        <a:p>
          <a:r>
            <a:rPr lang="en-SG"/>
            <a:t>Compare ratios of the company with leading competitors</a:t>
          </a:r>
          <a:endParaRPr lang="en-US"/>
        </a:p>
      </dgm:t>
    </dgm:pt>
    <dgm:pt modelId="{7630C153-B349-4905-86E6-21D39B8AE572}" type="parTrans" cxnId="{70B80926-B9F0-44FA-9E4F-A8332AAAA7C6}">
      <dgm:prSet/>
      <dgm:spPr/>
      <dgm:t>
        <a:bodyPr/>
        <a:lstStyle/>
        <a:p>
          <a:endParaRPr lang="en-US"/>
        </a:p>
      </dgm:t>
    </dgm:pt>
    <dgm:pt modelId="{6E6AB0A9-348F-42A7-BD20-3FF9ADFFC639}" type="sibTrans" cxnId="{70B80926-B9F0-44FA-9E4F-A8332AAAA7C6}">
      <dgm:prSet/>
      <dgm:spPr/>
      <dgm:t>
        <a:bodyPr/>
        <a:lstStyle/>
        <a:p>
          <a:endParaRPr lang="en-US"/>
        </a:p>
      </dgm:t>
    </dgm:pt>
    <dgm:pt modelId="{248090D1-D21B-4F3E-9854-DA622A8F1699}">
      <dgm:prSet/>
      <dgm:spPr/>
      <dgm:t>
        <a:bodyPr/>
        <a:lstStyle/>
        <a:p>
          <a:r>
            <a:rPr lang="en-SG"/>
            <a:t>Compare ratios with industry average</a:t>
          </a:r>
          <a:endParaRPr lang="en-US"/>
        </a:p>
      </dgm:t>
    </dgm:pt>
    <dgm:pt modelId="{1AF22753-15F4-4D78-B3E2-17F5A5315CC5}" type="parTrans" cxnId="{0A367A26-25A3-4D9D-9DF2-97392FAA040E}">
      <dgm:prSet/>
      <dgm:spPr/>
      <dgm:t>
        <a:bodyPr/>
        <a:lstStyle/>
        <a:p>
          <a:endParaRPr lang="en-US"/>
        </a:p>
      </dgm:t>
    </dgm:pt>
    <dgm:pt modelId="{0E8ECD26-465B-4D0C-8A9D-F72B7D736031}" type="sibTrans" cxnId="{0A367A26-25A3-4D9D-9DF2-97392FAA040E}">
      <dgm:prSet/>
      <dgm:spPr/>
      <dgm:t>
        <a:bodyPr/>
        <a:lstStyle/>
        <a:p>
          <a:endParaRPr lang="en-US"/>
        </a:p>
      </dgm:t>
    </dgm:pt>
    <dgm:pt modelId="{99BAA7ED-278C-4A2D-8BC1-DD6201D5CB81}" type="pres">
      <dgm:prSet presAssocID="{0B456674-244A-49C3-AE0A-98AEC795FFA5}" presName="linear" presStyleCnt="0">
        <dgm:presLayoutVars>
          <dgm:animLvl val="lvl"/>
          <dgm:resizeHandles val="exact"/>
        </dgm:presLayoutVars>
      </dgm:prSet>
      <dgm:spPr/>
    </dgm:pt>
    <dgm:pt modelId="{99B06EFD-5F40-4C9E-B47B-7D0A7C9AC164}" type="pres">
      <dgm:prSet presAssocID="{EB32C6A4-02DD-437D-B853-E663BA9AF5B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67E8BC8-C4D1-4CB7-9EAA-509BACF4CB4B}" type="pres">
      <dgm:prSet presAssocID="{6E6AB0A9-348F-42A7-BD20-3FF9ADFFC639}" presName="spacer" presStyleCnt="0"/>
      <dgm:spPr/>
    </dgm:pt>
    <dgm:pt modelId="{4592DC1A-97FE-4697-AD5E-60A0915E176A}" type="pres">
      <dgm:prSet presAssocID="{248090D1-D21B-4F3E-9854-DA622A8F169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0FEC622-F7C4-48ED-B1FE-8DE2656A0466}" type="presOf" srcId="{248090D1-D21B-4F3E-9854-DA622A8F1699}" destId="{4592DC1A-97FE-4697-AD5E-60A0915E176A}" srcOrd="0" destOrd="0" presId="urn:microsoft.com/office/officeart/2005/8/layout/vList2"/>
    <dgm:cxn modelId="{70B80926-B9F0-44FA-9E4F-A8332AAAA7C6}" srcId="{0B456674-244A-49C3-AE0A-98AEC795FFA5}" destId="{EB32C6A4-02DD-437D-B853-E663BA9AF5B7}" srcOrd="0" destOrd="0" parTransId="{7630C153-B349-4905-86E6-21D39B8AE572}" sibTransId="{6E6AB0A9-348F-42A7-BD20-3FF9ADFFC639}"/>
    <dgm:cxn modelId="{0A367A26-25A3-4D9D-9DF2-97392FAA040E}" srcId="{0B456674-244A-49C3-AE0A-98AEC795FFA5}" destId="{248090D1-D21B-4F3E-9854-DA622A8F1699}" srcOrd="1" destOrd="0" parTransId="{1AF22753-15F4-4D78-B3E2-17F5A5315CC5}" sibTransId="{0E8ECD26-465B-4D0C-8A9D-F72B7D736031}"/>
    <dgm:cxn modelId="{A304DCA7-00B0-4761-8E1E-D0411BA4294F}" type="presOf" srcId="{EB32C6A4-02DD-437D-B853-E663BA9AF5B7}" destId="{99B06EFD-5F40-4C9E-B47B-7D0A7C9AC164}" srcOrd="0" destOrd="0" presId="urn:microsoft.com/office/officeart/2005/8/layout/vList2"/>
    <dgm:cxn modelId="{09746FCE-3A29-443A-B851-9859AFEF31B2}" type="presOf" srcId="{0B456674-244A-49C3-AE0A-98AEC795FFA5}" destId="{99BAA7ED-278C-4A2D-8BC1-DD6201D5CB81}" srcOrd="0" destOrd="0" presId="urn:microsoft.com/office/officeart/2005/8/layout/vList2"/>
    <dgm:cxn modelId="{C644635B-B26D-43EE-9F56-F8F87E8F80F8}" type="presParOf" srcId="{99BAA7ED-278C-4A2D-8BC1-DD6201D5CB81}" destId="{99B06EFD-5F40-4C9E-B47B-7D0A7C9AC164}" srcOrd="0" destOrd="0" presId="urn:microsoft.com/office/officeart/2005/8/layout/vList2"/>
    <dgm:cxn modelId="{5F98B5EC-C47B-4F59-9AE0-C19A88595815}" type="presParOf" srcId="{99BAA7ED-278C-4A2D-8BC1-DD6201D5CB81}" destId="{B67E8BC8-C4D1-4CB7-9EAA-509BACF4CB4B}" srcOrd="1" destOrd="0" presId="urn:microsoft.com/office/officeart/2005/8/layout/vList2"/>
    <dgm:cxn modelId="{64863D6C-2A2A-47EA-81C7-97EEF8524C6D}" type="presParOf" srcId="{99BAA7ED-278C-4A2D-8BC1-DD6201D5CB81}" destId="{4592DC1A-97FE-4697-AD5E-60A0915E176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66101899-704B-4E3E-B581-7D86ACDA552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C572EB-E4DE-49D9-9AEA-DD4748BAB508}">
      <dgm:prSet/>
      <dgm:spPr/>
      <dgm:t>
        <a:bodyPr/>
        <a:lstStyle/>
        <a:p>
          <a:r>
            <a:rPr lang="en-SG"/>
            <a:t>Payback Period</a:t>
          </a:r>
          <a:endParaRPr lang="en-US"/>
        </a:p>
      </dgm:t>
    </dgm:pt>
    <dgm:pt modelId="{F0DE3536-A074-4EC4-8DAA-3084CA099504}" type="parTrans" cxnId="{1B5BBEC8-08E8-4C48-A486-FDD0E1212A86}">
      <dgm:prSet/>
      <dgm:spPr/>
      <dgm:t>
        <a:bodyPr/>
        <a:lstStyle/>
        <a:p>
          <a:endParaRPr lang="en-US"/>
        </a:p>
      </dgm:t>
    </dgm:pt>
    <dgm:pt modelId="{C3F95725-83E2-4AA9-9A57-E51BAD4AD9B6}" type="sibTrans" cxnId="{1B5BBEC8-08E8-4C48-A486-FDD0E1212A86}">
      <dgm:prSet/>
      <dgm:spPr/>
      <dgm:t>
        <a:bodyPr/>
        <a:lstStyle/>
        <a:p>
          <a:endParaRPr lang="en-US"/>
        </a:p>
      </dgm:t>
    </dgm:pt>
    <dgm:pt modelId="{5E551600-9A69-4105-8959-2F625E898369}">
      <dgm:prSet/>
      <dgm:spPr/>
      <dgm:t>
        <a:bodyPr/>
        <a:lstStyle/>
        <a:p>
          <a:r>
            <a:rPr lang="en-SG"/>
            <a:t>Discounted Payback Period</a:t>
          </a:r>
          <a:endParaRPr lang="en-US"/>
        </a:p>
      </dgm:t>
    </dgm:pt>
    <dgm:pt modelId="{23A312F9-DB2E-4D99-8833-D54D715C102D}" type="parTrans" cxnId="{4A57A222-66BE-4CE9-A990-A2D6456DF889}">
      <dgm:prSet/>
      <dgm:spPr/>
      <dgm:t>
        <a:bodyPr/>
        <a:lstStyle/>
        <a:p>
          <a:endParaRPr lang="en-US"/>
        </a:p>
      </dgm:t>
    </dgm:pt>
    <dgm:pt modelId="{8FE0559C-2C96-4F5B-B076-F92E5D2C77F4}" type="sibTrans" cxnId="{4A57A222-66BE-4CE9-A990-A2D6456DF889}">
      <dgm:prSet/>
      <dgm:spPr/>
      <dgm:t>
        <a:bodyPr/>
        <a:lstStyle/>
        <a:p>
          <a:endParaRPr lang="en-US"/>
        </a:p>
      </dgm:t>
    </dgm:pt>
    <dgm:pt modelId="{C42EC76B-0C99-4D9F-900F-2EE12A67AFAE}">
      <dgm:prSet/>
      <dgm:spPr/>
      <dgm:t>
        <a:bodyPr/>
        <a:lstStyle/>
        <a:p>
          <a:r>
            <a:rPr lang="en-SG"/>
            <a:t>Net Present Value</a:t>
          </a:r>
          <a:endParaRPr lang="en-US"/>
        </a:p>
      </dgm:t>
    </dgm:pt>
    <dgm:pt modelId="{CC6F284A-1C56-4CE6-AF17-5C66766DBE78}" type="parTrans" cxnId="{A3E169E0-1073-4721-AD3A-665E18597EEB}">
      <dgm:prSet/>
      <dgm:spPr/>
      <dgm:t>
        <a:bodyPr/>
        <a:lstStyle/>
        <a:p>
          <a:endParaRPr lang="en-US"/>
        </a:p>
      </dgm:t>
    </dgm:pt>
    <dgm:pt modelId="{AA47DE05-BB22-4739-9AD0-63621A8D0687}" type="sibTrans" cxnId="{A3E169E0-1073-4721-AD3A-665E18597EEB}">
      <dgm:prSet/>
      <dgm:spPr/>
      <dgm:t>
        <a:bodyPr/>
        <a:lstStyle/>
        <a:p>
          <a:endParaRPr lang="en-US"/>
        </a:p>
      </dgm:t>
    </dgm:pt>
    <dgm:pt modelId="{58859BAA-1110-4100-8515-3CE563C049FF}">
      <dgm:prSet/>
      <dgm:spPr/>
      <dgm:t>
        <a:bodyPr/>
        <a:lstStyle/>
        <a:p>
          <a:r>
            <a:rPr lang="en-SG"/>
            <a:t>Profitability Index</a:t>
          </a:r>
          <a:endParaRPr lang="en-US"/>
        </a:p>
      </dgm:t>
    </dgm:pt>
    <dgm:pt modelId="{56C555D0-78EA-4CDA-9601-2D47887C8F72}" type="parTrans" cxnId="{CADE254A-B5E0-4C93-A85D-7FFE3ADA14E8}">
      <dgm:prSet/>
      <dgm:spPr/>
      <dgm:t>
        <a:bodyPr/>
        <a:lstStyle/>
        <a:p>
          <a:endParaRPr lang="en-US"/>
        </a:p>
      </dgm:t>
    </dgm:pt>
    <dgm:pt modelId="{4600FEF1-AEDE-4ED0-B2D5-B11F6A279DE2}" type="sibTrans" cxnId="{CADE254A-B5E0-4C93-A85D-7FFE3ADA14E8}">
      <dgm:prSet/>
      <dgm:spPr/>
      <dgm:t>
        <a:bodyPr/>
        <a:lstStyle/>
        <a:p>
          <a:endParaRPr lang="en-US"/>
        </a:p>
      </dgm:t>
    </dgm:pt>
    <dgm:pt modelId="{60C10B23-52D0-48BF-8BCF-CAF65FF1AAC8}">
      <dgm:prSet/>
      <dgm:spPr/>
      <dgm:t>
        <a:bodyPr/>
        <a:lstStyle/>
        <a:p>
          <a:r>
            <a:rPr lang="en-SG"/>
            <a:t>Internal Rate of Return</a:t>
          </a:r>
          <a:endParaRPr lang="en-US"/>
        </a:p>
      </dgm:t>
    </dgm:pt>
    <dgm:pt modelId="{85FE3632-B25A-4882-AE80-96E90D274707}" type="parTrans" cxnId="{C64C01A5-C179-49EA-BB7F-971646B141EB}">
      <dgm:prSet/>
      <dgm:spPr/>
      <dgm:t>
        <a:bodyPr/>
        <a:lstStyle/>
        <a:p>
          <a:endParaRPr lang="en-US"/>
        </a:p>
      </dgm:t>
    </dgm:pt>
    <dgm:pt modelId="{3F540FC9-0262-4E13-9778-7D9985E7B54D}" type="sibTrans" cxnId="{C64C01A5-C179-49EA-BB7F-971646B141EB}">
      <dgm:prSet/>
      <dgm:spPr/>
      <dgm:t>
        <a:bodyPr/>
        <a:lstStyle/>
        <a:p>
          <a:endParaRPr lang="en-US"/>
        </a:p>
      </dgm:t>
    </dgm:pt>
    <dgm:pt modelId="{2BDAA2BD-DDA4-4A78-A24F-42C8F77E66CC}" type="pres">
      <dgm:prSet presAssocID="{66101899-704B-4E3E-B581-7D86ACDA5527}" presName="vert0" presStyleCnt="0">
        <dgm:presLayoutVars>
          <dgm:dir/>
          <dgm:animOne val="branch"/>
          <dgm:animLvl val="lvl"/>
        </dgm:presLayoutVars>
      </dgm:prSet>
      <dgm:spPr/>
    </dgm:pt>
    <dgm:pt modelId="{8F10328D-624B-47F8-B27B-A26630C499A5}" type="pres">
      <dgm:prSet presAssocID="{D4C572EB-E4DE-49D9-9AEA-DD4748BAB508}" presName="thickLine" presStyleLbl="alignNode1" presStyleIdx="0" presStyleCnt="5"/>
      <dgm:spPr/>
    </dgm:pt>
    <dgm:pt modelId="{BAD5EAC9-084C-4833-A32E-216530AD9A9A}" type="pres">
      <dgm:prSet presAssocID="{D4C572EB-E4DE-49D9-9AEA-DD4748BAB508}" presName="horz1" presStyleCnt="0"/>
      <dgm:spPr/>
    </dgm:pt>
    <dgm:pt modelId="{8A8A0730-236A-4498-BF69-5669571C93F9}" type="pres">
      <dgm:prSet presAssocID="{D4C572EB-E4DE-49D9-9AEA-DD4748BAB508}" presName="tx1" presStyleLbl="revTx" presStyleIdx="0" presStyleCnt="5"/>
      <dgm:spPr/>
    </dgm:pt>
    <dgm:pt modelId="{D18DC36A-D067-4579-A483-46C20A7C04A3}" type="pres">
      <dgm:prSet presAssocID="{D4C572EB-E4DE-49D9-9AEA-DD4748BAB508}" presName="vert1" presStyleCnt="0"/>
      <dgm:spPr/>
    </dgm:pt>
    <dgm:pt modelId="{5275467F-563E-4C56-A1BB-EC2E3D69BC1E}" type="pres">
      <dgm:prSet presAssocID="{5E551600-9A69-4105-8959-2F625E898369}" presName="thickLine" presStyleLbl="alignNode1" presStyleIdx="1" presStyleCnt="5"/>
      <dgm:spPr/>
    </dgm:pt>
    <dgm:pt modelId="{F65876C1-284F-449E-82E7-F91CE02E9C36}" type="pres">
      <dgm:prSet presAssocID="{5E551600-9A69-4105-8959-2F625E898369}" presName="horz1" presStyleCnt="0"/>
      <dgm:spPr/>
    </dgm:pt>
    <dgm:pt modelId="{041A3AD4-C8BF-4D70-98F4-B40BC224B4DA}" type="pres">
      <dgm:prSet presAssocID="{5E551600-9A69-4105-8959-2F625E898369}" presName="tx1" presStyleLbl="revTx" presStyleIdx="1" presStyleCnt="5"/>
      <dgm:spPr/>
    </dgm:pt>
    <dgm:pt modelId="{1D77C531-3BB0-446A-860B-6097F9E0E527}" type="pres">
      <dgm:prSet presAssocID="{5E551600-9A69-4105-8959-2F625E898369}" presName="vert1" presStyleCnt="0"/>
      <dgm:spPr/>
    </dgm:pt>
    <dgm:pt modelId="{55E2E29E-8C70-47D3-BAF0-4027159A002C}" type="pres">
      <dgm:prSet presAssocID="{C42EC76B-0C99-4D9F-900F-2EE12A67AFAE}" presName="thickLine" presStyleLbl="alignNode1" presStyleIdx="2" presStyleCnt="5"/>
      <dgm:spPr/>
    </dgm:pt>
    <dgm:pt modelId="{CBC4F52A-1ADB-4115-AAA9-D10E42D5492A}" type="pres">
      <dgm:prSet presAssocID="{C42EC76B-0C99-4D9F-900F-2EE12A67AFAE}" presName="horz1" presStyleCnt="0"/>
      <dgm:spPr/>
    </dgm:pt>
    <dgm:pt modelId="{2737050F-DFC7-4165-8CB8-CA03D5DD091C}" type="pres">
      <dgm:prSet presAssocID="{C42EC76B-0C99-4D9F-900F-2EE12A67AFAE}" presName="tx1" presStyleLbl="revTx" presStyleIdx="2" presStyleCnt="5"/>
      <dgm:spPr/>
    </dgm:pt>
    <dgm:pt modelId="{F33565B3-92A6-44DE-A905-E5DB4FB39ABE}" type="pres">
      <dgm:prSet presAssocID="{C42EC76B-0C99-4D9F-900F-2EE12A67AFAE}" presName="vert1" presStyleCnt="0"/>
      <dgm:spPr/>
    </dgm:pt>
    <dgm:pt modelId="{C4A444C3-E351-429C-B5E6-780D48E80ECD}" type="pres">
      <dgm:prSet presAssocID="{58859BAA-1110-4100-8515-3CE563C049FF}" presName="thickLine" presStyleLbl="alignNode1" presStyleIdx="3" presStyleCnt="5"/>
      <dgm:spPr/>
    </dgm:pt>
    <dgm:pt modelId="{E23EA791-7965-48F3-90FC-DE59B37645EB}" type="pres">
      <dgm:prSet presAssocID="{58859BAA-1110-4100-8515-3CE563C049FF}" presName="horz1" presStyleCnt="0"/>
      <dgm:spPr/>
    </dgm:pt>
    <dgm:pt modelId="{73E23CF9-5619-45D8-853C-9F5447AA6559}" type="pres">
      <dgm:prSet presAssocID="{58859BAA-1110-4100-8515-3CE563C049FF}" presName="tx1" presStyleLbl="revTx" presStyleIdx="3" presStyleCnt="5"/>
      <dgm:spPr/>
    </dgm:pt>
    <dgm:pt modelId="{CBEAC7BF-90A6-45DB-9A91-B88F3BD4DD02}" type="pres">
      <dgm:prSet presAssocID="{58859BAA-1110-4100-8515-3CE563C049FF}" presName="vert1" presStyleCnt="0"/>
      <dgm:spPr/>
    </dgm:pt>
    <dgm:pt modelId="{65894FEF-BCFA-4D73-9EFB-022022BCECA0}" type="pres">
      <dgm:prSet presAssocID="{60C10B23-52D0-48BF-8BCF-CAF65FF1AAC8}" presName="thickLine" presStyleLbl="alignNode1" presStyleIdx="4" presStyleCnt="5"/>
      <dgm:spPr/>
    </dgm:pt>
    <dgm:pt modelId="{30C8525A-0928-4CC4-A69A-EA57E468836D}" type="pres">
      <dgm:prSet presAssocID="{60C10B23-52D0-48BF-8BCF-CAF65FF1AAC8}" presName="horz1" presStyleCnt="0"/>
      <dgm:spPr/>
    </dgm:pt>
    <dgm:pt modelId="{BAAFF5D9-B620-4D0A-9E7E-69BF60B8F028}" type="pres">
      <dgm:prSet presAssocID="{60C10B23-52D0-48BF-8BCF-CAF65FF1AAC8}" presName="tx1" presStyleLbl="revTx" presStyleIdx="4" presStyleCnt="5"/>
      <dgm:spPr/>
    </dgm:pt>
    <dgm:pt modelId="{CD643E5F-4155-4BA5-A18E-AAD2D5F9B611}" type="pres">
      <dgm:prSet presAssocID="{60C10B23-52D0-48BF-8BCF-CAF65FF1AAC8}" presName="vert1" presStyleCnt="0"/>
      <dgm:spPr/>
    </dgm:pt>
  </dgm:ptLst>
  <dgm:cxnLst>
    <dgm:cxn modelId="{CC320306-3630-4C3F-9F63-A3B6386F8EBB}" type="presOf" srcId="{D4C572EB-E4DE-49D9-9AEA-DD4748BAB508}" destId="{8A8A0730-236A-4498-BF69-5669571C93F9}" srcOrd="0" destOrd="0" presId="urn:microsoft.com/office/officeart/2008/layout/LinedList"/>
    <dgm:cxn modelId="{7915021C-F435-4DBC-B380-A263D27F6F9C}" type="presOf" srcId="{66101899-704B-4E3E-B581-7D86ACDA5527}" destId="{2BDAA2BD-DDA4-4A78-A24F-42C8F77E66CC}" srcOrd="0" destOrd="0" presId="urn:microsoft.com/office/officeart/2008/layout/LinedList"/>
    <dgm:cxn modelId="{4A57A222-66BE-4CE9-A990-A2D6456DF889}" srcId="{66101899-704B-4E3E-B581-7D86ACDA5527}" destId="{5E551600-9A69-4105-8959-2F625E898369}" srcOrd="1" destOrd="0" parTransId="{23A312F9-DB2E-4D99-8833-D54D715C102D}" sibTransId="{8FE0559C-2C96-4F5B-B076-F92E5D2C77F4}"/>
    <dgm:cxn modelId="{8E2FEF49-6DD9-4297-B594-1BFBECD00EBB}" type="presOf" srcId="{58859BAA-1110-4100-8515-3CE563C049FF}" destId="{73E23CF9-5619-45D8-853C-9F5447AA6559}" srcOrd="0" destOrd="0" presId="urn:microsoft.com/office/officeart/2008/layout/LinedList"/>
    <dgm:cxn modelId="{CADE254A-B5E0-4C93-A85D-7FFE3ADA14E8}" srcId="{66101899-704B-4E3E-B581-7D86ACDA5527}" destId="{58859BAA-1110-4100-8515-3CE563C049FF}" srcOrd="3" destOrd="0" parTransId="{56C555D0-78EA-4CDA-9601-2D47887C8F72}" sibTransId="{4600FEF1-AEDE-4ED0-B2D5-B11F6A279DE2}"/>
    <dgm:cxn modelId="{3C3B7D5E-EBB6-411B-961D-783742BE68D7}" type="presOf" srcId="{5E551600-9A69-4105-8959-2F625E898369}" destId="{041A3AD4-C8BF-4D70-98F4-B40BC224B4DA}" srcOrd="0" destOrd="0" presId="urn:microsoft.com/office/officeart/2008/layout/LinedList"/>
    <dgm:cxn modelId="{C64C01A5-C179-49EA-BB7F-971646B141EB}" srcId="{66101899-704B-4E3E-B581-7D86ACDA5527}" destId="{60C10B23-52D0-48BF-8BCF-CAF65FF1AAC8}" srcOrd="4" destOrd="0" parTransId="{85FE3632-B25A-4882-AE80-96E90D274707}" sibTransId="{3F540FC9-0262-4E13-9778-7D9985E7B54D}"/>
    <dgm:cxn modelId="{15CEC5B4-2DE8-4727-932F-6BA2A5D73314}" type="presOf" srcId="{C42EC76B-0C99-4D9F-900F-2EE12A67AFAE}" destId="{2737050F-DFC7-4165-8CB8-CA03D5DD091C}" srcOrd="0" destOrd="0" presId="urn:microsoft.com/office/officeart/2008/layout/LinedList"/>
    <dgm:cxn modelId="{1B5BBEC8-08E8-4C48-A486-FDD0E1212A86}" srcId="{66101899-704B-4E3E-B581-7D86ACDA5527}" destId="{D4C572EB-E4DE-49D9-9AEA-DD4748BAB508}" srcOrd="0" destOrd="0" parTransId="{F0DE3536-A074-4EC4-8DAA-3084CA099504}" sibTransId="{C3F95725-83E2-4AA9-9A57-E51BAD4AD9B6}"/>
    <dgm:cxn modelId="{A3E169E0-1073-4721-AD3A-665E18597EEB}" srcId="{66101899-704B-4E3E-B581-7D86ACDA5527}" destId="{C42EC76B-0C99-4D9F-900F-2EE12A67AFAE}" srcOrd="2" destOrd="0" parTransId="{CC6F284A-1C56-4CE6-AF17-5C66766DBE78}" sibTransId="{AA47DE05-BB22-4739-9AD0-63621A8D0687}"/>
    <dgm:cxn modelId="{ADDF86E4-76D2-434A-8263-6125A88297C7}" type="presOf" srcId="{60C10B23-52D0-48BF-8BCF-CAF65FF1AAC8}" destId="{BAAFF5D9-B620-4D0A-9E7E-69BF60B8F028}" srcOrd="0" destOrd="0" presId="urn:microsoft.com/office/officeart/2008/layout/LinedList"/>
    <dgm:cxn modelId="{678234A5-E7F0-4FF3-B7C7-365778F2BA62}" type="presParOf" srcId="{2BDAA2BD-DDA4-4A78-A24F-42C8F77E66CC}" destId="{8F10328D-624B-47F8-B27B-A26630C499A5}" srcOrd="0" destOrd="0" presId="urn:microsoft.com/office/officeart/2008/layout/LinedList"/>
    <dgm:cxn modelId="{9BCD51AD-4C5A-4F1C-B2E1-ED86936F3D1B}" type="presParOf" srcId="{2BDAA2BD-DDA4-4A78-A24F-42C8F77E66CC}" destId="{BAD5EAC9-084C-4833-A32E-216530AD9A9A}" srcOrd="1" destOrd="0" presId="urn:microsoft.com/office/officeart/2008/layout/LinedList"/>
    <dgm:cxn modelId="{BCF2FC25-F49C-4FED-9DDF-D390EEDC776C}" type="presParOf" srcId="{BAD5EAC9-084C-4833-A32E-216530AD9A9A}" destId="{8A8A0730-236A-4498-BF69-5669571C93F9}" srcOrd="0" destOrd="0" presId="urn:microsoft.com/office/officeart/2008/layout/LinedList"/>
    <dgm:cxn modelId="{1B65E00F-33D6-49F8-8518-519D97F8F8A0}" type="presParOf" srcId="{BAD5EAC9-084C-4833-A32E-216530AD9A9A}" destId="{D18DC36A-D067-4579-A483-46C20A7C04A3}" srcOrd="1" destOrd="0" presId="urn:microsoft.com/office/officeart/2008/layout/LinedList"/>
    <dgm:cxn modelId="{7A193BEA-987D-4759-AF2C-7B980F317EC3}" type="presParOf" srcId="{2BDAA2BD-DDA4-4A78-A24F-42C8F77E66CC}" destId="{5275467F-563E-4C56-A1BB-EC2E3D69BC1E}" srcOrd="2" destOrd="0" presId="urn:microsoft.com/office/officeart/2008/layout/LinedList"/>
    <dgm:cxn modelId="{E363ED11-07E0-4AA5-9023-ACDDBE96D320}" type="presParOf" srcId="{2BDAA2BD-DDA4-4A78-A24F-42C8F77E66CC}" destId="{F65876C1-284F-449E-82E7-F91CE02E9C36}" srcOrd="3" destOrd="0" presId="urn:microsoft.com/office/officeart/2008/layout/LinedList"/>
    <dgm:cxn modelId="{31412014-63A4-4E09-A573-6A16B75D9E7D}" type="presParOf" srcId="{F65876C1-284F-449E-82E7-F91CE02E9C36}" destId="{041A3AD4-C8BF-4D70-98F4-B40BC224B4DA}" srcOrd="0" destOrd="0" presId="urn:microsoft.com/office/officeart/2008/layout/LinedList"/>
    <dgm:cxn modelId="{AAB60D02-FEFD-4E14-A697-5267B2AB1B33}" type="presParOf" srcId="{F65876C1-284F-449E-82E7-F91CE02E9C36}" destId="{1D77C531-3BB0-446A-860B-6097F9E0E527}" srcOrd="1" destOrd="0" presId="urn:microsoft.com/office/officeart/2008/layout/LinedList"/>
    <dgm:cxn modelId="{9A78AC57-3632-426F-82E8-263A1B02DC84}" type="presParOf" srcId="{2BDAA2BD-DDA4-4A78-A24F-42C8F77E66CC}" destId="{55E2E29E-8C70-47D3-BAF0-4027159A002C}" srcOrd="4" destOrd="0" presId="urn:microsoft.com/office/officeart/2008/layout/LinedList"/>
    <dgm:cxn modelId="{2269D2BC-E002-4F29-AD1F-BCC779C094F8}" type="presParOf" srcId="{2BDAA2BD-DDA4-4A78-A24F-42C8F77E66CC}" destId="{CBC4F52A-1ADB-4115-AAA9-D10E42D5492A}" srcOrd="5" destOrd="0" presId="urn:microsoft.com/office/officeart/2008/layout/LinedList"/>
    <dgm:cxn modelId="{9D01C507-2951-4B55-825B-6B4791C31A56}" type="presParOf" srcId="{CBC4F52A-1ADB-4115-AAA9-D10E42D5492A}" destId="{2737050F-DFC7-4165-8CB8-CA03D5DD091C}" srcOrd="0" destOrd="0" presId="urn:microsoft.com/office/officeart/2008/layout/LinedList"/>
    <dgm:cxn modelId="{01F924B5-D577-4F71-81BA-9777BE65195A}" type="presParOf" srcId="{CBC4F52A-1ADB-4115-AAA9-D10E42D5492A}" destId="{F33565B3-92A6-44DE-A905-E5DB4FB39ABE}" srcOrd="1" destOrd="0" presId="urn:microsoft.com/office/officeart/2008/layout/LinedList"/>
    <dgm:cxn modelId="{21778732-9199-4CEC-B28C-B57D5129E40F}" type="presParOf" srcId="{2BDAA2BD-DDA4-4A78-A24F-42C8F77E66CC}" destId="{C4A444C3-E351-429C-B5E6-780D48E80ECD}" srcOrd="6" destOrd="0" presId="urn:microsoft.com/office/officeart/2008/layout/LinedList"/>
    <dgm:cxn modelId="{9229635C-D259-4321-9D6C-D1A4E0715EB2}" type="presParOf" srcId="{2BDAA2BD-DDA4-4A78-A24F-42C8F77E66CC}" destId="{E23EA791-7965-48F3-90FC-DE59B37645EB}" srcOrd="7" destOrd="0" presId="urn:microsoft.com/office/officeart/2008/layout/LinedList"/>
    <dgm:cxn modelId="{3DD7ED78-84A6-42D3-A856-6104A8EAFA79}" type="presParOf" srcId="{E23EA791-7965-48F3-90FC-DE59B37645EB}" destId="{73E23CF9-5619-45D8-853C-9F5447AA6559}" srcOrd="0" destOrd="0" presId="urn:microsoft.com/office/officeart/2008/layout/LinedList"/>
    <dgm:cxn modelId="{B12E601C-3354-41F9-ADC4-C9A9348ABD64}" type="presParOf" srcId="{E23EA791-7965-48F3-90FC-DE59B37645EB}" destId="{CBEAC7BF-90A6-45DB-9A91-B88F3BD4DD02}" srcOrd="1" destOrd="0" presId="urn:microsoft.com/office/officeart/2008/layout/LinedList"/>
    <dgm:cxn modelId="{0CA0345B-1236-4CB4-A024-82E6543BE913}" type="presParOf" srcId="{2BDAA2BD-DDA4-4A78-A24F-42C8F77E66CC}" destId="{65894FEF-BCFA-4D73-9EFB-022022BCECA0}" srcOrd="8" destOrd="0" presId="urn:microsoft.com/office/officeart/2008/layout/LinedList"/>
    <dgm:cxn modelId="{5AF08953-4B86-469B-A251-C6852831B8BE}" type="presParOf" srcId="{2BDAA2BD-DDA4-4A78-A24F-42C8F77E66CC}" destId="{30C8525A-0928-4CC4-A69A-EA57E468836D}" srcOrd="9" destOrd="0" presId="urn:microsoft.com/office/officeart/2008/layout/LinedList"/>
    <dgm:cxn modelId="{DB0D3082-BFF5-4F85-B388-AD55FC51B5D3}" type="presParOf" srcId="{30C8525A-0928-4CC4-A69A-EA57E468836D}" destId="{BAAFF5D9-B620-4D0A-9E7E-69BF60B8F028}" srcOrd="0" destOrd="0" presId="urn:microsoft.com/office/officeart/2008/layout/LinedList"/>
    <dgm:cxn modelId="{13D88AB5-B710-4792-A371-3FE9E8F7EA67}" type="presParOf" srcId="{30C8525A-0928-4CC4-A69A-EA57E468836D}" destId="{CD643E5F-4155-4BA5-A18E-AAD2D5F9B61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0C81D6A8-9EF3-4106-A3EE-0E23E6C98D0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3ABCD1B-51DC-4AD2-8CA9-671489D27E77}">
      <dgm:prSet/>
      <dgm:spPr/>
      <dgm:t>
        <a:bodyPr/>
        <a:lstStyle/>
        <a:p>
          <a:r>
            <a:rPr lang="en-SG"/>
            <a:t>Time to recover the original investment</a:t>
          </a:r>
          <a:endParaRPr lang="en-US"/>
        </a:p>
      </dgm:t>
    </dgm:pt>
    <dgm:pt modelId="{50894A1E-F0DE-4C61-9406-101B231A73C6}" type="parTrans" cxnId="{355C933F-2396-429E-B6C8-E0CFD610CEFF}">
      <dgm:prSet/>
      <dgm:spPr/>
      <dgm:t>
        <a:bodyPr/>
        <a:lstStyle/>
        <a:p>
          <a:endParaRPr lang="en-US"/>
        </a:p>
      </dgm:t>
    </dgm:pt>
    <dgm:pt modelId="{93E12040-1A5C-43F8-9FD1-E3DB936D3BE4}" type="sibTrans" cxnId="{355C933F-2396-429E-B6C8-E0CFD610CEFF}">
      <dgm:prSet/>
      <dgm:spPr/>
      <dgm:t>
        <a:bodyPr/>
        <a:lstStyle/>
        <a:p>
          <a:endParaRPr lang="en-US"/>
        </a:p>
      </dgm:t>
    </dgm:pt>
    <dgm:pt modelId="{ED865E62-F166-4965-A1CD-4C098B609E31}">
      <dgm:prSet/>
      <dgm:spPr/>
      <dgm:t>
        <a:bodyPr/>
        <a:lstStyle/>
        <a:p>
          <a:r>
            <a:rPr lang="en-SG"/>
            <a:t>Does not include cash flows beyond payback period</a:t>
          </a:r>
          <a:endParaRPr lang="en-US"/>
        </a:p>
      </dgm:t>
    </dgm:pt>
    <dgm:pt modelId="{DC580DA1-8618-473F-88B4-46985E7E8446}" type="parTrans" cxnId="{A9006E13-262B-4550-8915-16CB28110C31}">
      <dgm:prSet/>
      <dgm:spPr/>
      <dgm:t>
        <a:bodyPr/>
        <a:lstStyle/>
        <a:p>
          <a:endParaRPr lang="en-US"/>
        </a:p>
      </dgm:t>
    </dgm:pt>
    <dgm:pt modelId="{ADB794D3-6861-4555-9DA4-4B1DB23D23E9}" type="sibTrans" cxnId="{A9006E13-262B-4550-8915-16CB28110C31}">
      <dgm:prSet/>
      <dgm:spPr/>
      <dgm:t>
        <a:bodyPr/>
        <a:lstStyle/>
        <a:p>
          <a:endParaRPr lang="en-US"/>
        </a:p>
      </dgm:t>
    </dgm:pt>
    <dgm:pt modelId="{5D0DC8EA-15B7-4CB7-9C14-3785A7061471}">
      <dgm:prSet/>
      <dgm:spPr/>
      <dgm:t>
        <a:bodyPr/>
        <a:lstStyle/>
        <a:p>
          <a:r>
            <a:rPr lang="en-SG"/>
            <a:t>Most useful for comparing projects with almost equal lives</a:t>
          </a:r>
          <a:endParaRPr lang="en-US"/>
        </a:p>
      </dgm:t>
    </dgm:pt>
    <dgm:pt modelId="{CCA356DF-D22D-4676-9025-19343565426E}" type="parTrans" cxnId="{FC42B2B6-04AD-4CFF-903A-BA1B571F23EF}">
      <dgm:prSet/>
      <dgm:spPr/>
      <dgm:t>
        <a:bodyPr/>
        <a:lstStyle/>
        <a:p>
          <a:endParaRPr lang="en-US"/>
        </a:p>
      </dgm:t>
    </dgm:pt>
    <dgm:pt modelId="{90F15100-B67C-4F5B-836D-341896B0501D}" type="sibTrans" cxnId="{FC42B2B6-04AD-4CFF-903A-BA1B571F23EF}">
      <dgm:prSet/>
      <dgm:spPr/>
      <dgm:t>
        <a:bodyPr/>
        <a:lstStyle/>
        <a:p>
          <a:endParaRPr lang="en-US"/>
        </a:p>
      </dgm:t>
    </dgm:pt>
    <dgm:pt modelId="{91D8BF55-4D7A-451A-AE1E-66B90BBB29AF}" type="pres">
      <dgm:prSet presAssocID="{0C81D6A8-9EF3-4106-A3EE-0E23E6C98D0D}" presName="root" presStyleCnt="0">
        <dgm:presLayoutVars>
          <dgm:dir/>
          <dgm:resizeHandles val="exact"/>
        </dgm:presLayoutVars>
      </dgm:prSet>
      <dgm:spPr/>
    </dgm:pt>
    <dgm:pt modelId="{F9F90871-563D-43BE-8FDE-D17AEBEFC6B0}" type="pres">
      <dgm:prSet presAssocID="{A3ABCD1B-51DC-4AD2-8CA9-671489D27E77}" presName="compNode" presStyleCnt="0"/>
      <dgm:spPr/>
    </dgm:pt>
    <dgm:pt modelId="{9D392020-5C51-4A74-86C4-A415287F0E9B}" type="pres">
      <dgm:prSet presAssocID="{A3ABCD1B-51DC-4AD2-8CA9-671489D27E77}" presName="bgRect" presStyleLbl="bgShp" presStyleIdx="0" presStyleCnt="3"/>
      <dgm:spPr/>
    </dgm:pt>
    <dgm:pt modelId="{4FCB0E59-83B4-4EB0-A8C9-85CD1497F1B5}" type="pres">
      <dgm:prSet presAssocID="{A3ABCD1B-51DC-4AD2-8CA9-671489D27E7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72B93EF-12CB-4629-8803-A4ED327734EC}" type="pres">
      <dgm:prSet presAssocID="{A3ABCD1B-51DC-4AD2-8CA9-671489D27E77}" presName="spaceRect" presStyleCnt="0"/>
      <dgm:spPr/>
    </dgm:pt>
    <dgm:pt modelId="{B954CCE8-0F3A-4CFC-90CE-A27950A5A050}" type="pres">
      <dgm:prSet presAssocID="{A3ABCD1B-51DC-4AD2-8CA9-671489D27E77}" presName="parTx" presStyleLbl="revTx" presStyleIdx="0" presStyleCnt="3">
        <dgm:presLayoutVars>
          <dgm:chMax val="0"/>
          <dgm:chPref val="0"/>
        </dgm:presLayoutVars>
      </dgm:prSet>
      <dgm:spPr/>
    </dgm:pt>
    <dgm:pt modelId="{FCB7AAA6-D10F-4C9F-BBBF-481999BA507F}" type="pres">
      <dgm:prSet presAssocID="{93E12040-1A5C-43F8-9FD1-E3DB936D3BE4}" presName="sibTrans" presStyleCnt="0"/>
      <dgm:spPr/>
    </dgm:pt>
    <dgm:pt modelId="{91ED060D-3E75-48EC-82CF-C0B852B0A8C1}" type="pres">
      <dgm:prSet presAssocID="{ED865E62-F166-4965-A1CD-4C098B609E31}" presName="compNode" presStyleCnt="0"/>
      <dgm:spPr/>
    </dgm:pt>
    <dgm:pt modelId="{A55CDB23-C710-4163-973B-143E81299529}" type="pres">
      <dgm:prSet presAssocID="{ED865E62-F166-4965-A1CD-4C098B609E31}" presName="bgRect" presStyleLbl="bgShp" presStyleIdx="1" presStyleCnt="3"/>
      <dgm:spPr/>
    </dgm:pt>
    <dgm:pt modelId="{82D46B97-E046-4E9C-A182-57C16B9D4123}" type="pres">
      <dgm:prSet presAssocID="{ED865E62-F166-4965-A1CD-4C098B609E3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A6A4B39-D529-400E-B014-AE8A53D29095}" type="pres">
      <dgm:prSet presAssocID="{ED865E62-F166-4965-A1CD-4C098B609E31}" presName="spaceRect" presStyleCnt="0"/>
      <dgm:spPr/>
    </dgm:pt>
    <dgm:pt modelId="{607C2EB7-55F9-480B-826B-B9E8E873F2CB}" type="pres">
      <dgm:prSet presAssocID="{ED865E62-F166-4965-A1CD-4C098B609E31}" presName="parTx" presStyleLbl="revTx" presStyleIdx="1" presStyleCnt="3">
        <dgm:presLayoutVars>
          <dgm:chMax val="0"/>
          <dgm:chPref val="0"/>
        </dgm:presLayoutVars>
      </dgm:prSet>
      <dgm:spPr/>
    </dgm:pt>
    <dgm:pt modelId="{B309A7BE-6B64-4EBB-B3DB-8595B5393ABE}" type="pres">
      <dgm:prSet presAssocID="{ADB794D3-6861-4555-9DA4-4B1DB23D23E9}" presName="sibTrans" presStyleCnt="0"/>
      <dgm:spPr/>
    </dgm:pt>
    <dgm:pt modelId="{B63CFFD4-D732-4EF8-817B-05E61E16D335}" type="pres">
      <dgm:prSet presAssocID="{5D0DC8EA-15B7-4CB7-9C14-3785A7061471}" presName="compNode" presStyleCnt="0"/>
      <dgm:spPr/>
    </dgm:pt>
    <dgm:pt modelId="{DE0A7FB5-7FF4-492C-98A2-A2A6FEBCA097}" type="pres">
      <dgm:prSet presAssocID="{5D0DC8EA-15B7-4CB7-9C14-3785A7061471}" presName="bgRect" presStyleLbl="bgShp" presStyleIdx="2" presStyleCnt="3"/>
      <dgm:spPr/>
    </dgm:pt>
    <dgm:pt modelId="{06B439AB-E44B-4F1E-B6FE-9E3CAAEDFDB7}" type="pres">
      <dgm:prSet presAssocID="{5D0DC8EA-15B7-4CB7-9C14-3785A706147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CFA1732-DA6C-4F07-A1CF-8B2AC89C1BD0}" type="pres">
      <dgm:prSet presAssocID="{5D0DC8EA-15B7-4CB7-9C14-3785A7061471}" presName="spaceRect" presStyleCnt="0"/>
      <dgm:spPr/>
    </dgm:pt>
    <dgm:pt modelId="{969CB1C4-4269-4A3D-A862-57CC59651468}" type="pres">
      <dgm:prSet presAssocID="{5D0DC8EA-15B7-4CB7-9C14-3785A706147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9006E13-262B-4550-8915-16CB28110C31}" srcId="{0C81D6A8-9EF3-4106-A3EE-0E23E6C98D0D}" destId="{ED865E62-F166-4965-A1CD-4C098B609E31}" srcOrd="1" destOrd="0" parTransId="{DC580DA1-8618-473F-88B4-46985E7E8446}" sibTransId="{ADB794D3-6861-4555-9DA4-4B1DB23D23E9}"/>
    <dgm:cxn modelId="{355C933F-2396-429E-B6C8-E0CFD610CEFF}" srcId="{0C81D6A8-9EF3-4106-A3EE-0E23E6C98D0D}" destId="{A3ABCD1B-51DC-4AD2-8CA9-671489D27E77}" srcOrd="0" destOrd="0" parTransId="{50894A1E-F0DE-4C61-9406-101B231A73C6}" sibTransId="{93E12040-1A5C-43F8-9FD1-E3DB936D3BE4}"/>
    <dgm:cxn modelId="{C046766D-6E09-4115-B8C0-D68946C52971}" type="presOf" srcId="{A3ABCD1B-51DC-4AD2-8CA9-671489D27E77}" destId="{B954CCE8-0F3A-4CFC-90CE-A27950A5A050}" srcOrd="0" destOrd="0" presId="urn:microsoft.com/office/officeart/2018/2/layout/IconVerticalSolidList"/>
    <dgm:cxn modelId="{87593587-BB7B-442C-9096-1787640D0D42}" type="presOf" srcId="{5D0DC8EA-15B7-4CB7-9C14-3785A7061471}" destId="{969CB1C4-4269-4A3D-A862-57CC59651468}" srcOrd="0" destOrd="0" presId="urn:microsoft.com/office/officeart/2018/2/layout/IconVerticalSolidList"/>
    <dgm:cxn modelId="{3DB0C196-B463-4207-8ACD-289F36794D10}" type="presOf" srcId="{0C81D6A8-9EF3-4106-A3EE-0E23E6C98D0D}" destId="{91D8BF55-4D7A-451A-AE1E-66B90BBB29AF}" srcOrd="0" destOrd="0" presId="urn:microsoft.com/office/officeart/2018/2/layout/IconVerticalSolidList"/>
    <dgm:cxn modelId="{FC42B2B6-04AD-4CFF-903A-BA1B571F23EF}" srcId="{0C81D6A8-9EF3-4106-A3EE-0E23E6C98D0D}" destId="{5D0DC8EA-15B7-4CB7-9C14-3785A7061471}" srcOrd="2" destOrd="0" parTransId="{CCA356DF-D22D-4676-9025-19343565426E}" sibTransId="{90F15100-B67C-4F5B-836D-341896B0501D}"/>
    <dgm:cxn modelId="{DB8697DB-8FBC-49DD-B919-CF1F9B7B8EFF}" type="presOf" srcId="{ED865E62-F166-4965-A1CD-4C098B609E31}" destId="{607C2EB7-55F9-480B-826B-B9E8E873F2CB}" srcOrd="0" destOrd="0" presId="urn:microsoft.com/office/officeart/2018/2/layout/IconVerticalSolidList"/>
    <dgm:cxn modelId="{40B9C561-AF0D-464D-A4A8-1447CAF2D13A}" type="presParOf" srcId="{91D8BF55-4D7A-451A-AE1E-66B90BBB29AF}" destId="{F9F90871-563D-43BE-8FDE-D17AEBEFC6B0}" srcOrd="0" destOrd="0" presId="urn:microsoft.com/office/officeart/2018/2/layout/IconVerticalSolidList"/>
    <dgm:cxn modelId="{5EF67B90-83AE-4D26-A3B7-4E6D72954DC4}" type="presParOf" srcId="{F9F90871-563D-43BE-8FDE-D17AEBEFC6B0}" destId="{9D392020-5C51-4A74-86C4-A415287F0E9B}" srcOrd="0" destOrd="0" presId="urn:microsoft.com/office/officeart/2018/2/layout/IconVerticalSolidList"/>
    <dgm:cxn modelId="{02698E39-6E47-453C-A9AB-15E275C841CD}" type="presParOf" srcId="{F9F90871-563D-43BE-8FDE-D17AEBEFC6B0}" destId="{4FCB0E59-83B4-4EB0-A8C9-85CD1497F1B5}" srcOrd="1" destOrd="0" presId="urn:microsoft.com/office/officeart/2018/2/layout/IconVerticalSolidList"/>
    <dgm:cxn modelId="{570FF13C-1D96-4F9B-A73F-882CD84FC1A5}" type="presParOf" srcId="{F9F90871-563D-43BE-8FDE-D17AEBEFC6B0}" destId="{572B93EF-12CB-4629-8803-A4ED327734EC}" srcOrd="2" destOrd="0" presId="urn:microsoft.com/office/officeart/2018/2/layout/IconVerticalSolidList"/>
    <dgm:cxn modelId="{9CA0B573-05B6-4E80-A5EA-F2B2AB9AD9AD}" type="presParOf" srcId="{F9F90871-563D-43BE-8FDE-D17AEBEFC6B0}" destId="{B954CCE8-0F3A-4CFC-90CE-A27950A5A050}" srcOrd="3" destOrd="0" presId="urn:microsoft.com/office/officeart/2018/2/layout/IconVerticalSolidList"/>
    <dgm:cxn modelId="{1705F164-4B74-475E-8AEB-1FC5F3669E4D}" type="presParOf" srcId="{91D8BF55-4D7A-451A-AE1E-66B90BBB29AF}" destId="{FCB7AAA6-D10F-4C9F-BBBF-481999BA507F}" srcOrd="1" destOrd="0" presId="urn:microsoft.com/office/officeart/2018/2/layout/IconVerticalSolidList"/>
    <dgm:cxn modelId="{DB1B5286-0206-4489-A155-F2D4877048EC}" type="presParOf" srcId="{91D8BF55-4D7A-451A-AE1E-66B90BBB29AF}" destId="{91ED060D-3E75-48EC-82CF-C0B852B0A8C1}" srcOrd="2" destOrd="0" presId="urn:microsoft.com/office/officeart/2018/2/layout/IconVerticalSolidList"/>
    <dgm:cxn modelId="{5C69E083-4763-450B-AAD9-86A4795C3BD6}" type="presParOf" srcId="{91ED060D-3E75-48EC-82CF-C0B852B0A8C1}" destId="{A55CDB23-C710-4163-973B-143E81299529}" srcOrd="0" destOrd="0" presId="urn:microsoft.com/office/officeart/2018/2/layout/IconVerticalSolidList"/>
    <dgm:cxn modelId="{521A3C47-805B-4C0E-B919-6C7168E98E37}" type="presParOf" srcId="{91ED060D-3E75-48EC-82CF-C0B852B0A8C1}" destId="{82D46B97-E046-4E9C-A182-57C16B9D4123}" srcOrd="1" destOrd="0" presId="urn:microsoft.com/office/officeart/2018/2/layout/IconVerticalSolidList"/>
    <dgm:cxn modelId="{3D666FCC-5668-4078-8F63-96940E1C2BC3}" type="presParOf" srcId="{91ED060D-3E75-48EC-82CF-C0B852B0A8C1}" destId="{FA6A4B39-D529-400E-B014-AE8A53D29095}" srcOrd="2" destOrd="0" presId="urn:microsoft.com/office/officeart/2018/2/layout/IconVerticalSolidList"/>
    <dgm:cxn modelId="{A6141613-56D3-46B4-B985-E0DD41844848}" type="presParOf" srcId="{91ED060D-3E75-48EC-82CF-C0B852B0A8C1}" destId="{607C2EB7-55F9-480B-826B-B9E8E873F2CB}" srcOrd="3" destOrd="0" presId="urn:microsoft.com/office/officeart/2018/2/layout/IconVerticalSolidList"/>
    <dgm:cxn modelId="{24881A33-69F0-4EFA-8B13-8600F8730EED}" type="presParOf" srcId="{91D8BF55-4D7A-451A-AE1E-66B90BBB29AF}" destId="{B309A7BE-6B64-4EBB-B3DB-8595B5393ABE}" srcOrd="3" destOrd="0" presId="urn:microsoft.com/office/officeart/2018/2/layout/IconVerticalSolidList"/>
    <dgm:cxn modelId="{2052B683-2A6E-4DA5-ACB5-E15EBFFC1813}" type="presParOf" srcId="{91D8BF55-4D7A-451A-AE1E-66B90BBB29AF}" destId="{B63CFFD4-D732-4EF8-817B-05E61E16D335}" srcOrd="4" destOrd="0" presId="urn:microsoft.com/office/officeart/2018/2/layout/IconVerticalSolidList"/>
    <dgm:cxn modelId="{6C89D3A6-6091-4F69-BDF5-D39FF2F8DDEA}" type="presParOf" srcId="{B63CFFD4-D732-4EF8-817B-05E61E16D335}" destId="{DE0A7FB5-7FF4-492C-98A2-A2A6FEBCA097}" srcOrd="0" destOrd="0" presId="urn:microsoft.com/office/officeart/2018/2/layout/IconVerticalSolidList"/>
    <dgm:cxn modelId="{313DCFBA-EFBA-4D61-A9E2-D23D87ED28B3}" type="presParOf" srcId="{B63CFFD4-D732-4EF8-817B-05E61E16D335}" destId="{06B439AB-E44B-4F1E-B6FE-9E3CAAEDFDB7}" srcOrd="1" destOrd="0" presId="urn:microsoft.com/office/officeart/2018/2/layout/IconVerticalSolidList"/>
    <dgm:cxn modelId="{50E58622-1BE2-4364-8DBD-2C958EC11ABF}" type="presParOf" srcId="{B63CFFD4-D732-4EF8-817B-05E61E16D335}" destId="{FCFA1732-DA6C-4F07-A1CF-8B2AC89C1BD0}" srcOrd="2" destOrd="0" presId="urn:microsoft.com/office/officeart/2018/2/layout/IconVerticalSolidList"/>
    <dgm:cxn modelId="{488EC45B-CE4C-4E6F-9FE9-390BC0A87418}" type="presParOf" srcId="{B63CFFD4-D732-4EF8-817B-05E61E16D335}" destId="{969CB1C4-4269-4A3D-A862-57CC596514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2DDEC86C-FA4D-429D-86AA-B50F48D9EA3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EB5788C-8737-46D9-BE07-0CE761C18FBD}">
      <dgm:prSet/>
      <dgm:spPr/>
      <dgm:t>
        <a:bodyPr/>
        <a:lstStyle/>
        <a:p>
          <a:pPr>
            <a:defRPr cap="all"/>
          </a:pPr>
          <a:r>
            <a:rPr lang="en-SG"/>
            <a:t>Present Value of all cash inflows – Present Value of all cash outflows</a:t>
          </a:r>
          <a:endParaRPr lang="en-US"/>
        </a:p>
      </dgm:t>
    </dgm:pt>
    <dgm:pt modelId="{268B5E93-A9A7-46C6-9ECC-956B251EAFEE}" type="parTrans" cxnId="{021278F5-82C5-4EE8-9F38-44827BE3D151}">
      <dgm:prSet/>
      <dgm:spPr/>
      <dgm:t>
        <a:bodyPr/>
        <a:lstStyle/>
        <a:p>
          <a:endParaRPr lang="en-US"/>
        </a:p>
      </dgm:t>
    </dgm:pt>
    <dgm:pt modelId="{90D7DCB6-E2D5-4E4C-9994-C6F5DA0B5309}" type="sibTrans" cxnId="{021278F5-82C5-4EE8-9F38-44827BE3D151}">
      <dgm:prSet/>
      <dgm:spPr/>
      <dgm:t>
        <a:bodyPr/>
        <a:lstStyle/>
        <a:p>
          <a:endParaRPr lang="en-US"/>
        </a:p>
      </dgm:t>
    </dgm:pt>
    <dgm:pt modelId="{11471053-4859-45CC-8F20-DD6AFA21A2B7}">
      <dgm:prSet/>
      <dgm:spPr/>
      <dgm:t>
        <a:bodyPr/>
        <a:lstStyle/>
        <a:p>
          <a:pPr>
            <a:defRPr cap="all"/>
          </a:pPr>
          <a:r>
            <a:rPr lang="en-SG"/>
            <a:t>Accept all investments with a positive NPV and reject investments with a negative NPV</a:t>
          </a:r>
          <a:endParaRPr lang="en-US"/>
        </a:p>
      </dgm:t>
    </dgm:pt>
    <dgm:pt modelId="{7E4C3BE5-8DDF-4649-9ECF-C4C17402F0F8}" type="parTrans" cxnId="{1936742C-8919-4899-9E5C-91B267CB4FE2}">
      <dgm:prSet/>
      <dgm:spPr/>
      <dgm:t>
        <a:bodyPr/>
        <a:lstStyle/>
        <a:p>
          <a:endParaRPr lang="en-US"/>
        </a:p>
      </dgm:t>
    </dgm:pt>
    <dgm:pt modelId="{80E75137-ED01-4734-8E02-452E1D9B3968}" type="sibTrans" cxnId="{1936742C-8919-4899-9E5C-91B267CB4FE2}">
      <dgm:prSet/>
      <dgm:spPr/>
      <dgm:t>
        <a:bodyPr/>
        <a:lstStyle/>
        <a:p>
          <a:endParaRPr lang="en-US"/>
        </a:p>
      </dgm:t>
    </dgm:pt>
    <dgm:pt modelId="{1F6350A9-852C-494F-8E3E-442D2C196ADC}" type="pres">
      <dgm:prSet presAssocID="{2DDEC86C-FA4D-429D-86AA-B50F48D9EA3F}" presName="root" presStyleCnt="0">
        <dgm:presLayoutVars>
          <dgm:dir/>
          <dgm:resizeHandles val="exact"/>
        </dgm:presLayoutVars>
      </dgm:prSet>
      <dgm:spPr/>
    </dgm:pt>
    <dgm:pt modelId="{A8FF3BBC-FBF0-4B68-A44E-42AD458F82FB}" type="pres">
      <dgm:prSet presAssocID="{DEB5788C-8737-46D9-BE07-0CE761C18FBD}" presName="compNode" presStyleCnt="0"/>
      <dgm:spPr/>
    </dgm:pt>
    <dgm:pt modelId="{1E5CC808-FE54-471B-BCA7-63460439A6B6}" type="pres">
      <dgm:prSet presAssocID="{DEB5788C-8737-46D9-BE07-0CE761C18FBD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7985D94E-7CA1-4896-8866-6BAD3DD871DD}" type="pres">
      <dgm:prSet presAssocID="{DEB5788C-8737-46D9-BE07-0CE761C18FB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F67C94A-36C1-4985-BB53-0F9F2D8DC158}" type="pres">
      <dgm:prSet presAssocID="{DEB5788C-8737-46D9-BE07-0CE761C18FBD}" presName="spaceRect" presStyleCnt="0"/>
      <dgm:spPr/>
    </dgm:pt>
    <dgm:pt modelId="{454E061E-E58D-4797-9175-1C1A3EABF82A}" type="pres">
      <dgm:prSet presAssocID="{DEB5788C-8737-46D9-BE07-0CE761C18FBD}" presName="textRect" presStyleLbl="revTx" presStyleIdx="0" presStyleCnt="2">
        <dgm:presLayoutVars>
          <dgm:chMax val="1"/>
          <dgm:chPref val="1"/>
        </dgm:presLayoutVars>
      </dgm:prSet>
      <dgm:spPr/>
    </dgm:pt>
    <dgm:pt modelId="{8D5AF8AC-EF49-43D5-AE14-483F8E98C187}" type="pres">
      <dgm:prSet presAssocID="{90D7DCB6-E2D5-4E4C-9994-C6F5DA0B5309}" presName="sibTrans" presStyleCnt="0"/>
      <dgm:spPr/>
    </dgm:pt>
    <dgm:pt modelId="{118FE558-57C1-4034-A9D8-0BB7BBF774EF}" type="pres">
      <dgm:prSet presAssocID="{11471053-4859-45CC-8F20-DD6AFA21A2B7}" presName="compNode" presStyleCnt="0"/>
      <dgm:spPr/>
    </dgm:pt>
    <dgm:pt modelId="{145464E8-660C-4B66-873C-B17B5E74B6F7}" type="pres">
      <dgm:prSet presAssocID="{11471053-4859-45CC-8F20-DD6AFA21A2B7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6F8C648-8E72-4321-ACBC-CF676944EF16}" type="pres">
      <dgm:prSet presAssocID="{11471053-4859-45CC-8F20-DD6AFA21A2B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B0B774D-059D-49EC-966E-C326E92A4394}" type="pres">
      <dgm:prSet presAssocID="{11471053-4859-45CC-8F20-DD6AFA21A2B7}" presName="spaceRect" presStyleCnt="0"/>
      <dgm:spPr/>
    </dgm:pt>
    <dgm:pt modelId="{C1CFAEA8-7E20-4AC0-B28B-9AD5052C19CE}" type="pres">
      <dgm:prSet presAssocID="{11471053-4859-45CC-8F20-DD6AFA21A2B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936742C-8919-4899-9E5C-91B267CB4FE2}" srcId="{2DDEC86C-FA4D-429D-86AA-B50F48D9EA3F}" destId="{11471053-4859-45CC-8F20-DD6AFA21A2B7}" srcOrd="1" destOrd="0" parTransId="{7E4C3BE5-8DDF-4649-9ECF-C4C17402F0F8}" sibTransId="{80E75137-ED01-4734-8E02-452E1D9B3968}"/>
    <dgm:cxn modelId="{EF9D85B0-28C8-4040-8F9D-9B31F13A8F65}" type="presOf" srcId="{DEB5788C-8737-46D9-BE07-0CE761C18FBD}" destId="{454E061E-E58D-4797-9175-1C1A3EABF82A}" srcOrd="0" destOrd="0" presId="urn:microsoft.com/office/officeart/2018/5/layout/IconLeafLabelList"/>
    <dgm:cxn modelId="{DB34B9CF-3E57-4416-B6D7-A5DA7708A893}" type="presOf" srcId="{2DDEC86C-FA4D-429D-86AA-B50F48D9EA3F}" destId="{1F6350A9-852C-494F-8E3E-442D2C196ADC}" srcOrd="0" destOrd="0" presId="urn:microsoft.com/office/officeart/2018/5/layout/IconLeafLabelList"/>
    <dgm:cxn modelId="{021278F5-82C5-4EE8-9F38-44827BE3D151}" srcId="{2DDEC86C-FA4D-429D-86AA-B50F48D9EA3F}" destId="{DEB5788C-8737-46D9-BE07-0CE761C18FBD}" srcOrd="0" destOrd="0" parTransId="{268B5E93-A9A7-46C6-9ECC-956B251EAFEE}" sibTransId="{90D7DCB6-E2D5-4E4C-9994-C6F5DA0B5309}"/>
    <dgm:cxn modelId="{BBABD3F8-4E64-44CF-BCC3-81FD697EC6A8}" type="presOf" srcId="{11471053-4859-45CC-8F20-DD6AFA21A2B7}" destId="{C1CFAEA8-7E20-4AC0-B28B-9AD5052C19CE}" srcOrd="0" destOrd="0" presId="urn:microsoft.com/office/officeart/2018/5/layout/IconLeafLabelList"/>
    <dgm:cxn modelId="{331294E9-3F18-4045-A302-991773BE1EEB}" type="presParOf" srcId="{1F6350A9-852C-494F-8E3E-442D2C196ADC}" destId="{A8FF3BBC-FBF0-4B68-A44E-42AD458F82FB}" srcOrd="0" destOrd="0" presId="urn:microsoft.com/office/officeart/2018/5/layout/IconLeafLabelList"/>
    <dgm:cxn modelId="{783AB9E9-17A9-430E-A1D3-EC68AC81ED7C}" type="presParOf" srcId="{A8FF3BBC-FBF0-4B68-A44E-42AD458F82FB}" destId="{1E5CC808-FE54-471B-BCA7-63460439A6B6}" srcOrd="0" destOrd="0" presId="urn:microsoft.com/office/officeart/2018/5/layout/IconLeafLabelList"/>
    <dgm:cxn modelId="{265A6A63-29B9-4388-892F-55437C4D180C}" type="presParOf" srcId="{A8FF3BBC-FBF0-4B68-A44E-42AD458F82FB}" destId="{7985D94E-7CA1-4896-8866-6BAD3DD871DD}" srcOrd="1" destOrd="0" presId="urn:microsoft.com/office/officeart/2018/5/layout/IconLeafLabelList"/>
    <dgm:cxn modelId="{9F55DADC-30B2-4B3C-A723-671100A794DE}" type="presParOf" srcId="{A8FF3BBC-FBF0-4B68-A44E-42AD458F82FB}" destId="{EF67C94A-36C1-4985-BB53-0F9F2D8DC158}" srcOrd="2" destOrd="0" presId="urn:microsoft.com/office/officeart/2018/5/layout/IconLeafLabelList"/>
    <dgm:cxn modelId="{D80D95FD-233A-4216-AEBC-80CD4ADBB998}" type="presParOf" srcId="{A8FF3BBC-FBF0-4B68-A44E-42AD458F82FB}" destId="{454E061E-E58D-4797-9175-1C1A3EABF82A}" srcOrd="3" destOrd="0" presId="urn:microsoft.com/office/officeart/2018/5/layout/IconLeafLabelList"/>
    <dgm:cxn modelId="{6FE7DE4F-4D77-4F79-98B3-D2BD66A2BD25}" type="presParOf" srcId="{1F6350A9-852C-494F-8E3E-442D2C196ADC}" destId="{8D5AF8AC-EF49-43D5-AE14-483F8E98C187}" srcOrd="1" destOrd="0" presId="urn:microsoft.com/office/officeart/2018/5/layout/IconLeafLabelList"/>
    <dgm:cxn modelId="{3EDD9E06-F5A8-4EE1-BA7A-E46B92FCFE1D}" type="presParOf" srcId="{1F6350A9-852C-494F-8E3E-442D2C196ADC}" destId="{118FE558-57C1-4034-A9D8-0BB7BBF774EF}" srcOrd="2" destOrd="0" presId="urn:microsoft.com/office/officeart/2018/5/layout/IconLeafLabelList"/>
    <dgm:cxn modelId="{CA34D843-598B-40A5-A9D2-299A84EEC492}" type="presParOf" srcId="{118FE558-57C1-4034-A9D8-0BB7BBF774EF}" destId="{145464E8-660C-4B66-873C-B17B5E74B6F7}" srcOrd="0" destOrd="0" presId="urn:microsoft.com/office/officeart/2018/5/layout/IconLeafLabelList"/>
    <dgm:cxn modelId="{399409AB-9FC8-47E9-B55C-E27530D68EE9}" type="presParOf" srcId="{118FE558-57C1-4034-A9D8-0BB7BBF774EF}" destId="{C6F8C648-8E72-4321-ACBC-CF676944EF16}" srcOrd="1" destOrd="0" presId="urn:microsoft.com/office/officeart/2018/5/layout/IconLeafLabelList"/>
    <dgm:cxn modelId="{C45AF286-9F84-4240-8B6D-2385FBFBB9EB}" type="presParOf" srcId="{118FE558-57C1-4034-A9D8-0BB7BBF774EF}" destId="{2B0B774D-059D-49EC-966E-C326E92A4394}" srcOrd="2" destOrd="0" presId="urn:microsoft.com/office/officeart/2018/5/layout/IconLeafLabelList"/>
    <dgm:cxn modelId="{455F3C90-08DA-4704-AE82-BA23B547B300}" type="presParOf" srcId="{118FE558-57C1-4034-A9D8-0BB7BBF774EF}" destId="{C1CFAEA8-7E20-4AC0-B28B-9AD5052C19C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B27D4F-FA14-4EC2-911C-47AD36C635FE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145A10-EAB5-48D3-BD3E-28336D0142A5}">
      <dsp:nvSpPr>
        <dsp:cNvPr id="0" name=""/>
        <dsp:cNvSpPr/>
      </dsp:nvSpPr>
      <dsp:spPr>
        <a:xfrm>
          <a:off x="0" y="675"/>
          <a:ext cx="6900512" cy="553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Company Management</a:t>
          </a:r>
          <a:endParaRPr lang="en-US" sz="2500" kern="1200"/>
        </a:p>
      </dsp:txBody>
      <dsp:txXfrm>
        <a:off x="0" y="675"/>
        <a:ext cx="6900512" cy="553478"/>
      </dsp:txXfrm>
    </dsp:sp>
    <dsp:sp modelId="{CB4DFAE8-A777-486A-986A-F0AF726C3F72}">
      <dsp:nvSpPr>
        <dsp:cNvPr id="0" name=""/>
        <dsp:cNvSpPr/>
      </dsp:nvSpPr>
      <dsp:spPr>
        <a:xfrm>
          <a:off x="0" y="554154"/>
          <a:ext cx="6900512" cy="0"/>
        </a:xfrm>
        <a:prstGeom prst="line">
          <a:avLst/>
        </a:prstGeom>
        <a:solidFill>
          <a:schemeClr val="accent2">
            <a:hueOff val="-161707"/>
            <a:satOff val="-9325"/>
            <a:lumOff val="959"/>
            <a:alphaOff val="0"/>
          </a:schemeClr>
        </a:solidFill>
        <a:ln w="12700" cap="flat" cmpd="sng" algn="ctr">
          <a:solidFill>
            <a:schemeClr val="accent2">
              <a:hueOff val="-161707"/>
              <a:satOff val="-9325"/>
              <a:lumOff val="9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8D1C2F-31E9-4E3C-BD8B-3BFFB24D3C72}">
      <dsp:nvSpPr>
        <dsp:cNvPr id="0" name=""/>
        <dsp:cNvSpPr/>
      </dsp:nvSpPr>
      <dsp:spPr>
        <a:xfrm>
          <a:off x="0" y="554154"/>
          <a:ext cx="6900512" cy="553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Competitors</a:t>
          </a:r>
          <a:endParaRPr lang="en-US" sz="2500" kern="1200"/>
        </a:p>
      </dsp:txBody>
      <dsp:txXfrm>
        <a:off x="0" y="554154"/>
        <a:ext cx="6900512" cy="553478"/>
      </dsp:txXfrm>
    </dsp:sp>
    <dsp:sp modelId="{8E2E7363-498B-4EEA-8248-401011ABEBAE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2">
            <a:hueOff val="-323414"/>
            <a:satOff val="-18651"/>
            <a:lumOff val="1917"/>
            <a:alphaOff val="0"/>
          </a:schemeClr>
        </a:solidFill>
        <a:ln w="12700" cap="flat" cmpd="sng" algn="ctr">
          <a:solidFill>
            <a:schemeClr val="accent2">
              <a:hueOff val="-323414"/>
              <a:satOff val="-18651"/>
              <a:lumOff val="19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182576-FE5D-493E-BA31-FC286E736F5E}">
      <dsp:nvSpPr>
        <dsp:cNvPr id="0" name=""/>
        <dsp:cNvSpPr/>
      </dsp:nvSpPr>
      <dsp:spPr>
        <a:xfrm>
          <a:off x="0" y="1107633"/>
          <a:ext cx="6900512" cy="553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Customers</a:t>
          </a:r>
          <a:endParaRPr lang="en-US" sz="2500" kern="1200"/>
        </a:p>
      </dsp:txBody>
      <dsp:txXfrm>
        <a:off x="0" y="1107633"/>
        <a:ext cx="6900512" cy="553478"/>
      </dsp:txXfrm>
    </dsp:sp>
    <dsp:sp modelId="{008D756B-0D0C-4B8C-91EE-53534964D6ED}">
      <dsp:nvSpPr>
        <dsp:cNvPr id="0" name=""/>
        <dsp:cNvSpPr/>
      </dsp:nvSpPr>
      <dsp:spPr>
        <a:xfrm>
          <a:off x="0" y="1661112"/>
          <a:ext cx="6900512" cy="0"/>
        </a:xfrm>
        <a:prstGeom prst="line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BCEAE9-1CEE-4FC0-85FD-464E3CF976F4}">
      <dsp:nvSpPr>
        <dsp:cNvPr id="0" name=""/>
        <dsp:cNvSpPr/>
      </dsp:nvSpPr>
      <dsp:spPr>
        <a:xfrm>
          <a:off x="0" y="1661112"/>
          <a:ext cx="6900512" cy="553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Employees</a:t>
          </a:r>
          <a:endParaRPr lang="en-US" sz="2500" kern="1200"/>
        </a:p>
      </dsp:txBody>
      <dsp:txXfrm>
        <a:off x="0" y="1661112"/>
        <a:ext cx="6900512" cy="553478"/>
      </dsp:txXfrm>
    </dsp:sp>
    <dsp:sp modelId="{5B4932F2-3784-46ED-BE3A-B01C55166F2A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2">
            <a:hueOff val="-646828"/>
            <a:satOff val="-37301"/>
            <a:lumOff val="3835"/>
            <a:alphaOff val="0"/>
          </a:schemeClr>
        </a:solidFill>
        <a:ln w="12700" cap="flat" cmpd="sng" algn="ctr">
          <a:solidFill>
            <a:schemeClr val="accent2">
              <a:hueOff val="-646828"/>
              <a:satOff val="-37301"/>
              <a:lumOff val="38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3795B4-BE78-44BF-92F5-6B77AED09DB5}">
      <dsp:nvSpPr>
        <dsp:cNvPr id="0" name=""/>
        <dsp:cNvSpPr/>
      </dsp:nvSpPr>
      <dsp:spPr>
        <a:xfrm>
          <a:off x="0" y="2214591"/>
          <a:ext cx="6900512" cy="553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Governments</a:t>
          </a:r>
          <a:endParaRPr lang="en-US" sz="2500" kern="1200"/>
        </a:p>
      </dsp:txBody>
      <dsp:txXfrm>
        <a:off x="0" y="2214591"/>
        <a:ext cx="6900512" cy="553478"/>
      </dsp:txXfrm>
    </dsp:sp>
    <dsp:sp modelId="{6218706B-E0FE-43A3-8411-D8CD7A51509B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-808535"/>
            <a:satOff val="-46627"/>
            <a:lumOff val="4793"/>
            <a:alphaOff val="0"/>
          </a:schemeClr>
        </a:solidFill>
        <a:ln w="12700" cap="flat" cmpd="sng" algn="ctr">
          <a:solidFill>
            <a:schemeClr val="accent2">
              <a:hueOff val="-808535"/>
              <a:satOff val="-46627"/>
              <a:lumOff val="47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F226F-5F64-4A4B-9E5A-0ED59B0DCED8}">
      <dsp:nvSpPr>
        <dsp:cNvPr id="0" name=""/>
        <dsp:cNvSpPr/>
      </dsp:nvSpPr>
      <dsp:spPr>
        <a:xfrm>
          <a:off x="0" y="2768070"/>
          <a:ext cx="6900512" cy="553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Investment Analysts</a:t>
          </a:r>
          <a:endParaRPr lang="en-US" sz="2500" kern="1200"/>
        </a:p>
      </dsp:txBody>
      <dsp:txXfrm>
        <a:off x="0" y="2768070"/>
        <a:ext cx="6900512" cy="553478"/>
      </dsp:txXfrm>
    </dsp:sp>
    <dsp:sp modelId="{E2C9E698-EFF8-42A7-A61B-19038E596BED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547181-FEBC-4467-A499-AD1E2AAECA97}">
      <dsp:nvSpPr>
        <dsp:cNvPr id="0" name=""/>
        <dsp:cNvSpPr/>
      </dsp:nvSpPr>
      <dsp:spPr>
        <a:xfrm>
          <a:off x="0" y="3321549"/>
          <a:ext cx="6900512" cy="553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Investors</a:t>
          </a:r>
          <a:endParaRPr lang="en-US" sz="2500" kern="1200"/>
        </a:p>
      </dsp:txBody>
      <dsp:txXfrm>
        <a:off x="0" y="3321549"/>
        <a:ext cx="6900512" cy="553478"/>
      </dsp:txXfrm>
    </dsp:sp>
    <dsp:sp modelId="{D2A6618A-B1BC-4893-84FF-95300BFC4FAE}">
      <dsp:nvSpPr>
        <dsp:cNvPr id="0" name=""/>
        <dsp:cNvSpPr/>
      </dsp:nvSpPr>
      <dsp:spPr>
        <a:xfrm>
          <a:off x="0" y="3875028"/>
          <a:ext cx="6900512" cy="0"/>
        </a:xfrm>
        <a:prstGeom prst="line">
          <a:avLst/>
        </a:prstGeom>
        <a:solidFill>
          <a:schemeClr val="accent2">
            <a:hueOff val="-1131949"/>
            <a:satOff val="-65277"/>
            <a:lumOff val="6711"/>
            <a:alphaOff val="0"/>
          </a:schemeClr>
        </a:solidFill>
        <a:ln w="12700" cap="flat" cmpd="sng" algn="ctr">
          <a:solidFill>
            <a:schemeClr val="accent2">
              <a:hueOff val="-1131949"/>
              <a:satOff val="-65277"/>
              <a:lumOff val="671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5D8867-0D08-4718-B668-014CCEAC0B98}">
      <dsp:nvSpPr>
        <dsp:cNvPr id="0" name=""/>
        <dsp:cNvSpPr/>
      </dsp:nvSpPr>
      <dsp:spPr>
        <a:xfrm>
          <a:off x="0" y="3875028"/>
          <a:ext cx="6900512" cy="553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Lenders</a:t>
          </a:r>
          <a:endParaRPr lang="en-US" sz="2500" kern="1200"/>
        </a:p>
      </dsp:txBody>
      <dsp:txXfrm>
        <a:off x="0" y="3875028"/>
        <a:ext cx="6900512" cy="553478"/>
      </dsp:txXfrm>
    </dsp:sp>
    <dsp:sp modelId="{F4F43BB2-8ADC-4B16-B3F9-BC43094C83FA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2">
            <a:hueOff val="-1293656"/>
            <a:satOff val="-74603"/>
            <a:lumOff val="7669"/>
            <a:alphaOff val="0"/>
          </a:schemeClr>
        </a:solidFill>
        <a:ln w="12700" cap="flat" cmpd="sng" algn="ctr">
          <a:solidFill>
            <a:schemeClr val="accent2">
              <a:hueOff val="-1293656"/>
              <a:satOff val="-74603"/>
              <a:lumOff val="76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0D536D-D648-4CB8-8A0B-90AE5C34C8AA}">
      <dsp:nvSpPr>
        <dsp:cNvPr id="0" name=""/>
        <dsp:cNvSpPr/>
      </dsp:nvSpPr>
      <dsp:spPr>
        <a:xfrm>
          <a:off x="0" y="4428507"/>
          <a:ext cx="6900512" cy="553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Rating Agencies</a:t>
          </a:r>
          <a:endParaRPr lang="en-US" sz="2500" kern="1200"/>
        </a:p>
      </dsp:txBody>
      <dsp:txXfrm>
        <a:off x="0" y="4428507"/>
        <a:ext cx="6900512" cy="553478"/>
      </dsp:txXfrm>
    </dsp:sp>
    <dsp:sp modelId="{15B82E8D-D901-4880-AC60-2B9F122B345A}">
      <dsp:nvSpPr>
        <dsp:cNvPr id="0" name=""/>
        <dsp:cNvSpPr/>
      </dsp:nvSpPr>
      <dsp:spPr>
        <a:xfrm>
          <a:off x="0" y="4981986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8A158-6622-49C4-B72F-8E00351E992D}">
      <dsp:nvSpPr>
        <dsp:cNvPr id="0" name=""/>
        <dsp:cNvSpPr/>
      </dsp:nvSpPr>
      <dsp:spPr>
        <a:xfrm>
          <a:off x="0" y="4981986"/>
          <a:ext cx="6900512" cy="553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Suppliers</a:t>
          </a:r>
          <a:endParaRPr lang="en-US" sz="2500" kern="1200"/>
        </a:p>
      </dsp:txBody>
      <dsp:txXfrm>
        <a:off x="0" y="4981986"/>
        <a:ext cx="6900512" cy="553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ACA710-EFFD-4C8C-BFFA-4B76CF665F88}">
      <dsp:nvSpPr>
        <dsp:cNvPr id="0" name=""/>
        <dsp:cNvSpPr/>
      </dsp:nvSpPr>
      <dsp:spPr>
        <a:xfrm>
          <a:off x="0" y="719"/>
          <a:ext cx="6588691" cy="16843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304E5-7151-402D-9551-2C115E9894D5}">
      <dsp:nvSpPr>
        <dsp:cNvPr id="0" name=""/>
        <dsp:cNvSpPr/>
      </dsp:nvSpPr>
      <dsp:spPr>
        <a:xfrm>
          <a:off x="509522" y="379703"/>
          <a:ext cx="926404" cy="9264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99FEA2-1F0E-41CE-B4E7-C88164F2CB07}">
      <dsp:nvSpPr>
        <dsp:cNvPr id="0" name=""/>
        <dsp:cNvSpPr/>
      </dsp:nvSpPr>
      <dsp:spPr>
        <a:xfrm>
          <a:off x="1945450" y="719"/>
          <a:ext cx="2964910" cy="1684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63" tIns="178263" rIns="178263" bIns="17826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Statement of Financial Position</a:t>
          </a:r>
          <a:endParaRPr lang="en-US" sz="2500" kern="1200"/>
        </a:p>
      </dsp:txBody>
      <dsp:txXfrm>
        <a:off x="1945450" y="719"/>
        <a:ext cx="2964910" cy="1684372"/>
      </dsp:txXfrm>
    </dsp:sp>
    <dsp:sp modelId="{21540E47-FDDE-4A5C-B1D1-CDDC0DB08DE3}">
      <dsp:nvSpPr>
        <dsp:cNvPr id="0" name=""/>
        <dsp:cNvSpPr/>
      </dsp:nvSpPr>
      <dsp:spPr>
        <a:xfrm>
          <a:off x="4910361" y="719"/>
          <a:ext cx="1678329" cy="1684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63" tIns="178263" rIns="178263" bIns="17826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/>
            <a:t>Balance Sheet</a:t>
          </a:r>
          <a:endParaRPr lang="en-US" sz="1800" kern="1200"/>
        </a:p>
      </dsp:txBody>
      <dsp:txXfrm>
        <a:off x="4910361" y="719"/>
        <a:ext cx="1678329" cy="1684372"/>
      </dsp:txXfrm>
    </dsp:sp>
    <dsp:sp modelId="{AD5040D1-6711-4056-B684-A0574C68DE7B}">
      <dsp:nvSpPr>
        <dsp:cNvPr id="0" name=""/>
        <dsp:cNvSpPr/>
      </dsp:nvSpPr>
      <dsp:spPr>
        <a:xfrm>
          <a:off x="0" y="2106185"/>
          <a:ext cx="6588691" cy="16843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827195-ABA0-4DB4-8CE3-CF1CBDFC81FE}">
      <dsp:nvSpPr>
        <dsp:cNvPr id="0" name=""/>
        <dsp:cNvSpPr/>
      </dsp:nvSpPr>
      <dsp:spPr>
        <a:xfrm>
          <a:off x="509522" y="2485169"/>
          <a:ext cx="926404" cy="9264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63E736-531F-4094-B1C2-FFFB5DA1FC8A}">
      <dsp:nvSpPr>
        <dsp:cNvPr id="0" name=""/>
        <dsp:cNvSpPr/>
      </dsp:nvSpPr>
      <dsp:spPr>
        <a:xfrm>
          <a:off x="1945450" y="2106185"/>
          <a:ext cx="2964910" cy="1684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63" tIns="178263" rIns="178263" bIns="17826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Statement of Financial Results</a:t>
          </a:r>
          <a:endParaRPr lang="en-US" sz="2500" kern="1200"/>
        </a:p>
      </dsp:txBody>
      <dsp:txXfrm>
        <a:off x="1945450" y="2106185"/>
        <a:ext cx="2964910" cy="1684372"/>
      </dsp:txXfrm>
    </dsp:sp>
    <dsp:sp modelId="{1F64BF50-59F9-4F9B-8BB5-8601F51DE7A2}">
      <dsp:nvSpPr>
        <dsp:cNvPr id="0" name=""/>
        <dsp:cNvSpPr/>
      </dsp:nvSpPr>
      <dsp:spPr>
        <a:xfrm>
          <a:off x="4910361" y="2106185"/>
          <a:ext cx="1678329" cy="1684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63" tIns="178263" rIns="178263" bIns="17826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/>
            <a:t>Profit and Loss Statement</a:t>
          </a:r>
          <a:endParaRPr lang="en-US" sz="1800" kern="1200"/>
        </a:p>
      </dsp:txBody>
      <dsp:txXfrm>
        <a:off x="4910361" y="2106185"/>
        <a:ext cx="1678329" cy="1684372"/>
      </dsp:txXfrm>
    </dsp:sp>
    <dsp:sp modelId="{63DB22A9-877C-4D69-AD25-011B825791A6}">
      <dsp:nvSpPr>
        <dsp:cNvPr id="0" name=""/>
        <dsp:cNvSpPr/>
      </dsp:nvSpPr>
      <dsp:spPr>
        <a:xfrm>
          <a:off x="0" y="4211650"/>
          <a:ext cx="6588691" cy="16843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5DB394-48D7-4726-83D9-B340AA18F504}">
      <dsp:nvSpPr>
        <dsp:cNvPr id="0" name=""/>
        <dsp:cNvSpPr/>
      </dsp:nvSpPr>
      <dsp:spPr>
        <a:xfrm>
          <a:off x="509522" y="4590634"/>
          <a:ext cx="926404" cy="9264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E42B2-5BD3-4E41-B6D6-103BE13FEF10}">
      <dsp:nvSpPr>
        <dsp:cNvPr id="0" name=""/>
        <dsp:cNvSpPr/>
      </dsp:nvSpPr>
      <dsp:spPr>
        <a:xfrm>
          <a:off x="1945450" y="4211650"/>
          <a:ext cx="2964910" cy="1684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63" tIns="178263" rIns="178263" bIns="17826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Cash Flows</a:t>
          </a:r>
          <a:endParaRPr lang="en-US" sz="2500" kern="1200"/>
        </a:p>
      </dsp:txBody>
      <dsp:txXfrm>
        <a:off x="1945450" y="4211650"/>
        <a:ext cx="2964910" cy="1684372"/>
      </dsp:txXfrm>
    </dsp:sp>
    <dsp:sp modelId="{814EE892-A617-45C3-8DF8-F3B45758FF0C}">
      <dsp:nvSpPr>
        <dsp:cNvPr id="0" name=""/>
        <dsp:cNvSpPr/>
      </dsp:nvSpPr>
      <dsp:spPr>
        <a:xfrm>
          <a:off x="4910361" y="4211650"/>
          <a:ext cx="1678329" cy="1684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63" tIns="178263" rIns="178263" bIns="17826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/>
            <a:t>Cash Flows statement</a:t>
          </a:r>
          <a:endParaRPr lang="en-US" sz="1800" kern="1200"/>
        </a:p>
      </dsp:txBody>
      <dsp:txXfrm>
        <a:off x="4910361" y="4211650"/>
        <a:ext cx="1678329" cy="16843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5CE2A-61CE-4307-8C9E-810BF0A3F199}">
      <dsp:nvSpPr>
        <dsp:cNvPr id="0" name=""/>
        <dsp:cNvSpPr/>
      </dsp:nvSpPr>
      <dsp:spPr>
        <a:xfrm>
          <a:off x="0" y="719"/>
          <a:ext cx="6588691" cy="16843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EED72-DA21-4521-AE99-9945C0D6A10C}">
      <dsp:nvSpPr>
        <dsp:cNvPr id="0" name=""/>
        <dsp:cNvSpPr/>
      </dsp:nvSpPr>
      <dsp:spPr>
        <a:xfrm>
          <a:off x="509522" y="379703"/>
          <a:ext cx="926404" cy="9264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6DE35F-7FE0-47BA-8981-9830D3FC23A0}">
      <dsp:nvSpPr>
        <dsp:cNvPr id="0" name=""/>
        <dsp:cNvSpPr/>
      </dsp:nvSpPr>
      <dsp:spPr>
        <a:xfrm>
          <a:off x="1945450" y="719"/>
          <a:ext cx="4643240" cy="1684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63" tIns="178263" rIns="178263" bIns="17826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/>
            <a:t>Cash accounting records business transactions when cash flows into business</a:t>
          </a:r>
          <a:endParaRPr lang="en-US" sz="2300" kern="1200"/>
        </a:p>
      </dsp:txBody>
      <dsp:txXfrm>
        <a:off x="1945450" y="719"/>
        <a:ext cx="4643240" cy="1684372"/>
      </dsp:txXfrm>
    </dsp:sp>
    <dsp:sp modelId="{49940007-3C66-40CC-BAED-E8563B3618D9}">
      <dsp:nvSpPr>
        <dsp:cNvPr id="0" name=""/>
        <dsp:cNvSpPr/>
      </dsp:nvSpPr>
      <dsp:spPr>
        <a:xfrm>
          <a:off x="0" y="2106185"/>
          <a:ext cx="6588691" cy="168437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C2F402-8BBD-42CC-B344-C03457E2BD92}">
      <dsp:nvSpPr>
        <dsp:cNvPr id="0" name=""/>
        <dsp:cNvSpPr/>
      </dsp:nvSpPr>
      <dsp:spPr>
        <a:xfrm>
          <a:off x="509522" y="2485169"/>
          <a:ext cx="926404" cy="9264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CEE617-7520-4FF0-9842-82021A8E82DB}">
      <dsp:nvSpPr>
        <dsp:cNvPr id="0" name=""/>
        <dsp:cNvSpPr/>
      </dsp:nvSpPr>
      <dsp:spPr>
        <a:xfrm>
          <a:off x="1945450" y="2106185"/>
          <a:ext cx="4643240" cy="1684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63" tIns="178263" rIns="178263" bIns="17826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/>
            <a:t>Accrual Accounting records business transactions when they are incurred regardless of when money actually changes hands</a:t>
          </a:r>
          <a:endParaRPr lang="en-US" sz="2300" kern="1200"/>
        </a:p>
      </dsp:txBody>
      <dsp:txXfrm>
        <a:off x="1945450" y="2106185"/>
        <a:ext cx="4643240" cy="1684372"/>
      </dsp:txXfrm>
    </dsp:sp>
    <dsp:sp modelId="{432D99B3-C26E-4926-AC62-12776D9BB0A5}">
      <dsp:nvSpPr>
        <dsp:cNvPr id="0" name=""/>
        <dsp:cNvSpPr/>
      </dsp:nvSpPr>
      <dsp:spPr>
        <a:xfrm>
          <a:off x="0" y="4211650"/>
          <a:ext cx="6588691" cy="168437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C8B87F-2E96-41C5-A287-0C1442AED19E}">
      <dsp:nvSpPr>
        <dsp:cNvPr id="0" name=""/>
        <dsp:cNvSpPr/>
      </dsp:nvSpPr>
      <dsp:spPr>
        <a:xfrm>
          <a:off x="509522" y="4590634"/>
          <a:ext cx="926404" cy="9264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9BDA4-AFD5-4D8A-A901-BBFEA938D7AF}">
      <dsp:nvSpPr>
        <dsp:cNvPr id="0" name=""/>
        <dsp:cNvSpPr/>
      </dsp:nvSpPr>
      <dsp:spPr>
        <a:xfrm>
          <a:off x="1945450" y="4211650"/>
          <a:ext cx="4643240" cy="1684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63" tIns="178263" rIns="178263" bIns="17826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/>
            <a:t>Financial Statements use accrual accounting</a:t>
          </a:r>
          <a:endParaRPr lang="en-US" sz="2300" kern="1200"/>
        </a:p>
      </dsp:txBody>
      <dsp:txXfrm>
        <a:off x="1945450" y="4211650"/>
        <a:ext cx="4643240" cy="16843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73FE3A-7741-42A0-8230-12CDDDC8B91C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91454C-CBFD-4E0F-94BC-4FF8DEA078A1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t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Merchandise</a:t>
          </a:r>
        </a:p>
      </dsp:txBody>
      <dsp:txXfrm>
        <a:off x="0" y="0"/>
        <a:ext cx="6900512" cy="1384035"/>
      </dsp:txXfrm>
    </dsp:sp>
    <dsp:sp modelId="{23B873BE-133A-4BF3-AAD4-B0D4240EC390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6AD1F-E48F-4616-B41D-76FDF0495660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t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Raw materials</a:t>
          </a:r>
        </a:p>
      </dsp:txBody>
      <dsp:txXfrm>
        <a:off x="0" y="1384035"/>
        <a:ext cx="6900512" cy="1384035"/>
      </dsp:txXfrm>
    </dsp:sp>
    <dsp:sp modelId="{A58B9487-674F-4F18-B8A3-94274179BA06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8F7167-5EF0-4DE9-AAE0-DE200FBEAB58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t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Work-in-progress </a:t>
          </a:r>
        </a:p>
      </dsp:txBody>
      <dsp:txXfrm>
        <a:off x="0" y="2768070"/>
        <a:ext cx="6900512" cy="1384035"/>
      </dsp:txXfrm>
    </dsp:sp>
    <dsp:sp modelId="{DD722F73-FAB6-405B-B220-31FE4B7B325D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7F00F-EEBE-43FD-81CD-4EB46E2580BA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t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Finished products</a:t>
          </a:r>
        </a:p>
      </dsp:txBody>
      <dsp:txXfrm>
        <a:off x="0" y="4152105"/>
        <a:ext cx="6900512" cy="13840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ADACF1-ACDE-4097-8C40-9BA31613DFCC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58AC80-AF4B-44CC-82BE-068D9B304ECE}">
      <dsp:nvSpPr>
        <dsp:cNvPr id="0" name=""/>
        <dsp:cNvSpPr/>
      </dsp:nvSpPr>
      <dsp:spPr>
        <a:xfrm>
          <a:off x="0" y="0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Machinery</a:t>
          </a:r>
          <a:endParaRPr lang="en-US" sz="3200" kern="1200"/>
        </a:p>
      </dsp:txBody>
      <dsp:txXfrm>
        <a:off x="0" y="0"/>
        <a:ext cx="6900512" cy="692017"/>
      </dsp:txXfrm>
    </dsp:sp>
    <dsp:sp modelId="{AF26B189-8A8A-4E53-A47B-B26C0A0DE65D}">
      <dsp:nvSpPr>
        <dsp:cNvPr id="0" name=""/>
        <dsp:cNvSpPr/>
      </dsp:nvSpPr>
      <dsp:spPr>
        <a:xfrm>
          <a:off x="0" y="692017"/>
          <a:ext cx="6900512" cy="0"/>
        </a:xfrm>
        <a:prstGeom prst="line">
          <a:avLst/>
        </a:prstGeom>
        <a:solidFill>
          <a:schemeClr val="accent2">
            <a:hueOff val="-207909"/>
            <a:satOff val="-11990"/>
            <a:lumOff val="1233"/>
            <a:alphaOff val="0"/>
          </a:schemeClr>
        </a:solidFill>
        <a:ln w="12700" cap="flat" cmpd="sng" algn="ctr">
          <a:solidFill>
            <a:schemeClr val="accent2">
              <a:hueOff val="-207909"/>
              <a:satOff val="-11990"/>
              <a:lumOff val="123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52B3FD-2D8D-4907-BB6B-5EDEA1D2ECE4}">
      <dsp:nvSpPr>
        <dsp:cNvPr id="0" name=""/>
        <dsp:cNvSpPr/>
      </dsp:nvSpPr>
      <dsp:spPr>
        <a:xfrm>
          <a:off x="0" y="692017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Equipment</a:t>
          </a:r>
          <a:endParaRPr lang="en-US" sz="3200" kern="1200"/>
        </a:p>
      </dsp:txBody>
      <dsp:txXfrm>
        <a:off x="0" y="692017"/>
        <a:ext cx="6900512" cy="692017"/>
      </dsp:txXfrm>
    </dsp:sp>
    <dsp:sp modelId="{9DA335E8-522F-430F-8268-B00B190E1DF4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2">
            <a:hueOff val="-415818"/>
            <a:satOff val="-23979"/>
            <a:lumOff val="2465"/>
            <a:alphaOff val="0"/>
          </a:schemeClr>
        </a:solidFill>
        <a:ln w="12700" cap="flat" cmpd="sng" algn="ctr">
          <a:solidFill>
            <a:schemeClr val="accent2">
              <a:hueOff val="-415818"/>
              <a:satOff val="-23979"/>
              <a:lumOff val="24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0B4C9-BE85-4A3D-9F8E-6A1D9733A233}">
      <dsp:nvSpPr>
        <dsp:cNvPr id="0" name=""/>
        <dsp:cNvSpPr/>
      </dsp:nvSpPr>
      <dsp:spPr>
        <a:xfrm>
          <a:off x="0" y="1384035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Vehicles</a:t>
          </a:r>
          <a:endParaRPr lang="en-US" sz="3200" kern="1200"/>
        </a:p>
      </dsp:txBody>
      <dsp:txXfrm>
        <a:off x="0" y="1384035"/>
        <a:ext cx="6900512" cy="692017"/>
      </dsp:txXfrm>
    </dsp:sp>
    <dsp:sp modelId="{4632EEFC-E958-4F31-A682-6C91AB786341}">
      <dsp:nvSpPr>
        <dsp:cNvPr id="0" name=""/>
        <dsp:cNvSpPr/>
      </dsp:nvSpPr>
      <dsp:spPr>
        <a:xfrm>
          <a:off x="0" y="2076052"/>
          <a:ext cx="6900512" cy="0"/>
        </a:xfrm>
        <a:prstGeom prst="line">
          <a:avLst/>
        </a:prstGeom>
        <a:solidFill>
          <a:schemeClr val="accent2">
            <a:hueOff val="-623727"/>
            <a:satOff val="-35969"/>
            <a:lumOff val="3698"/>
            <a:alphaOff val="0"/>
          </a:schemeClr>
        </a:solidFill>
        <a:ln w="12700" cap="flat" cmpd="sng" algn="ctr">
          <a:solidFill>
            <a:schemeClr val="accent2">
              <a:hueOff val="-623727"/>
              <a:satOff val="-35969"/>
              <a:lumOff val="36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E26982-8888-4630-9F48-1161116DD4F0}">
      <dsp:nvSpPr>
        <dsp:cNvPr id="0" name=""/>
        <dsp:cNvSpPr/>
      </dsp:nvSpPr>
      <dsp:spPr>
        <a:xfrm>
          <a:off x="0" y="2076052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Buildings</a:t>
          </a:r>
          <a:endParaRPr lang="en-US" sz="3200" kern="1200"/>
        </a:p>
      </dsp:txBody>
      <dsp:txXfrm>
        <a:off x="0" y="2076052"/>
        <a:ext cx="6900512" cy="692017"/>
      </dsp:txXfrm>
    </dsp:sp>
    <dsp:sp modelId="{F0443952-94A8-40D4-ADE0-A9B0E35D5C89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-831636"/>
            <a:satOff val="-47959"/>
            <a:lumOff val="4930"/>
            <a:alphaOff val="0"/>
          </a:schemeClr>
        </a:solidFill>
        <a:ln w="12700" cap="flat" cmpd="sng" algn="ctr">
          <a:solidFill>
            <a:schemeClr val="accent2">
              <a:hueOff val="-831636"/>
              <a:satOff val="-47959"/>
              <a:lumOff val="49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CF7BD-A21D-421D-9FCA-37B2B9391382}">
      <dsp:nvSpPr>
        <dsp:cNvPr id="0" name=""/>
        <dsp:cNvSpPr/>
      </dsp:nvSpPr>
      <dsp:spPr>
        <a:xfrm>
          <a:off x="0" y="2768070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Land</a:t>
          </a:r>
          <a:endParaRPr lang="en-US" sz="3200" kern="1200"/>
        </a:p>
      </dsp:txBody>
      <dsp:txXfrm>
        <a:off x="0" y="2768070"/>
        <a:ext cx="6900512" cy="692017"/>
      </dsp:txXfrm>
    </dsp:sp>
    <dsp:sp modelId="{57183B64-2358-485C-A49E-1E5007F0CA00}">
      <dsp:nvSpPr>
        <dsp:cNvPr id="0" name=""/>
        <dsp:cNvSpPr/>
      </dsp:nvSpPr>
      <dsp:spPr>
        <a:xfrm>
          <a:off x="0" y="3460088"/>
          <a:ext cx="6900512" cy="0"/>
        </a:xfrm>
        <a:prstGeom prst="line">
          <a:avLst/>
        </a:prstGeom>
        <a:solidFill>
          <a:schemeClr val="accent2">
            <a:hueOff val="-1039545"/>
            <a:satOff val="-59949"/>
            <a:lumOff val="6163"/>
            <a:alphaOff val="0"/>
          </a:schemeClr>
        </a:solidFill>
        <a:ln w="12700" cap="flat" cmpd="sng" algn="ctr">
          <a:solidFill>
            <a:schemeClr val="accent2">
              <a:hueOff val="-1039545"/>
              <a:satOff val="-59949"/>
              <a:lumOff val="61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26B52-2212-495A-A1FF-724DE79247A1}">
      <dsp:nvSpPr>
        <dsp:cNvPr id="0" name=""/>
        <dsp:cNvSpPr/>
      </dsp:nvSpPr>
      <dsp:spPr>
        <a:xfrm>
          <a:off x="0" y="3460088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Office Equipment</a:t>
          </a:r>
          <a:endParaRPr lang="en-US" sz="3200" kern="1200"/>
        </a:p>
      </dsp:txBody>
      <dsp:txXfrm>
        <a:off x="0" y="3460088"/>
        <a:ext cx="6900512" cy="692017"/>
      </dsp:txXfrm>
    </dsp:sp>
    <dsp:sp modelId="{DABCE304-72BF-4AD4-9C3D-38769CAB1DB0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2">
            <a:hueOff val="-1247454"/>
            <a:satOff val="-71938"/>
            <a:lumOff val="7395"/>
            <a:alphaOff val="0"/>
          </a:schemeClr>
        </a:solidFill>
        <a:ln w="12700" cap="flat" cmpd="sng" algn="ctr">
          <a:solidFill>
            <a:schemeClr val="accent2">
              <a:hueOff val="-1247454"/>
              <a:satOff val="-71938"/>
              <a:lumOff val="73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7A384A-867D-4C6B-B083-0B5B9BC7D864}">
      <dsp:nvSpPr>
        <dsp:cNvPr id="0" name=""/>
        <dsp:cNvSpPr/>
      </dsp:nvSpPr>
      <dsp:spPr>
        <a:xfrm>
          <a:off x="0" y="4152105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Furniture</a:t>
          </a:r>
          <a:endParaRPr lang="en-US" sz="3200" kern="1200"/>
        </a:p>
      </dsp:txBody>
      <dsp:txXfrm>
        <a:off x="0" y="4152105"/>
        <a:ext cx="6900512" cy="692017"/>
      </dsp:txXfrm>
    </dsp:sp>
    <dsp:sp modelId="{F462F4DB-A1CA-4688-9643-B199B153CABE}">
      <dsp:nvSpPr>
        <dsp:cNvPr id="0" name=""/>
        <dsp:cNvSpPr/>
      </dsp:nvSpPr>
      <dsp:spPr>
        <a:xfrm>
          <a:off x="0" y="4844123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75C29A-8036-49BD-8CD1-E5F988EF0693}">
      <dsp:nvSpPr>
        <dsp:cNvPr id="0" name=""/>
        <dsp:cNvSpPr/>
      </dsp:nvSpPr>
      <dsp:spPr>
        <a:xfrm>
          <a:off x="0" y="4844123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Fixtures</a:t>
          </a:r>
          <a:endParaRPr lang="en-US" sz="3200" kern="1200"/>
        </a:p>
      </dsp:txBody>
      <dsp:txXfrm>
        <a:off x="0" y="4844123"/>
        <a:ext cx="6900512" cy="6920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EEDE04-4F4F-4394-8775-69A9D6A23C3E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84C93E-FA4B-4241-9307-3EE7C43A6AA6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700" kern="1200"/>
            <a:t>Larger expense in earlier than later years</a:t>
          </a:r>
          <a:endParaRPr lang="en-US" sz="2700" kern="1200"/>
        </a:p>
      </dsp:txBody>
      <dsp:txXfrm>
        <a:off x="0" y="0"/>
        <a:ext cx="6900512" cy="1384035"/>
      </dsp:txXfrm>
    </dsp:sp>
    <dsp:sp modelId="{644F021F-5196-41E6-877B-FBA12F69EDD4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ED71E-A9C4-41C6-ACCD-DC19FE1B9BA9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700" kern="1200"/>
            <a:t>A machine is bought for $50,000 and has useful life of 10 years and $10,000 salvage value.</a:t>
          </a:r>
          <a:endParaRPr lang="en-US" sz="2700" kern="1200"/>
        </a:p>
      </dsp:txBody>
      <dsp:txXfrm>
        <a:off x="0" y="1384035"/>
        <a:ext cx="6900512" cy="1384035"/>
      </dsp:txXfrm>
    </dsp:sp>
    <dsp:sp modelId="{01FDF6D9-2D60-4729-A3BA-5B15F421BB5C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7F30C5-8D71-427F-93A1-97ED7DD15DB4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700" kern="1200"/>
            <a:t>Depreciation rate = (80% / useful life of asset) x 2 = 16% </a:t>
          </a:r>
          <a:endParaRPr lang="en-US" sz="2700" kern="1200"/>
        </a:p>
      </dsp:txBody>
      <dsp:txXfrm>
        <a:off x="0" y="2768070"/>
        <a:ext cx="6900512" cy="1384035"/>
      </dsp:txXfrm>
    </dsp:sp>
    <dsp:sp modelId="{1F3C9C91-7CD8-4205-8352-B1AE48E413E5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442559-9CBF-4121-A499-A972D95AE5C8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700" kern="1200"/>
            <a:t>Depreciation expense in first year = $50,000 x 16% = $8,000</a:t>
          </a:r>
          <a:endParaRPr lang="en-US" sz="2700" kern="1200"/>
        </a:p>
      </dsp:txBody>
      <dsp:txXfrm>
        <a:off x="0" y="4152105"/>
        <a:ext cx="6900512" cy="13840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E7E75E-8842-4E7D-BD8F-061473B18D82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5E01A-09B5-4D44-8748-A99FAEEAC8ED}">
      <dsp:nvSpPr>
        <dsp:cNvPr id="0" name=""/>
        <dsp:cNvSpPr/>
      </dsp:nvSpPr>
      <dsp:spPr>
        <a:xfrm>
          <a:off x="0" y="0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Assets that cannot be touched</a:t>
          </a:r>
          <a:endParaRPr lang="en-US" sz="3200" kern="1200"/>
        </a:p>
      </dsp:txBody>
      <dsp:txXfrm>
        <a:off x="0" y="0"/>
        <a:ext cx="6900512" cy="692017"/>
      </dsp:txXfrm>
    </dsp:sp>
    <dsp:sp modelId="{EB6D7191-F60B-4080-B165-97298846A14F}">
      <dsp:nvSpPr>
        <dsp:cNvPr id="0" name=""/>
        <dsp:cNvSpPr/>
      </dsp:nvSpPr>
      <dsp:spPr>
        <a:xfrm>
          <a:off x="0" y="692017"/>
          <a:ext cx="6900512" cy="0"/>
        </a:xfrm>
        <a:prstGeom prst="line">
          <a:avLst/>
        </a:prstGeom>
        <a:solidFill>
          <a:schemeClr val="accent2">
            <a:hueOff val="-207909"/>
            <a:satOff val="-11990"/>
            <a:lumOff val="1233"/>
            <a:alphaOff val="0"/>
          </a:schemeClr>
        </a:solidFill>
        <a:ln w="12700" cap="flat" cmpd="sng" algn="ctr">
          <a:solidFill>
            <a:schemeClr val="accent2">
              <a:hueOff val="-207909"/>
              <a:satOff val="-11990"/>
              <a:lumOff val="123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DD859-1816-4E52-BA9A-7B1B2D3A964D}">
      <dsp:nvSpPr>
        <dsp:cNvPr id="0" name=""/>
        <dsp:cNvSpPr/>
      </dsp:nvSpPr>
      <dsp:spPr>
        <a:xfrm>
          <a:off x="0" y="692017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Goodwill</a:t>
          </a:r>
          <a:endParaRPr lang="en-US" sz="3200" kern="1200"/>
        </a:p>
      </dsp:txBody>
      <dsp:txXfrm>
        <a:off x="0" y="692017"/>
        <a:ext cx="6900512" cy="692017"/>
      </dsp:txXfrm>
    </dsp:sp>
    <dsp:sp modelId="{DB70D8FA-FB6C-46D9-8E75-7BDE2E4D60D7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2">
            <a:hueOff val="-415818"/>
            <a:satOff val="-23979"/>
            <a:lumOff val="2465"/>
            <a:alphaOff val="0"/>
          </a:schemeClr>
        </a:solidFill>
        <a:ln w="12700" cap="flat" cmpd="sng" algn="ctr">
          <a:solidFill>
            <a:schemeClr val="accent2">
              <a:hueOff val="-415818"/>
              <a:satOff val="-23979"/>
              <a:lumOff val="24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68E8F1-A9EA-4659-9357-6F35EBC5430B}">
      <dsp:nvSpPr>
        <dsp:cNvPr id="0" name=""/>
        <dsp:cNvSpPr/>
      </dsp:nvSpPr>
      <dsp:spPr>
        <a:xfrm>
          <a:off x="0" y="1384035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Brand recognition</a:t>
          </a:r>
          <a:endParaRPr lang="en-US" sz="3200" kern="1200"/>
        </a:p>
      </dsp:txBody>
      <dsp:txXfrm>
        <a:off x="0" y="1384035"/>
        <a:ext cx="6900512" cy="692017"/>
      </dsp:txXfrm>
    </dsp:sp>
    <dsp:sp modelId="{2F0B64D7-FB9F-41DB-9301-998FE869B4EA}">
      <dsp:nvSpPr>
        <dsp:cNvPr id="0" name=""/>
        <dsp:cNvSpPr/>
      </dsp:nvSpPr>
      <dsp:spPr>
        <a:xfrm>
          <a:off x="0" y="2076052"/>
          <a:ext cx="6900512" cy="0"/>
        </a:xfrm>
        <a:prstGeom prst="line">
          <a:avLst/>
        </a:prstGeom>
        <a:solidFill>
          <a:schemeClr val="accent2">
            <a:hueOff val="-623727"/>
            <a:satOff val="-35969"/>
            <a:lumOff val="3698"/>
            <a:alphaOff val="0"/>
          </a:schemeClr>
        </a:solidFill>
        <a:ln w="12700" cap="flat" cmpd="sng" algn="ctr">
          <a:solidFill>
            <a:schemeClr val="accent2">
              <a:hueOff val="-623727"/>
              <a:satOff val="-35969"/>
              <a:lumOff val="36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EE4CA3-989B-4F76-B63C-A8A3A7444011}">
      <dsp:nvSpPr>
        <dsp:cNvPr id="0" name=""/>
        <dsp:cNvSpPr/>
      </dsp:nvSpPr>
      <dsp:spPr>
        <a:xfrm>
          <a:off x="0" y="2076052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Copyrights</a:t>
          </a:r>
          <a:endParaRPr lang="en-US" sz="3200" kern="1200"/>
        </a:p>
      </dsp:txBody>
      <dsp:txXfrm>
        <a:off x="0" y="2076052"/>
        <a:ext cx="6900512" cy="692017"/>
      </dsp:txXfrm>
    </dsp:sp>
    <dsp:sp modelId="{A699DDC2-E97E-4D82-A712-DFFECFB940FA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-831636"/>
            <a:satOff val="-47959"/>
            <a:lumOff val="4930"/>
            <a:alphaOff val="0"/>
          </a:schemeClr>
        </a:solidFill>
        <a:ln w="12700" cap="flat" cmpd="sng" algn="ctr">
          <a:solidFill>
            <a:schemeClr val="accent2">
              <a:hueOff val="-831636"/>
              <a:satOff val="-47959"/>
              <a:lumOff val="49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39A8AF-94F0-4A1A-A117-94E40F3C9BAC}">
      <dsp:nvSpPr>
        <dsp:cNvPr id="0" name=""/>
        <dsp:cNvSpPr/>
      </dsp:nvSpPr>
      <dsp:spPr>
        <a:xfrm>
          <a:off x="0" y="2768070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Patents</a:t>
          </a:r>
          <a:endParaRPr lang="en-US" sz="3200" kern="1200"/>
        </a:p>
      </dsp:txBody>
      <dsp:txXfrm>
        <a:off x="0" y="2768070"/>
        <a:ext cx="6900512" cy="692017"/>
      </dsp:txXfrm>
    </dsp:sp>
    <dsp:sp modelId="{8D445AF3-0905-422D-8A55-B3939A3A85FA}">
      <dsp:nvSpPr>
        <dsp:cNvPr id="0" name=""/>
        <dsp:cNvSpPr/>
      </dsp:nvSpPr>
      <dsp:spPr>
        <a:xfrm>
          <a:off x="0" y="3460088"/>
          <a:ext cx="6900512" cy="0"/>
        </a:xfrm>
        <a:prstGeom prst="line">
          <a:avLst/>
        </a:prstGeom>
        <a:solidFill>
          <a:schemeClr val="accent2">
            <a:hueOff val="-1039545"/>
            <a:satOff val="-59949"/>
            <a:lumOff val="6163"/>
            <a:alphaOff val="0"/>
          </a:schemeClr>
        </a:solidFill>
        <a:ln w="12700" cap="flat" cmpd="sng" algn="ctr">
          <a:solidFill>
            <a:schemeClr val="accent2">
              <a:hueOff val="-1039545"/>
              <a:satOff val="-59949"/>
              <a:lumOff val="61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D345E1-1650-4664-BC3C-2673BD13A5E1}">
      <dsp:nvSpPr>
        <dsp:cNvPr id="0" name=""/>
        <dsp:cNvSpPr/>
      </dsp:nvSpPr>
      <dsp:spPr>
        <a:xfrm>
          <a:off x="0" y="3460088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Trademarks</a:t>
          </a:r>
          <a:endParaRPr lang="en-US" sz="3200" kern="1200"/>
        </a:p>
      </dsp:txBody>
      <dsp:txXfrm>
        <a:off x="0" y="3460088"/>
        <a:ext cx="6900512" cy="692017"/>
      </dsp:txXfrm>
    </dsp:sp>
    <dsp:sp modelId="{8D899372-25D3-48E3-9E47-2752D94843C3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2">
            <a:hueOff val="-1247454"/>
            <a:satOff val="-71938"/>
            <a:lumOff val="7395"/>
            <a:alphaOff val="0"/>
          </a:schemeClr>
        </a:solidFill>
        <a:ln w="12700" cap="flat" cmpd="sng" algn="ctr">
          <a:solidFill>
            <a:schemeClr val="accent2">
              <a:hueOff val="-1247454"/>
              <a:satOff val="-71938"/>
              <a:lumOff val="73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D536D-5015-4F98-ACA0-6310F21EC373}">
      <dsp:nvSpPr>
        <dsp:cNvPr id="0" name=""/>
        <dsp:cNvSpPr/>
      </dsp:nvSpPr>
      <dsp:spPr>
        <a:xfrm>
          <a:off x="0" y="4152105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Trade Names</a:t>
          </a:r>
          <a:endParaRPr lang="en-US" sz="3200" kern="1200"/>
        </a:p>
      </dsp:txBody>
      <dsp:txXfrm>
        <a:off x="0" y="4152105"/>
        <a:ext cx="6900512" cy="692017"/>
      </dsp:txXfrm>
    </dsp:sp>
    <dsp:sp modelId="{27ECE80C-6931-42D8-946B-0ECD3371AD21}">
      <dsp:nvSpPr>
        <dsp:cNvPr id="0" name=""/>
        <dsp:cNvSpPr/>
      </dsp:nvSpPr>
      <dsp:spPr>
        <a:xfrm>
          <a:off x="0" y="4844123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0E172-C278-4F4E-8FD8-159826C4C99C}">
      <dsp:nvSpPr>
        <dsp:cNvPr id="0" name=""/>
        <dsp:cNvSpPr/>
      </dsp:nvSpPr>
      <dsp:spPr>
        <a:xfrm>
          <a:off x="0" y="4844123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Customer Lists</a:t>
          </a:r>
          <a:endParaRPr lang="en-US" sz="3200" kern="1200"/>
        </a:p>
      </dsp:txBody>
      <dsp:txXfrm>
        <a:off x="0" y="4844123"/>
        <a:ext cx="6900512" cy="69201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13A744-2642-491F-B5F5-B2017D8B757C}">
      <dsp:nvSpPr>
        <dsp:cNvPr id="0" name=""/>
        <dsp:cNvSpPr/>
      </dsp:nvSpPr>
      <dsp:spPr>
        <a:xfrm>
          <a:off x="0" y="97479"/>
          <a:ext cx="10515600" cy="2878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kern="1200"/>
            <a:t>Revenue / Sales (-)</a:t>
          </a:r>
          <a:endParaRPr lang="en-US" sz="1200" kern="1200"/>
        </a:p>
      </dsp:txBody>
      <dsp:txXfrm>
        <a:off x="14050" y="111529"/>
        <a:ext cx="10487500" cy="259719"/>
      </dsp:txXfrm>
    </dsp:sp>
    <dsp:sp modelId="{AE42617F-5520-48FC-8592-D9D73998AE97}">
      <dsp:nvSpPr>
        <dsp:cNvPr id="0" name=""/>
        <dsp:cNvSpPr/>
      </dsp:nvSpPr>
      <dsp:spPr>
        <a:xfrm>
          <a:off x="0" y="419859"/>
          <a:ext cx="10515600" cy="287819"/>
        </a:xfrm>
        <a:prstGeom prst="roundRect">
          <a:avLst/>
        </a:prstGeom>
        <a:solidFill>
          <a:schemeClr val="accent2">
            <a:hueOff val="-121280"/>
            <a:satOff val="-6994"/>
            <a:lumOff val="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kern="1200"/>
            <a:t>Cost of Goods Sold (=)</a:t>
          </a:r>
          <a:endParaRPr lang="en-US" sz="1200" kern="1200"/>
        </a:p>
      </dsp:txBody>
      <dsp:txXfrm>
        <a:off x="14050" y="433909"/>
        <a:ext cx="10487500" cy="259719"/>
      </dsp:txXfrm>
    </dsp:sp>
    <dsp:sp modelId="{F1D3D5D2-9D6A-44C1-A584-BB3B5F13F6A8}">
      <dsp:nvSpPr>
        <dsp:cNvPr id="0" name=""/>
        <dsp:cNvSpPr/>
      </dsp:nvSpPr>
      <dsp:spPr>
        <a:xfrm>
          <a:off x="0" y="742239"/>
          <a:ext cx="10515600" cy="287819"/>
        </a:xfrm>
        <a:prstGeom prst="roundRect">
          <a:avLst/>
        </a:prstGeom>
        <a:solidFill>
          <a:schemeClr val="accent2">
            <a:hueOff val="-242561"/>
            <a:satOff val="-13988"/>
            <a:lumOff val="14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kern="1200"/>
            <a:t>Gross Profit (-)</a:t>
          </a:r>
          <a:endParaRPr lang="en-US" sz="1200" kern="1200"/>
        </a:p>
      </dsp:txBody>
      <dsp:txXfrm>
        <a:off x="14050" y="756289"/>
        <a:ext cx="10487500" cy="259719"/>
      </dsp:txXfrm>
    </dsp:sp>
    <dsp:sp modelId="{353BEB0B-1A33-4E90-A25A-806DDD858BD9}">
      <dsp:nvSpPr>
        <dsp:cNvPr id="0" name=""/>
        <dsp:cNvSpPr/>
      </dsp:nvSpPr>
      <dsp:spPr>
        <a:xfrm>
          <a:off x="0" y="1064619"/>
          <a:ext cx="10515600" cy="287819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kern="1200"/>
            <a:t>Marketing, Advertising Expenses (-)</a:t>
          </a:r>
          <a:endParaRPr lang="en-US" sz="1200" kern="1200"/>
        </a:p>
      </dsp:txBody>
      <dsp:txXfrm>
        <a:off x="14050" y="1078669"/>
        <a:ext cx="10487500" cy="259719"/>
      </dsp:txXfrm>
    </dsp:sp>
    <dsp:sp modelId="{30B41F42-3FFA-4D7C-92CB-049E3D4B6FC5}">
      <dsp:nvSpPr>
        <dsp:cNvPr id="0" name=""/>
        <dsp:cNvSpPr/>
      </dsp:nvSpPr>
      <dsp:spPr>
        <a:xfrm>
          <a:off x="0" y="1386999"/>
          <a:ext cx="10515600" cy="287819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kern="1200"/>
            <a:t>General and Administrative Expenses (=)</a:t>
          </a:r>
          <a:endParaRPr lang="en-US" sz="1200" kern="1200"/>
        </a:p>
      </dsp:txBody>
      <dsp:txXfrm>
        <a:off x="14050" y="1401049"/>
        <a:ext cx="10487500" cy="259719"/>
      </dsp:txXfrm>
    </dsp:sp>
    <dsp:sp modelId="{DBA54C3C-91FA-4D98-9290-873431571A5B}">
      <dsp:nvSpPr>
        <dsp:cNvPr id="0" name=""/>
        <dsp:cNvSpPr/>
      </dsp:nvSpPr>
      <dsp:spPr>
        <a:xfrm>
          <a:off x="0" y="1709379"/>
          <a:ext cx="10515600" cy="287819"/>
        </a:xfrm>
        <a:prstGeom prst="roundRect">
          <a:avLst/>
        </a:prstGeom>
        <a:solidFill>
          <a:schemeClr val="accent2">
            <a:hueOff val="-606401"/>
            <a:satOff val="-34970"/>
            <a:lumOff val="35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kern="1200"/>
            <a:t>Earnings Before Interest Taxes Depreciation Amortization EBITDA (-)</a:t>
          </a:r>
          <a:endParaRPr lang="en-US" sz="1200" kern="1200"/>
        </a:p>
      </dsp:txBody>
      <dsp:txXfrm>
        <a:off x="14050" y="1723429"/>
        <a:ext cx="10487500" cy="259719"/>
      </dsp:txXfrm>
    </dsp:sp>
    <dsp:sp modelId="{B7644627-8FDF-4EC8-8815-4955245E12C5}">
      <dsp:nvSpPr>
        <dsp:cNvPr id="0" name=""/>
        <dsp:cNvSpPr/>
      </dsp:nvSpPr>
      <dsp:spPr>
        <a:xfrm>
          <a:off x="0" y="2031759"/>
          <a:ext cx="10515600" cy="287819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kern="1200"/>
            <a:t>Depreciation and Amortization Expenses (=)</a:t>
          </a:r>
          <a:endParaRPr lang="en-US" sz="1200" kern="1200"/>
        </a:p>
      </dsp:txBody>
      <dsp:txXfrm>
        <a:off x="14050" y="2045809"/>
        <a:ext cx="10487500" cy="259719"/>
      </dsp:txXfrm>
    </dsp:sp>
    <dsp:sp modelId="{E49B405E-F6A7-4DE9-9B6F-EC1F9F3EAE12}">
      <dsp:nvSpPr>
        <dsp:cNvPr id="0" name=""/>
        <dsp:cNvSpPr/>
      </dsp:nvSpPr>
      <dsp:spPr>
        <a:xfrm>
          <a:off x="0" y="2354139"/>
          <a:ext cx="10515600" cy="287819"/>
        </a:xfrm>
        <a:prstGeom prst="roundRect">
          <a:avLst/>
        </a:prstGeom>
        <a:solidFill>
          <a:schemeClr val="accent2">
            <a:hueOff val="-848962"/>
            <a:satOff val="-48958"/>
            <a:lumOff val="50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kern="1200"/>
            <a:t>Operating Income or EBIT (-)</a:t>
          </a:r>
          <a:endParaRPr lang="en-US" sz="1200" kern="1200"/>
        </a:p>
      </dsp:txBody>
      <dsp:txXfrm>
        <a:off x="14050" y="2368189"/>
        <a:ext cx="10487500" cy="259719"/>
      </dsp:txXfrm>
    </dsp:sp>
    <dsp:sp modelId="{B1D8B743-28C2-499E-99BD-7AFC48FADFC9}">
      <dsp:nvSpPr>
        <dsp:cNvPr id="0" name=""/>
        <dsp:cNvSpPr/>
      </dsp:nvSpPr>
      <dsp:spPr>
        <a:xfrm>
          <a:off x="0" y="2676519"/>
          <a:ext cx="10515600" cy="287819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kern="1200"/>
            <a:t>Interest Expenses (-)</a:t>
          </a:r>
          <a:endParaRPr lang="en-US" sz="1200" kern="1200"/>
        </a:p>
      </dsp:txBody>
      <dsp:txXfrm>
        <a:off x="14050" y="2690569"/>
        <a:ext cx="10487500" cy="259719"/>
      </dsp:txXfrm>
    </dsp:sp>
    <dsp:sp modelId="{033613F5-FC04-45F1-A4AD-D2310A8D9ED0}">
      <dsp:nvSpPr>
        <dsp:cNvPr id="0" name=""/>
        <dsp:cNvSpPr/>
      </dsp:nvSpPr>
      <dsp:spPr>
        <a:xfrm>
          <a:off x="0" y="2998899"/>
          <a:ext cx="10515600" cy="287819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kern="1200"/>
            <a:t>Other Expenses (=)</a:t>
          </a:r>
          <a:endParaRPr lang="en-US" sz="1200" kern="1200"/>
        </a:p>
      </dsp:txBody>
      <dsp:txXfrm>
        <a:off x="14050" y="3012949"/>
        <a:ext cx="10487500" cy="259719"/>
      </dsp:txXfrm>
    </dsp:sp>
    <dsp:sp modelId="{F46A4273-7E8D-4861-87AB-D8EB5727373D}">
      <dsp:nvSpPr>
        <dsp:cNvPr id="0" name=""/>
        <dsp:cNvSpPr/>
      </dsp:nvSpPr>
      <dsp:spPr>
        <a:xfrm>
          <a:off x="0" y="3321278"/>
          <a:ext cx="10515600" cy="287819"/>
        </a:xfrm>
        <a:prstGeom prst="roundRect">
          <a:avLst/>
        </a:prstGeom>
        <a:solidFill>
          <a:schemeClr val="accent2">
            <a:hueOff val="-1212803"/>
            <a:satOff val="-69940"/>
            <a:lumOff val="71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kern="1200"/>
            <a:t>EBT or Earnings Before Tax (-)</a:t>
          </a:r>
          <a:endParaRPr lang="en-US" sz="1200" kern="1200"/>
        </a:p>
      </dsp:txBody>
      <dsp:txXfrm>
        <a:off x="14050" y="3335328"/>
        <a:ext cx="10487500" cy="259719"/>
      </dsp:txXfrm>
    </dsp:sp>
    <dsp:sp modelId="{6987C46E-55A5-4E8C-9308-99D9D1550BBD}">
      <dsp:nvSpPr>
        <dsp:cNvPr id="0" name=""/>
        <dsp:cNvSpPr/>
      </dsp:nvSpPr>
      <dsp:spPr>
        <a:xfrm>
          <a:off x="0" y="3643658"/>
          <a:ext cx="10515600" cy="287819"/>
        </a:xfrm>
        <a:prstGeom prst="roundRect">
          <a:avLst/>
        </a:prstGeom>
        <a:solidFill>
          <a:schemeClr val="accent2">
            <a:hueOff val="-1334083"/>
            <a:satOff val="-76934"/>
            <a:lumOff val="79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kern="1200"/>
            <a:t>Income Tax (=)</a:t>
          </a:r>
          <a:endParaRPr lang="en-US" sz="1200" kern="1200"/>
        </a:p>
      </dsp:txBody>
      <dsp:txXfrm>
        <a:off x="14050" y="3657708"/>
        <a:ext cx="10487500" cy="259719"/>
      </dsp:txXfrm>
    </dsp:sp>
    <dsp:sp modelId="{91777C0B-2BB0-4C66-B67F-15130196B6DA}">
      <dsp:nvSpPr>
        <dsp:cNvPr id="0" name=""/>
        <dsp:cNvSpPr/>
      </dsp:nvSpPr>
      <dsp:spPr>
        <a:xfrm>
          <a:off x="0" y="3966038"/>
          <a:ext cx="10515600" cy="287819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kern="1200"/>
            <a:t>Net Income</a:t>
          </a:r>
          <a:endParaRPr lang="en-US" sz="1200" kern="1200"/>
        </a:p>
      </dsp:txBody>
      <dsp:txXfrm>
        <a:off x="14050" y="3980088"/>
        <a:ext cx="10487500" cy="25971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00DCFE-DDA7-49B9-8498-CF0B89A82AD6}">
      <dsp:nvSpPr>
        <dsp:cNvPr id="0" name=""/>
        <dsp:cNvSpPr/>
      </dsp:nvSpPr>
      <dsp:spPr>
        <a:xfrm>
          <a:off x="973190" y="78549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906D82-C24C-4A6C-BBD1-4ABADF0E4330}">
      <dsp:nvSpPr>
        <dsp:cNvPr id="0" name=""/>
        <dsp:cNvSpPr/>
      </dsp:nvSpPr>
      <dsp:spPr>
        <a:xfrm>
          <a:off x="1242597" y="1054900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4CCE9C-4B9F-4CE3-B090-B913ACC160BE}">
      <dsp:nvSpPr>
        <dsp:cNvPr id="0" name=""/>
        <dsp:cNvSpPr/>
      </dsp:nvSpPr>
      <dsp:spPr>
        <a:xfrm>
          <a:off x="569079" y="2443382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500" kern="1200"/>
            <a:t>Liquidity Ratios</a:t>
          </a:r>
          <a:endParaRPr lang="en-US" sz="2500" kern="1200"/>
        </a:p>
      </dsp:txBody>
      <dsp:txXfrm>
        <a:off x="569079" y="2443382"/>
        <a:ext cx="2072362" cy="720000"/>
      </dsp:txXfrm>
    </dsp:sp>
    <dsp:sp modelId="{762EE8F7-4E6F-4814-B990-1204CF05FF95}">
      <dsp:nvSpPr>
        <dsp:cNvPr id="0" name=""/>
        <dsp:cNvSpPr/>
      </dsp:nvSpPr>
      <dsp:spPr>
        <a:xfrm>
          <a:off x="3408216" y="78549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6314A3-C200-4894-BDCF-9B38DC6983FA}">
      <dsp:nvSpPr>
        <dsp:cNvPr id="0" name=""/>
        <dsp:cNvSpPr/>
      </dsp:nvSpPr>
      <dsp:spPr>
        <a:xfrm>
          <a:off x="3677623" y="1054900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9E882-9808-474F-BB97-97F551D3C11E}">
      <dsp:nvSpPr>
        <dsp:cNvPr id="0" name=""/>
        <dsp:cNvSpPr/>
      </dsp:nvSpPr>
      <dsp:spPr>
        <a:xfrm>
          <a:off x="3004105" y="2443382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500" kern="1200"/>
            <a:t>Leverage Ratios</a:t>
          </a:r>
          <a:endParaRPr lang="en-US" sz="2500" kern="1200"/>
        </a:p>
      </dsp:txBody>
      <dsp:txXfrm>
        <a:off x="3004105" y="2443382"/>
        <a:ext cx="2072362" cy="720000"/>
      </dsp:txXfrm>
    </dsp:sp>
    <dsp:sp modelId="{015C9385-0D66-4A6D-9D36-799BBCD85A0F}">
      <dsp:nvSpPr>
        <dsp:cNvPr id="0" name=""/>
        <dsp:cNvSpPr/>
      </dsp:nvSpPr>
      <dsp:spPr>
        <a:xfrm>
          <a:off x="5843242" y="78549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A91C74-DECB-42EE-B3E2-6BA3FC6C12CF}">
      <dsp:nvSpPr>
        <dsp:cNvPr id="0" name=""/>
        <dsp:cNvSpPr/>
      </dsp:nvSpPr>
      <dsp:spPr>
        <a:xfrm>
          <a:off x="6112649" y="1054900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F1585-F29B-419D-98C4-6A2ED4C1EC2B}">
      <dsp:nvSpPr>
        <dsp:cNvPr id="0" name=""/>
        <dsp:cNvSpPr/>
      </dsp:nvSpPr>
      <dsp:spPr>
        <a:xfrm>
          <a:off x="5439131" y="2443382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500" kern="1200"/>
            <a:t>Efficiency Ratios</a:t>
          </a:r>
          <a:endParaRPr lang="en-US" sz="2500" kern="1200"/>
        </a:p>
      </dsp:txBody>
      <dsp:txXfrm>
        <a:off x="5439131" y="2443382"/>
        <a:ext cx="2072362" cy="720000"/>
      </dsp:txXfrm>
    </dsp:sp>
    <dsp:sp modelId="{21F9A870-2102-4FB1-BEAE-8610E1549D77}">
      <dsp:nvSpPr>
        <dsp:cNvPr id="0" name=""/>
        <dsp:cNvSpPr/>
      </dsp:nvSpPr>
      <dsp:spPr>
        <a:xfrm>
          <a:off x="8278268" y="78549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CE5EF8-DF93-43C9-B784-5330656BFF84}">
      <dsp:nvSpPr>
        <dsp:cNvPr id="0" name=""/>
        <dsp:cNvSpPr/>
      </dsp:nvSpPr>
      <dsp:spPr>
        <a:xfrm>
          <a:off x="8547675" y="1054900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BA3E2-B816-4E55-95F9-9F9441DC2893}">
      <dsp:nvSpPr>
        <dsp:cNvPr id="0" name=""/>
        <dsp:cNvSpPr/>
      </dsp:nvSpPr>
      <dsp:spPr>
        <a:xfrm>
          <a:off x="7874157" y="2443382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500" kern="1200"/>
            <a:t>Profitability Ratios</a:t>
          </a:r>
          <a:endParaRPr lang="en-US" sz="2500" kern="1200"/>
        </a:p>
      </dsp:txBody>
      <dsp:txXfrm>
        <a:off x="7874157" y="2443382"/>
        <a:ext cx="2072362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387812-D332-4943-8D36-015F597CCA9A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087314-5D0B-44AB-9F2C-C303748510CA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5000" kern="1200"/>
            <a:t>Current Ratio</a:t>
          </a:r>
          <a:endParaRPr lang="en-US" sz="5000" kern="1200"/>
        </a:p>
      </dsp:txBody>
      <dsp:txXfrm>
        <a:off x="0" y="0"/>
        <a:ext cx="10515600" cy="1087834"/>
      </dsp:txXfrm>
    </dsp:sp>
    <dsp:sp modelId="{D6CC8270-7DD2-42F2-98F9-1EE0BAB401C1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56514-C6EB-425B-AD30-4F4F5C7B6389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5000" kern="1200"/>
            <a:t>Acid Test Ratio</a:t>
          </a:r>
          <a:endParaRPr lang="en-US" sz="5000" kern="1200"/>
        </a:p>
      </dsp:txBody>
      <dsp:txXfrm>
        <a:off x="0" y="1087834"/>
        <a:ext cx="10515600" cy="1087834"/>
      </dsp:txXfrm>
    </dsp:sp>
    <dsp:sp modelId="{9C962C90-ECA2-43E2-A6AE-6C5CE04CB920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E5DEDD-71E6-4AAA-8ACE-737F8C5F4D59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5000" kern="1200"/>
            <a:t>Cash Ratio</a:t>
          </a:r>
          <a:endParaRPr lang="en-US" sz="5000" kern="1200"/>
        </a:p>
      </dsp:txBody>
      <dsp:txXfrm>
        <a:off x="0" y="2175669"/>
        <a:ext cx="10515600" cy="1087834"/>
      </dsp:txXfrm>
    </dsp:sp>
    <dsp:sp modelId="{DBC9B538-50BB-4784-A5A4-2444CBBC5251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37BFA-47DB-4785-8200-DB9AE1BB2F9B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5000" kern="1200"/>
            <a:t>Operating cash flow ratio</a:t>
          </a:r>
          <a:endParaRPr lang="en-US" sz="5000" kern="1200"/>
        </a:p>
      </dsp:txBody>
      <dsp:txXfrm>
        <a:off x="0" y="3263503"/>
        <a:ext cx="10515600" cy="10878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ED1422-B122-4DB9-AEDB-6C0B3ABFA2CF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0B073-FE15-4BC2-8538-F3D2309D9BB4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/>
            <a:t>Gross Margin </a:t>
          </a:r>
          <a:endParaRPr lang="en-US" sz="4000" kern="1200"/>
        </a:p>
      </dsp:txBody>
      <dsp:txXfrm>
        <a:off x="0" y="531"/>
        <a:ext cx="10515600" cy="870055"/>
      </dsp:txXfrm>
    </dsp:sp>
    <dsp:sp modelId="{E9D26AE9-A83C-472D-A472-F01EFB458317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D604B0-F958-463C-A543-DDE6ADDE5C47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/>
            <a:t>Operating Margin</a:t>
          </a:r>
          <a:endParaRPr lang="en-US" sz="4000" kern="1200"/>
        </a:p>
      </dsp:txBody>
      <dsp:txXfrm>
        <a:off x="0" y="870586"/>
        <a:ext cx="10515600" cy="870055"/>
      </dsp:txXfrm>
    </dsp:sp>
    <dsp:sp modelId="{871CC927-7B11-4516-9FC6-4E090B01CCED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3E8C3-50E7-4B08-9954-027E65B7E03B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/>
            <a:t>Net Profit Margin</a:t>
          </a:r>
          <a:endParaRPr lang="en-US" sz="4000" kern="1200"/>
        </a:p>
      </dsp:txBody>
      <dsp:txXfrm>
        <a:off x="0" y="1740641"/>
        <a:ext cx="10515600" cy="870055"/>
      </dsp:txXfrm>
    </dsp:sp>
    <dsp:sp modelId="{4A770D12-4963-4A56-9BB3-D1E71F55FF14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38E3B9-CAE0-4243-B175-0104FAD5E3C3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/>
            <a:t>Return on Assets</a:t>
          </a:r>
          <a:endParaRPr lang="en-US" sz="4000" kern="1200"/>
        </a:p>
      </dsp:txBody>
      <dsp:txXfrm>
        <a:off x="0" y="2610696"/>
        <a:ext cx="10515600" cy="870055"/>
      </dsp:txXfrm>
    </dsp:sp>
    <dsp:sp modelId="{84398C8C-4FD5-4937-864A-AEABBC365215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7E8FE-2B56-4D60-AE7C-A32C489E9F2A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/>
            <a:t>Return on Equity</a:t>
          </a:r>
          <a:endParaRPr lang="en-US" sz="4000" kern="1200"/>
        </a:p>
      </dsp:txBody>
      <dsp:txXfrm>
        <a:off x="0" y="3480751"/>
        <a:ext cx="10515600" cy="87005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2DAF97-21B1-480A-B919-DDF6F19D752D}">
      <dsp:nvSpPr>
        <dsp:cNvPr id="0" name=""/>
        <dsp:cNvSpPr/>
      </dsp:nvSpPr>
      <dsp:spPr>
        <a:xfrm>
          <a:off x="3080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Step 1 : Identify all sources of income</a:t>
          </a:r>
          <a:endParaRPr lang="en-US" sz="1900" kern="1200"/>
        </a:p>
      </dsp:txBody>
      <dsp:txXfrm>
        <a:off x="3080" y="1765067"/>
        <a:ext cx="2444055" cy="2053006"/>
      </dsp:txXfrm>
    </dsp:sp>
    <dsp:sp modelId="{5EC2508A-CE6B-4DB1-8316-C9E122D976F4}">
      <dsp:nvSpPr>
        <dsp:cNvPr id="0" name=""/>
        <dsp:cNvSpPr/>
      </dsp:nvSpPr>
      <dsp:spPr>
        <a:xfrm>
          <a:off x="711856" y="806997"/>
          <a:ext cx="1026503" cy="10265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957325"/>
        <a:ext cx="725847" cy="725847"/>
      </dsp:txXfrm>
    </dsp:sp>
    <dsp:sp modelId="{F45C6A3F-3E47-49DD-A0EA-1CF8CE686850}">
      <dsp:nvSpPr>
        <dsp:cNvPr id="0" name=""/>
        <dsp:cNvSpPr/>
      </dsp:nvSpPr>
      <dsp:spPr>
        <a:xfrm>
          <a:off x="3080" y="3886435"/>
          <a:ext cx="2444055" cy="72"/>
        </a:xfrm>
        <a:prstGeom prst="rect">
          <a:avLst/>
        </a:prstGeom>
        <a:solidFill>
          <a:schemeClr val="accent2">
            <a:hueOff val="-207909"/>
            <a:satOff val="-11990"/>
            <a:lumOff val="1233"/>
            <a:alphaOff val="0"/>
          </a:schemeClr>
        </a:solidFill>
        <a:ln w="12700" cap="flat" cmpd="sng" algn="ctr">
          <a:solidFill>
            <a:schemeClr val="accent2">
              <a:hueOff val="-207909"/>
              <a:satOff val="-11990"/>
              <a:lumOff val="123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43F0E14-A130-4FCD-80E1-71B820BDA7AA}">
      <dsp:nvSpPr>
        <dsp:cNvPr id="0" name=""/>
        <dsp:cNvSpPr/>
      </dsp:nvSpPr>
      <dsp:spPr>
        <a:xfrm>
          <a:off x="2691541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Step 2 : Identify all business expenses</a:t>
          </a:r>
          <a:endParaRPr lang="en-US" sz="1900" kern="1200"/>
        </a:p>
      </dsp:txBody>
      <dsp:txXfrm>
        <a:off x="2691541" y="1765067"/>
        <a:ext cx="2444055" cy="2053006"/>
      </dsp:txXfrm>
    </dsp:sp>
    <dsp:sp modelId="{3B57A0DE-1F37-4B1E-B668-E6B1A0823DA3}">
      <dsp:nvSpPr>
        <dsp:cNvPr id="0" name=""/>
        <dsp:cNvSpPr/>
      </dsp:nvSpPr>
      <dsp:spPr>
        <a:xfrm>
          <a:off x="3400317" y="806997"/>
          <a:ext cx="1026503" cy="1026503"/>
        </a:xfrm>
        <a:prstGeom prst="ellipse">
          <a:avLst/>
        </a:prstGeom>
        <a:solidFill>
          <a:schemeClr val="accent2">
            <a:hueOff val="-415818"/>
            <a:satOff val="-23979"/>
            <a:lumOff val="2465"/>
            <a:alphaOff val="0"/>
          </a:schemeClr>
        </a:solidFill>
        <a:ln w="12700" cap="flat" cmpd="sng" algn="ctr">
          <a:solidFill>
            <a:schemeClr val="accent2">
              <a:hueOff val="-415818"/>
              <a:satOff val="-23979"/>
              <a:lumOff val="24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957325"/>
        <a:ext cx="725847" cy="725847"/>
      </dsp:txXfrm>
    </dsp:sp>
    <dsp:sp modelId="{4E6FB9FC-4C32-44CF-A89F-1D6341919692}">
      <dsp:nvSpPr>
        <dsp:cNvPr id="0" name=""/>
        <dsp:cNvSpPr/>
      </dsp:nvSpPr>
      <dsp:spPr>
        <a:xfrm>
          <a:off x="2691541" y="3886435"/>
          <a:ext cx="2444055" cy="72"/>
        </a:xfrm>
        <a:prstGeom prst="rect">
          <a:avLst/>
        </a:prstGeom>
        <a:solidFill>
          <a:schemeClr val="accent2">
            <a:hueOff val="-623727"/>
            <a:satOff val="-35969"/>
            <a:lumOff val="3698"/>
            <a:alphaOff val="0"/>
          </a:schemeClr>
        </a:solidFill>
        <a:ln w="12700" cap="flat" cmpd="sng" algn="ctr">
          <a:solidFill>
            <a:schemeClr val="accent2">
              <a:hueOff val="-623727"/>
              <a:satOff val="-35969"/>
              <a:lumOff val="36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2C22F81-9089-4ACF-A460-5D941000B24D}">
      <dsp:nvSpPr>
        <dsp:cNvPr id="0" name=""/>
        <dsp:cNvSpPr/>
      </dsp:nvSpPr>
      <dsp:spPr>
        <a:xfrm>
          <a:off x="5380002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Step 3 : Create the Cash Flow Statement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500" kern="1200"/>
            <a:t>Operating Activities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500" kern="1200"/>
            <a:t>Investing Activities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500" kern="1200"/>
            <a:t>Financing Activities</a:t>
          </a:r>
          <a:endParaRPr lang="en-US" sz="1500" kern="1200"/>
        </a:p>
      </dsp:txBody>
      <dsp:txXfrm>
        <a:off x="5380002" y="1765067"/>
        <a:ext cx="2444055" cy="2053006"/>
      </dsp:txXfrm>
    </dsp:sp>
    <dsp:sp modelId="{F3FF1537-BB15-4886-AABE-9C2ECBA9914E}">
      <dsp:nvSpPr>
        <dsp:cNvPr id="0" name=""/>
        <dsp:cNvSpPr/>
      </dsp:nvSpPr>
      <dsp:spPr>
        <a:xfrm>
          <a:off x="6088778" y="806997"/>
          <a:ext cx="1026503" cy="1026503"/>
        </a:xfrm>
        <a:prstGeom prst="ellipse">
          <a:avLst/>
        </a:prstGeom>
        <a:solidFill>
          <a:schemeClr val="accent2">
            <a:hueOff val="-831636"/>
            <a:satOff val="-47959"/>
            <a:lumOff val="4930"/>
            <a:alphaOff val="0"/>
          </a:schemeClr>
        </a:solidFill>
        <a:ln w="12700" cap="flat" cmpd="sng" algn="ctr">
          <a:solidFill>
            <a:schemeClr val="accent2">
              <a:hueOff val="-831636"/>
              <a:satOff val="-47959"/>
              <a:lumOff val="49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957325"/>
        <a:ext cx="725847" cy="725847"/>
      </dsp:txXfrm>
    </dsp:sp>
    <dsp:sp modelId="{BF773FD5-0532-42F3-9E74-0D1A6ED38516}">
      <dsp:nvSpPr>
        <dsp:cNvPr id="0" name=""/>
        <dsp:cNvSpPr/>
      </dsp:nvSpPr>
      <dsp:spPr>
        <a:xfrm>
          <a:off x="5380002" y="3886435"/>
          <a:ext cx="2444055" cy="72"/>
        </a:xfrm>
        <a:prstGeom prst="rect">
          <a:avLst/>
        </a:prstGeom>
        <a:solidFill>
          <a:schemeClr val="accent2">
            <a:hueOff val="-1039545"/>
            <a:satOff val="-59949"/>
            <a:lumOff val="6163"/>
            <a:alphaOff val="0"/>
          </a:schemeClr>
        </a:solidFill>
        <a:ln w="12700" cap="flat" cmpd="sng" algn="ctr">
          <a:solidFill>
            <a:schemeClr val="accent2">
              <a:hueOff val="-1039545"/>
              <a:satOff val="-59949"/>
              <a:lumOff val="61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18AAD90-95DD-462A-8696-86262C753720}">
      <dsp:nvSpPr>
        <dsp:cNvPr id="0" name=""/>
        <dsp:cNvSpPr/>
      </dsp:nvSpPr>
      <dsp:spPr>
        <a:xfrm>
          <a:off x="8068463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Step 4 : Analyse the cash flow statement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500" kern="1200"/>
            <a:t>Look for any deficit patterns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500" kern="1200"/>
            <a:t>Better time the expenses</a:t>
          </a:r>
          <a:endParaRPr lang="en-US" sz="1500" kern="1200"/>
        </a:p>
      </dsp:txBody>
      <dsp:txXfrm>
        <a:off x="8068463" y="1765067"/>
        <a:ext cx="2444055" cy="2053006"/>
      </dsp:txXfrm>
    </dsp:sp>
    <dsp:sp modelId="{72491A3F-FB8A-49E9-BE72-1BCFB16B477B}">
      <dsp:nvSpPr>
        <dsp:cNvPr id="0" name=""/>
        <dsp:cNvSpPr/>
      </dsp:nvSpPr>
      <dsp:spPr>
        <a:xfrm>
          <a:off x="8777239" y="806997"/>
          <a:ext cx="1026503" cy="1026503"/>
        </a:xfrm>
        <a:prstGeom prst="ellipse">
          <a:avLst/>
        </a:prstGeom>
        <a:solidFill>
          <a:schemeClr val="accent2">
            <a:hueOff val="-1247454"/>
            <a:satOff val="-71938"/>
            <a:lumOff val="7395"/>
            <a:alphaOff val="0"/>
          </a:schemeClr>
        </a:solidFill>
        <a:ln w="12700" cap="flat" cmpd="sng" algn="ctr">
          <a:solidFill>
            <a:schemeClr val="accent2">
              <a:hueOff val="-1247454"/>
              <a:satOff val="-71938"/>
              <a:lumOff val="73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957325"/>
        <a:ext cx="725847" cy="725847"/>
      </dsp:txXfrm>
    </dsp:sp>
    <dsp:sp modelId="{CB58BCC1-751C-491C-A90D-5722928965A3}">
      <dsp:nvSpPr>
        <dsp:cNvPr id="0" name=""/>
        <dsp:cNvSpPr/>
      </dsp:nvSpPr>
      <dsp:spPr>
        <a:xfrm>
          <a:off x="8068463" y="3886435"/>
          <a:ext cx="2444055" cy="72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646E61-DC7D-4971-B52A-9244173F7E86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/>
            <a:t>Plan for upcoming expenses</a:t>
          </a:r>
          <a:endParaRPr lang="en-US" sz="2400" kern="1200"/>
        </a:p>
      </dsp:txBody>
      <dsp:txXfrm>
        <a:off x="0" y="1653508"/>
        <a:ext cx="3286125" cy="2610802"/>
      </dsp:txXfrm>
    </dsp:sp>
    <dsp:sp modelId="{B4B83E3A-EDAC-4D7A-A185-8F09DE93318C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326462AE-F85C-43BA-A596-4C65F7D61577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accent2">
              <a:hueOff val="-291073"/>
              <a:satOff val="-16786"/>
              <a:lumOff val="1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91108DC-A56A-42C3-AEBB-06BED5F68B3E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/>
            <a:t>Increase the Income</a:t>
          </a:r>
          <a:endParaRPr lang="en-US" sz="2400" kern="1200"/>
        </a:p>
      </dsp:txBody>
      <dsp:txXfrm>
        <a:off x="3614737" y="1653508"/>
        <a:ext cx="3286125" cy="2610802"/>
      </dsp:txXfrm>
    </dsp:sp>
    <dsp:sp modelId="{16F10915-E8BD-49D1-8983-A05E7F786602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accent2">
              <a:hueOff val="-582145"/>
              <a:satOff val="-33571"/>
              <a:lumOff val="3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7A1996BC-7C95-46D2-8F74-3A332543A04F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accent2">
              <a:hueOff val="-873218"/>
              <a:satOff val="-50357"/>
              <a:lumOff val="5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DD2DFC8-F926-49C4-84A0-79A355129888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/>
            <a:t>Re-examine payment schedules </a:t>
          </a:r>
          <a:endParaRPr lang="en-US" sz="24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900" kern="1200"/>
            <a:t>Look at average collections period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900" kern="1200"/>
            <a:t>Look at average payables period</a:t>
          </a:r>
          <a:endParaRPr lang="en-US" sz="1900" kern="1200"/>
        </a:p>
      </dsp:txBody>
      <dsp:txXfrm>
        <a:off x="7229475" y="1653508"/>
        <a:ext cx="3286125" cy="2610802"/>
      </dsp:txXfrm>
    </dsp:sp>
    <dsp:sp modelId="{3732D95D-B826-4C93-9DB7-DAFC9175E7C0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accent2">
              <a:hueOff val="-1164290"/>
              <a:satOff val="-67142"/>
              <a:lumOff val="6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BF83A26F-EBED-4976-AABB-7EBD7BF13392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F1F41-E861-4504-A3E0-75C28769F48F}">
      <dsp:nvSpPr>
        <dsp:cNvPr id="0" name=""/>
        <dsp:cNvSpPr/>
      </dsp:nvSpPr>
      <dsp:spPr>
        <a:xfrm>
          <a:off x="3594" y="813467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/>
            <a:t>Analyse Historical Data</a:t>
          </a:r>
          <a:endParaRPr lang="en-US" sz="2300" kern="1200"/>
        </a:p>
      </dsp:txBody>
      <dsp:txXfrm>
        <a:off x="3594" y="1848740"/>
        <a:ext cx="1946002" cy="1634641"/>
      </dsp:txXfrm>
    </dsp:sp>
    <dsp:sp modelId="{771E95F8-51D8-4EB5-9E2A-15098802F739}">
      <dsp:nvSpPr>
        <dsp:cNvPr id="0" name=""/>
        <dsp:cNvSpPr/>
      </dsp:nvSpPr>
      <dsp:spPr>
        <a:xfrm>
          <a:off x="567934" y="1085907"/>
          <a:ext cx="817320" cy="81732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1</a:t>
          </a:r>
        </a:p>
      </dsp:txBody>
      <dsp:txXfrm>
        <a:off x="687628" y="1205601"/>
        <a:ext cx="577932" cy="577932"/>
      </dsp:txXfrm>
    </dsp:sp>
    <dsp:sp modelId="{B9AB7EB0-E2FE-4107-941D-B9039FCDE6BA}">
      <dsp:nvSpPr>
        <dsp:cNvPr id="0" name=""/>
        <dsp:cNvSpPr/>
      </dsp:nvSpPr>
      <dsp:spPr>
        <a:xfrm>
          <a:off x="3594" y="3537798"/>
          <a:ext cx="1946002" cy="72"/>
        </a:xfrm>
        <a:prstGeom prst="rect">
          <a:avLst/>
        </a:prstGeom>
        <a:solidFill>
          <a:schemeClr val="accent2">
            <a:hueOff val="-161707"/>
            <a:satOff val="-9325"/>
            <a:lumOff val="959"/>
            <a:alphaOff val="0"/>
          </a:schemeClr>
        </a:solidFill>
        <a:ln w="12700" cap="flat" cmpd="sng" algn="ctr">
          <a:solidFill>
            <a:schemeClr val="accent2">
              <a:hueOff val="-161707"/>
              <a:satOff val="-9325"/>
              <a:lumOff val="9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578293-DCFB-4CB3-890B-6DFC1E428ED0}">
      <dsp:nvSpPr>
        <dsp:cNvPr id="0" name=""/>
        <dsp:cNvSpPr/>
      </dsp:nvSpPr>
      <dsp:spPr>
        <a:xfrm>
          <a:off x="2144196" y="813467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-212306"/>
            <a:satOff val="-18836"/>
            <a:lumOff val="-19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12306"/>
              <a:satOff val="-18836"/>
              <a:lumOff val="-1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/>
            <a:t>Forecast Revenue</a:t>
          </a:r>
          <a:endParaRPr lang="en-US" sz="2300" kern="1200"/>
        </a:p>
      </dsp:txBody>
      <dsp:txXfrm>
        <a:off x="2144196" y="1848740"/>
        <a:ext cx="1946002" cy="1634641"/>
      </dsp:txXfrm>
    </dsp:sp>
    <dsp:sp modelId="{2C8E9C67-3C95-4DD1-8874-3D6760C1ECDE}">
      <dsp:nvSpPr>
        <dsp:cNvPr id="0" name=""/>
        <dsp:cNvSpPr/>
      </dsp:nvSpPr>
      <dsp:spPr>
        <a:xfrm>
          <a:off x="2708537" y="1085907"/>
          <a:ext cx="817320" cy="817320"/>
        </a:xfrm>
        <a:prstGeom prst="ellipse">
          <a:avLst/>
        </a:prstGeom>
        <a:solidFill>
          <a:schemeClr val="accent2">
            <a:hueOff val="-323414"/>
            <a:satOff val="-18651"/>
            <a:lumOff val="1917"/>
            <a:alphaOff val="0"/>
          </a:schemeClr>
        </a:solidFill>
        <a:ln w="12700" cap="flat" cmpd="sng" algn="ctr">
          <a:solidFill>
            <a:schemeClr val="accent2">
              <a:hueOff val="-323414"/>
              <a:satOff val="-18651"/>
              <a:lumOff val="19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2</a:t>
          </a:r>
        </a:p>
      </dsp:txBody>
      <dsp:txXfrm>
        <a:off x="2828231" y="1205601"/>
        <a:ext cx="577932" cy="577932"/>
      </dsp:txXfrm>
    </dsp:sp>
    <dsp:sp modelId="{282E4916-9EDA-47C6-8A52-A6F5B5CEF433}">
      <dsp:nvSpPr>
        <dsp:cNvPr id="0" name=""/>
        <dsp:cNvSpPr/>
      </dsp:nvSpPr>
      <dsp:spPr>
        <a:xfrm>
          <a:off x="2144196" y="3537798"/>
          <a:ext cx="1946002" cy="72"/>
        </a:xfrm>
        <a:prstGeom prst="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632BC-A7EB-4EF8-9956-54D2E6CE7627}">
      <dsp:nvSpPr>
        <dsp:cNvPr id="0" name=""/>
        <dsp:cNvSpPr/>
      </dsp:nvSpPr>
      <dsp:spPr>
        <a:xfrm>
          <a:off x="4284798" y="813467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/>
            <a:t>Predict Cost of Goods Sold</a:t>
          </a:r>
          <a:endParaRPr lang="en-US" sz="2300" kern="1200"/>
        </a:p>
      </dsp:txBody>
      <dsp:txXfrm>
        <a:off x="4284798" y="1848740"/>
        <a:ext cx="1946002" cy="1634641"/>
      </dsp:txXfrm>
    </dsp:sp>
    <dsp:sp modelId="{6204B052-BE48-49C8-82B0-1EA27BF7C45F}">
      <dsp:nvSpPr>
        <dsp:cNvPr id="0" name=""/>
        <dsp:cNvSpPr/>
      </dsp:nvSpPr>
      <dsp:spPr>
        <a:xfrm>
          <a:off x="4849139" y="1085907"/>
          <a:ext cx="817320" cy="817320"/>
        </a:xfrm>
        <a:prstGeom prst="ellipse">
          <a:avLst/>
        </a:prstGeom>
        <a:solidFill>
          <a:schemeClr val="accent2">
            <a:hueOff val="-646828"/>
            <a:satOff val="-37301"/>
            <a:lumOff val="3835"/>
            <a:alphaOff val="0"/>
          </a:schemeClr>
        </a:solidFill>
        <a:ln w="12700" cap="flat" cmpd="sng" algn="ctr">
          <a:solidFill>
            <a:schemeClr val="accent2">
              <a:hueOff val="-646828"/>
              <a:satOff val="-37301"/>
              <a:lumOff val="38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3</a:t>
          </a:r>
        </a:p>
      </dsp:txBody>
      <dsp:txXfrm>
        <a:off x="4968833" y="1205601"/>
        <a:ext cx="577932" cy="577932"/>
      </dsp:txXfrm>
    </dsp:sp>
    <dsp:sp modelId="{A144ABBF-E304-48BB-903F-FE674A45C72B}">
      <dsp:nvSpPr>
        <dsp:cNvPr id="0" name=""/>
        <dsp:cNvSpPr/>
      </dsp:nvSpPr>
      <dsp:spPr>
        <a:xfrm>
          <a:off x="4284798" y="3537798"/>
          <a:ext cx="1946002" cy="72"/>
        </a:xfrm>
        <a:prstGeom prst="rect">
          <a:avLst/>
        </a:prstGeom>
        <a:solidFill>
          <a:schemeClr val="accent2">
            <a:hueOff val="-808535"/>
            <a:satOff val="-46627"/>
            <a:lumOff val="4793"/>
            <a:alphaOff val="0"/>
          </a:schemeClr>
        </a:solidFill>
        <a:ln w="12700" cap="flat" cmpd="sng" algn="ctr">
          <a:solidFill>
            <a:schemeClr val="accent2">
              <a:hueOff val="-808535"/>
              <a:satOff val="-46627"/>
              <a:lumOff val="47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18D724-D0DA-4E49-AD72-038E90F5CDB2}">
      <dsp:nvSpPr>
        <dsp:cNvPr id="0" name=""/>
        <dsp:cNvSpPr/>
      </dsp:nvSpPr>
      <dsp:spPr>
        <a:xfrm>
          <a:off x="6425401" y="813467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-636919"/>
            <a:satOff val="-56510"/>
            <a:lumOff val="-5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36919"/>
              <a:satOff val="-56510"/>
              <a:lumOff val="-5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/>
            <a:t>Determine Operating Expenses</a:t>
          </a:r>
          <a:endParaRPr lang="en-US" sz="2300" kern="1200"/>
        </a:p>
      </dsp:txBody>
      <dsp:txXfrm>
        <a:off x="6425401" y="1848740"/>
        <a:ext cx="1946002" cy="1634641"/>
      </dsp:txXfrm>
    </dsp:sp>
    <dsp:sp modelId="{BBC140E6-646C-493D-A189-104806F551DD}">
      <dsp:nvSpPr>
        <dsp:cNvPr id="0" name=""/>
        <dsp:cNvSpPr/>
      </dsp:nvSpPr>
      <dsp:spPr>
        <a:xfrm>
          <a:off x="6989741" y="1085907"/>
          <a:ext cx="817320" cy="817320"/>
        </a:xfrm>
        <a:prstGeom prst="ellips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4</a:t>
          </a:r>
        </a:p>
      </dsp:txBody>
      <dsp:txXfrm>
        <a:off x="7109435" y="1205601"/>
        <a:ext cx="577932" cy="577932"/>
      </dsp:txXfrm>
    </dsp:sp>
    <dsp:sp modelId="{C0709670-026A-45AB-B5B2-6CAE9F57EE1A}">
      <dsp:nvSpPr>
        <dsp:cNvPr id="0" name=""/>
        <dsp:cNvSpPr/>
      </dsp:nvSpPr>
      <dsp:spPr>
        <a:xfrm>
          <a:off x="6425401" y="3537798"/>
          <a:ext cx="1946002" cy="72"/>
        </a:xfrm>
        <a:prstGeom prst="rect">
          <a:avLst/>
        </a:prstGeom>
        <a:solidFill>
          <a:schemeClr val="accent2">
            <a:hueOff val="-1131949"/>
            <a:satOff val="-65277"/>
            <a:lumOff val="6711"/>
            <a:alphaOff val="0"/>
          </a:schemeClr>
        </a:solidFill>
        <a:ln w="12700" cap="flat" cmpd="sng" algn="ctr">
          <a:solidFill>
            <a:schemeClr val="accent2">
              <a:hueOff val="-1131949"/>
              <a:satOff val="-65277"/>
              <a:lumOff val="671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5D84C-D644-423E-A92F-533B1140B51A}">
      <dsp:nvSpPr>
        <dsp:cNvPr id="0" name=""/>
        <dsp:cNvSpPr/>
      </dsp:nvSpPr>
      <dsp:spPr>
        <a:xfrm>
          <a:off x="8566003" y="813467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/>
            <a:t>Calculate Projected Net Income</a:t>
          </a:r>
          <a:endParaRPr lang="en-US" sz="2300" kern="1200"/>
        </a:p>
      </dsp:txBody>
      <dsp:txXfrm>
        <a:off x="8566003" y="1848740"/>
        <a:ext cx="1946002" cy="1634641"/>
      </dsp:txXfrm>
    </dsp:sp>
    <dsp:sp modelId="{DE89D14E-F086-4873-83BD-7E827A196D53}">
      <dsp:nvSpPr>
        <dsp:cNvPr id="0" name=""/>
        <dsp:cNvSpPr/>
      </dsp:nvSpPr>
      <dsp:spPr>
        <a:xfrm>
          <a:off x="9130344" y="1085907"/>
          <a:ext cx="817320" cy="817320"/>
        </a:xfrm>
        <a:prstGeom prst="ellipse">
          <a:avLst/>
        </a:prstGeom>
        <a:solidFill>
          <a:schemeClr val="accent2">
            <a:hueOff val="-1293656"/>
            <a:satOff val="-74603"/>
            <a:lumOff val="7669"/>
            <a:alphaOff val="0"/>
          </a:schemeClr>
        </a:solidFill>
        <a:ln w="12700" cap="flat" cmpd="sng" algn="ctr">
          <a:solidFill>
            <a:schemeClr val="accent2">
              <a:hueOff val="-1293656"/>
              <a:satOff val="-74603"/>
              <a:lumOff val="76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5</a:t>
          </a:r>
        </a:p>
      </dsp:txBody>
      <dsp:txXfrm>
        <a:off x="9250038" y="1205601"/>
        <a:ext cx="577932" cy="577932"/>
      </dsp:txXfrm>
    </dsp:sp>
    <dsp:sp modelId="{53B2A72E-7031-4F16-A324-5AC1BBCBE26E}">
      <dsp:nvSpPr>
        <dsp:cNvPr id="0" name=""/>
        <dsp:cNvSpPr/>
      </dsp:nvSpPr>
      <dsp:spPr>
        <a:xfrm>
          <a:off x="8566003" y="3537798"/>
          <a:ext cx="1946002" cy="72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101F3-EEB5-4DC9-8F08-BE086901650E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Enter Short term and Long term assets</a:t>
          </a:r>
          <a:endParaRPr lang="en-US" sz="2600" kern="1200"/>
        </a:p>
      </dsp:txBody>
      <dsp:txXfrm>
        <a:off x="0" y="1653508"/>
        <a:ext cx="3286125" cy="2610802"/>
      </dsp:txXfrm>
    </dsp:sp>
    <dsp:sp modelId="{2B8F32FA-C447-4033-9A7C-08060B287CE3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766A92AA-1D2C-4EAC-B54C-09B2366AE53C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accent2">
              <a:hueOff val="-291073"/>
              <a:satOff val="-16786"/>
              <a:lumOff val="1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195DDF-3008-4617-9EA9-58003533400D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Include current and Long Term Liabilities</a:t>
          </a:r>
          <a:endParaRPr lang="en-US" sz="2600" kern="1200"/>
        </a:p>
      </dsp:txBody>
      <dsp:txXfrm>
        <a:off x="3614737" y="1653508"/>
        <a:ext cx="3286125" cy="2610802"/>
      </dsp:txXfrm>
    </dsp:sp>
    <dsp:sp modelId="{14534656-8060-4540-9FA3-0FB9DFEBACC2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accent2">
              <a:hueOff val="-582145"/>
              <a:satOff val="-33571"/>
              <a:lumOff val="3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D0B63BB4-0707-40A6-B8CA-88BEA22B324B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accent2">
              <a:hueOff val="-873218"/>
              <a:satOff val="-50357"/>
              <a:lumOff val="5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57265-B5B5-41BB-B8DD-B8CF6EF34020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Calculate the Final Figures</a:t>
          </a:r>
          <a:endParaRPr lang="en-US" sz="2600" kern="1200"/>
        </a:p>
      </dsp:txBody>
      <dsp:txXfrm>
        <a:off x="7229475" y="1653508"/>
        <a:ext cx="3286125" cy="2610802"/>
      </dsp:txXfrm>
    </dsp:sp>
    <dsp:sp modelId="{285997F9-9F19-4C78-B157-6AC2E353C265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accent2">
              <a:hueOff val="-1164290"/>
              <a:satOff val="-67142"/>
              <a:lumOff val="6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5DA68534-438C-48EF-8194-783E5B476F98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8B6884-C412-4403-A1A6-E20C3C1A94F8}">
      <dsp:nvSpPr>
        <dsp:cNvPr id="0" name=""/>
        <dsp:cNvSpPr/>
      </dsp:nvSpPr>
      <dsp:spPr>
        <a:xfrm>
          <a:off x="0" y="958220"/>
          <a:ext cx="6588691" cy="176902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BAFF5E-F6F9-4A1D-AB0D-C944CF9220CE}">
      <dsp:nvSpPr>
        <dsp:cNvPr id="0" name=""/>
        <dsp:cNvSpPr/>
      </dsp:nvSpPr>
      <dsp:spPr>
        <a:xfrm>
          <a:off x="535129" y="1356250"/>
          <a:ext cx="972962" cy="9729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2442C-22BA-4CE6-9E67-AA53E50717BC}">
      <dsp:nvSpPr>
        <dsp:cNvPr id="0" name=""/>
        <dsp:cNvSpPr/>
      </dsp:nvSpPr>
      <dsp:spPr>
        <a:xfrm>
          <a:off x="2043221" y="958220"/>
          <a:ext cx="2964910" cy="1769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222" tIns="187222" rIns="187222" bIns="18722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Direct</a:t>
          </a:r>
          <a:endParaRPr lang="en-US" sz="2500" kern="1200"/>
        </a:p>
      </dsp:txBody>
      <dsp:txXfrm>
        <a:off x="2043221" y="958220"/>
        <a:ext cx="2964910" cy="1769022"/>
      </dsp:txXfrm>
    </dsp:sp>
    <dsp:sp modelId="{7E1E3D06-C5EB-47D1-A81F-86F533B483E2}">
      <dsp:nvSpPr>
        <dsp:cNvPr id="0" name=""/>
        <dsp:cNvSpPr/>
      </dsp:nvSpPr>
      <dsp:spPr>
        <a:xfrm>
          <a:off x="5008132" y="958220"/>
          <a:ext cx="1580558" cy="1769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222" tIns="187222" rIns="187222" bIns="18722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500" kern="1200"/>
            <a:t>Cash flow = receivables - expenditures</a:t>
          </a:r>
          <a:endParaRPr lang="en-US" sz="1500" kern="1200"/>
        </a:p>
      </dsp:txBody>
      <dsp:txXfrm>
        <a:off x="5008132" y="958220"/>
        <a:ext cx="1580558" cy="1769022"/>
      </dsp:txXfrm>
    </dsp:sp>
    <dsp:sp modelId="{7E87D6C2-AE94-4557-AE10-FD72E23622E8}">
      <dsp:nvSpPr>
        <dsp:cNvPr id="0" name=""/>
        <dsp:cNvSpPr/>
      </dsp:nvSpPr>
      <dsp:spPr>
        <a:xfrm>
          <a:off x="0" y="3169499"/>
          <a:ext cx="6588691" cy="176902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3EE9C4-460C-42A8-AF8C-F806724EFA00}">
      <dsp:nvSpPr>
        <dsp:cNvPr id="0" name=""/>
        <dsp:cNvSpPr/>
      </dsp:nvSpPr>
      <dsp:spPr>
        <a:xfrm>
          <a:off x="535129" y="3567529"/>
          <a:ext cx="972962" cy="9729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1464F-88C5-4D65-9E1E-AAA277231F13}">
      <dsp:nvSpPr>
        <dsp:cNvPr id="0" name=""/>
        <dsp:cNvSpPr/>
      </dsp:nvSpPr>
      <dsp:spPr>
        <a:xfrm>
          <a:off x="2043221" y="3169499"/>
          <a:ext cx="2964910" cy="1769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222" tIns="187222" rIns="187222" bIns="18722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Indirect</a:t>
          </a:r>
          <a:endParaRPr lang="en-US" sz="2500" kern="1200"/>
        </a:p>
      </dsp:txBody>
      <dsp:txXfrm>
        <a:off x="2043221" y="3169499"/>
        <a:ext cx="2964910" cy="1769022"/>
      </dsp:txXfrm>
    </dsp:sp>
    <dsp:sp modelId="{98DAF428-1F16-4781-BF53-E2C9DA21EB6D}">
      <dsp:nvSpPr>
        <dsp:cNvPr id="0" name=""/>
        <dsp:cNvSpPr/>
      </dsp:nvSpPr>
      <dsp:spPr>
        <a:xfrm>
          <a:off x="5008132" y="3169499"/>
          <a:ext cx="1580558" cy="17690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222" tIns="187222" rIns="187222" bIns="18722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500" kern="1200"/>
            <a:t>Start with net income and account for items affecting profit but not cash flow</a:t>
          </a:r>
          <a:endParaRPr lang="en-US" sz="1500" kern="1200"/>
        </a:p>
      </dsp:txBody>
      <dsp:txXfrm>
        <a:off x="5008132" y="3169499"/>
        <a:ext cx="1580558" cy="176902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C0B48E-3029-4996-B330-14D761D1832F}">
      <dsp:nvSpPr>
        <dsp:cNvPr id="0" name=""/>
        <dsp:cNvSpPr/>
      </dsp:nvSpPr>
      <dsp:spPr>
        <a:xfrm>
          <a:off x="3364992" y="2177"/>
          <a:ext cx="3785616" cy="104746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900" kern="1200"/>
            <a:t>Analyse Balance Sheet</a:t>
          </a:r>
          <a:endParaRPr lang="en-US" sz="2900" kern="1200"/>
        </a:p>
      </dsp:txBody>
      <dsp:txXfrm>
        <a:off x="3416125" y="53310"/>
        <a:ext cx="3683350" cy="945199"/>
      </dsp:txXfrm>
    </dsp:sp>
    <dsp:sp modelId="{7480998F-B403-4035-BAED-BD8C0B3FC93E}">
      <dsp:nvSpPr>
        <dsp:cNvPr id="0" name=""/>
        <dsp:cNvSpPr/>
      </dsp:nvSpPr>
      <dsp:spPr>
        <a:xfrm>
          <a:off x="3364992" y="1102016"/>
          <a:ext cx="3785616" cy="1047465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900" kern="1200"/>
            <a:t>Analyse Income Statement</a:t>
          </a:r>
          <a:endParaRPr lang="en-US" sz="2900" kern="1200"/>
        </a:p>
      </dsp:txBody>
      <dsp:txXfrm>
        <a:off x="3416125" y="1153149"/>
        <a:ext cx="3683350" cy="945199"/>
      </dsp:txXfrm>
    </dsp:sp>
    <dsp:sp modelId="{DA2EB527-FACB-4B51-B065-8B937B3917A9}">
      <dsp:nvSpPr>
        <dsp:cNvPr id="0" name=""/>
        <dsp:cNvSpPr/>
      </dsp:nvSpPr>
      <dsp:spPr>
        <a:xfrm>
          <a:off x="3364992" y="2201855"/>
          <a:ext cx="3785616" cy="1047465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900" kern="1200"/>
            <a:t>Analyse Cash Flow Statement</a:t>
          </a:r>
          <a:endParaRPr lang="en-US" sz="2900" kern="1200"/>
        </a:p>
      </dsp:txBody>
      <dsp:txXfrm>
        <a:off x="3416125" y="2252988"/>
        <a:ext cx="3683350" cy="945199"/>
      </dsp:txXfrm>
    </dsp:sp>
    <dsp:sp modelId="{36CCC1C5-68BA-4050-8CC9-373F95B2D7F7}">
      <dsp:nvSpPr>
        <dsp:cNvPr id="0" name=""/>
        <dsp:cNvSpPr/>
      </dsp:nvSpPr>
      <dsp:spPr>
        <a:xfrm>
          <a:off x="3364992" y="3301694"/>
          <a:ext cx="3785616" cy="1047465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900" kern="1200"/>
            <a:t>Financial Ratio Analysis</a:t>
          </a:r>
          <a:endParaRPr lang="en-US" sz="2900" kern="1200"/>
        </a:p>
      </dsp:txBody>
      <dsp:txXfrm>
        <a:off x="3416125" y="3352827"/>
        <a:ext cx="3683350" cy="94519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B06EFD-5F40-4C9E-B47B-7D0A7C9AC164}">
      <dsp:nvSpPr>
        <dsp:cNvPr id="0" name=""/>
        <dsp:cNvSpPr/>
      </dsp:nvSpPr>
      <dsp:spPr>
        <a:xfrm>
          <a:off x="0" y="32228"/>
          <a:ext cx="10515600" cy="20685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5200" kern="1200"/>
            <a:t>Compare ratios of the company with leading competitors</a:t>
          </a:r>
          <a:endParaRPr lang="en-US" sz="5200" kern="1200"/>
        </a:p>
      </dsp:txBody>
      <dsp:txXfrm>
        <a:off x="100979" y="133207"/>
        <a:ext cx="10313642" cy="1866602"/>
      </dsp:txXfrm>
    </dsp:sp>
    <dsp:sp modelId="{4592DC1A-97FE-4697-AD5E-60A0915E176A}">
      <dsp:nvSpPr>
        <dsp:cNvPr id="0" name=""/>
        <dsp:cNvSpPr/>
      </dsp:nvSpPr>
      <dsp:spPr>
        <a:xfrm>
          <a:off x="0" y="2250549"/>
          <a:ext cx="10515600" cy="206856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5200" kern="1200"/>
            <a:t>Compare ratios with industry average</a:t>
          </a:r>
          <a:endParaRPr lang="en-US" sz="5200" kern="1200"/>
        </a:p>
      </dsp:txBody>
      <dsp:txXfrm>
        <a:off x="100979" y="2351528"/>
        <a:ext cx="10313642" cy="186660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10328D-624B-47F8-B27B-A26630C499A5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8A0730-236A-4498-BF69-5669571C93F9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700" kern="1200"/>
            <a:t>Payback Period</a:t>
          </a:r>
          <a:endParaRPr lang="en-US" sz="4700" kern="1200"/>
        </a:p>
      </dsp:txBody>
      <dsp:txXfrm>
        <a:off x="0" y="675"/>
        <a:ext cx="6900512" cy="1106957"/>
      </dsp:txXfrm>
    </dsp:sp>
    <dsp:sp modelId="{5275467F-563E-4C56-A1BB-EC2E3D69BC1E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1A3AD4-C8BF-4D70-98F4-B40BC224B4DA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700" kern="1200"/>
            <a:t>Discounted Payback Period</a:t>
          </a:r>
          <a:endParaRPr lang="en-US" sz="4700" kern="1200"/>
        </a:p>
      </dsp:txBody>
      <dsp:txXfrm>
        <a:off x="0" y="1107633"/>
        <a:ext cx="6900512" cy="1106957"/>
      </dsp:txXfrm>
    </dsp:sp>
    <dsp:sp modelId="{55E2E29E-8C70-47D3-BAF0-4027159A002C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37050F-DFC7-4165-8CB8-CA03D5DD091C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700" kern="1200"/>
            <a:t>Net Present Value</a:t>
          </a:r>
          <a:endParaRPr lang="en-US" sz="4700" kern="1200"/>
        </a:p>
      </dsp:txBody>
      <dsp:txXfrm>
        <a:off x="0" y="2214591"/>
        <a:ext cx="6900512" cy="1106957"/>
      </dsp:txXfrm>
    </dsp:sp>
    <dsp:sp modelId="{C4A444C3-E351-429C-B5E6-780D48E80ECD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E23CF9-5619-45D8-853C-9F5447AA6559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700" kern="1200"/>
            <a:t>Profitability Index</a:t>
          </a:r>
          <a:endParaRPr lang="en-US" sz="4700" kern="1200"/>
        </a:p>
      </dsp:txBody>
      <dsp:txXfrm>
        <a:off x="0" y="3321549"/>
        <a:ext cx="6900512" cy="1106957"/>
      </dsp:txXfrm>
    </dsp:sp>
    <dsp:sp modelId="{65894FEF-BCFA-4D73-9EFB-022022BCECA0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AFF5D9-B620-4D0A-9E7E-69BF60B8F028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700" kern="1200"/>
            <a:t>Internal Rate of Return</a:t>
          </a:r>
          <a:endParaRPr lang="en-US" sz="4700" kern="1200"/>
        </a:p>
      </dsp:txBody>
      <dsp:txXfrm>
        <a:off x="0" y="4428507"/>
        <a:ext cx="6900512" cy="110695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392020-5C51-4A74-86C4-A415287F0E9B}">
      <dsp:nvSpPr>
        <dsp:cNvPr id="0" name=""/>
        <dsp:cNvSpPr/>
      </dsp:nvSpPr>
      <dsp:spPr>
        <a:xfrm>
          <a:off x="0" y="719"/>
          <a:ext cx="6588691" cy="16843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CB0E59-83B4-4EB0-A8C9-85CD1497F1B5}">
      <dsp:nvSpPr>
        <dsp:cNvPr id="0" name=""/>
        <dsp:cNvSpPr/>
      </dsp:nvSpPr>
      <dsp:spPr>
        <a:xfrm>
          <a:off x="509522" y="379703"/>
          <a:ext cx="926404" cy="9264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4CCE8-0F3A-4CFC-90CE-A27950A5A050}">
      <dsp:nvSpPr>
        <dsp:cNvPr id="0" name=""/>
        <dsp:cNvSpPr/>
      </dsp:nvSpPr>
      <dsp:spPr>
        <a:xfrm>
          <a:off x="1945450" y="719"/>
          <a:ext cx="4643240" cy="1684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63" tIns="178263" rIns="178263" bIns="17826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Time to recover the original investment</a:t>
          </a:r>
          <a:endParaRPr lang="en-US" sz="2500" kern="1200"/>
        </a:p>
      </dsp:txBody>
      <dsp:txXfrm>
        <a:off x="1945450" y="719"/>
        <a:ext cx="4643240" cy="1684372"/>
      </dsp:txXfrm>
    </dsp:sp>
    <dsp:sp modelId="{A55CDB23-C710-4163-973B-143E81299529}">
      <dsp:nvSpPr>
        <dsp:cNvPr id="0" name=""/>
        <dsp:cNvSpPr/>
      </dsp:nvSpPr>
      <dsp:spPr>
        <a:xfrm>
          <a:off x="0" y="2106185"/>
          <a:ext cx="6588691" cy="16843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D46B97-E046-4E9C-A182-57C16B9D4123}">
      <dsp:nvSpPr>
        <dsp:cNvPr id="0" name=""/>
        <dsp:cNvSpPr/>
      </dsp:nvSpPr>
      <dsp:spPr>
        <a:xfrm>
          <a:off x="509522" y="2485169"/>
          <a:ext cx="926404" cy="9264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7C2EB7-55F9-480B-826B-B9E8E873F2CB}">
      <dsp:nvSpPr>
        <dsp:cNvPr id="0" name=""/>
        <dsp:cNvSpPr/>
      </dsp:nvSpPr>
      <dsp:spPr>
        <a:xfrm>
          <a:off x="1945450" y="2106185"/>
          <a:ext cx="4643240" cy="1684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63" tIns="178263" rIns="178263" bIns="17826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Does not include cash flows beyond payback period</a:t>
          </a:r>
          <a:endParaRPr lang="en-US" sz="2500" kern="1200"/>
        </a:p>
      </dsp:txBody>
      <dsp:txXfrm>
        <a:off x="1945450" y="2106185"/>
        <a:ext cx="4643240" cy="1684372"/>
      </dsp:txXfrm>
    </dsp:sp>
    <dsp:sp modelId="{DE0A7FB5-7FF4-492C-98A2-A2A6FEBCA097}">
      <dsp:nvSpPr>
        <dsp:cNvPr id="0" name=""/>
        <dsp:cNvSpPr/>
      </dsp:nvSpPr>
      <dsp:spPr>
        <a:xfrm>
          <a:off x="0" y="4211650"/>
          <a:ext cx="6588691" cy="16843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B439AB-E44B-4F1E-B6FE-9E3CAAEDFDB7}">
      <dsp:nvSpPr>
        <dsp:cNvPr id="0" name=""/>
        <dsp:cNvSpPr/>
      </dsp:nvSpPr>
      <dsp:spPr>
        <a:xfrm>
          <a:off x="509522" y="4590634"/>
          <a:ext cx="926404" cy="9264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9CB1C4-4269-4A3D-A862-57CC59651468}">
      <dsp:nvSpPr>
        <dsp:cNvPr id="0" name=""/>
        <dsp:cNvSpPr/>
      </dsp:nvSpPr>
      <dsp:spPr>
        <a:xfrm>
          <a:off x="1945450" y="4211650"/>
          <a:ext cx="4643240" cy="1684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63" tIns="178263" rIns="178263" bIns="17826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Most useful for comparing projects with almost equal lives</a:t>
          </a:r>
          <a:endParaRPr lang="en-US" sz="2500" kern="1200"/>
        </a:p>
      </dsp:txBody>
      <dsp:txXfrm>
        <a:off x="1945450" y="4211650"/>
        <a:ext cx="4643240" cy="168437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CC808-FE54-471B-BCA7-63460439A6B6}">
      <dsp:nvSpPr>
        <dsp:cNvPr id="0" name=""/>
        <dsp:cNvSpPr/>
      </dsp:nvSpPr>
      <dsp:spPr>
        <a:xfrm>
          <a:off x="2044800" y="174437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85D94E-7CA1-4896-8866-6BAD3DD871DD}">
      <dsp:nvSpPr>
        <dsp:cNvPr id="0" name=""/>
        <dsp:cNvSpPr/>
      </dsp:nvSpPr>
      <dsp:spPr>
        <a:xfrm>
          <a:off x="2512800" y="642437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E061E-E58D-4797-9175-1C1A3EABF82A}">
      <dsp:nvSpPr>
        <dsp:cNvPr id="0" name=""/>
        <dsp:cNvSpPr/>
      </dsp:nvSpPr>
      <dsp:spPr>
        <a:xfrm>
          <a:off x="1342800" y="305443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1700" kern="1200"/>
            <a:t>Present Value of all cash inflows – Present Value of all cash outflows</a:t>
          </a:r>
          <a:endParaRPr lang="en-US" sz="1700" kern="1200"/>
        </a:p>
      </dsp:txBody>
      <dsp:txXfrm>
        <a:off x="1342800" y="3054438"/>
        <a:ext cx="3600000" cy="720000"/>
      </dsp:txXfrm>
    </dsp:sp>
    <dsp:sp modelId="{145464E8-660C-4B66-873C-B17B5E74B6F7}">
      <dsp:nvSpPr>
        <dsp:cNvPr id="0" name=""/>
        <dsp:cNvSpPr/>
      </dsp:nvSpPr>
      <dsp:spPr>
        <a:xfrm>
          <a:off x="6274800" y="174437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F8C648-8E72-4321-ACBC-CF676944EF16}">
      <dsp:nvSpPr>
        <dsp:cNvPr id="0" name=""/>
        <dsp:cNvSpPr/>
      </dsp:nvSpPr>
      <dsp:spPr>
        <a:xfrm>
          <a:off x="6742800" y="642437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CFAEA8-7E20-4AC0-B28B-9AD5052C19CE}">
      <dsp:nvSpPr>
        <dsp:cNvPr id="0" name=""/>
        <dsp:cNvSpPr/>
      </dsp:nvSpPr>
      <dsp:spPr>
        <a:xfrm>
          <a:off x="5572800" y="305443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1700" kern="1200"/>
            <a:t>Accept all investments with a positive NPV and reject investments with a negative NPV</a:t>
          </a:r>
          <a:endParaRPr lang="en-US" sz="1700" kern="1200"/>
        </a:p>
      </dsp:txBody>
      <dsp:txXfrm>
        <a:off x="5572800" y="3054438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CE7E-1DE5-B0AB-6F07-70CFA5E0D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23BB40-7E88-8660-8BBF-918F21D76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15140-33BD-140D-A34F-5660FE94A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22C-C2EB-412F-816E-87A4F5CA7EDE}" type="datetimeFigureOut">
              <a:rPr lang="en-SG" smtClean="0"/>
              <a:t>17/7/22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45E0E-B1F8-B906-F08D-E68A99A28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C11EF-5B58-9097-5EA5-9D04E4F89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A43F-718B-4FD1-9A8E-483A134C03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9564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F969-E860-5B98-43C1-3746A5577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1C418-986C-EF6A-B8A8-8BDC7CE56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140A0-DF7B-A294-159B-45F20CB79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22C-C2EB-412F-816E-87A4F5CA7EDE}" type="datetimeFigureOut">
              <a:rPr lang="en-SG" smtClean="0"/>
              <a:t>17/7/22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240EE-927A-0189-8636-137247E4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9131D-2DBC-15EC-61C6-05E7ED09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A43F-718B-4FD1-9A8E-483A134C03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03371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EA9D8-2EE6-A7E4-C691-B1280CD2D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1B6C9-4ACA-710E-9AD4-CDC8987A3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F0299-E48E-772F-14E6-3C97CA5C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22C-C2EB-412F-816E-87A4F5CA7EDE}" type="datetimeFigureOut">
              <a:rPr lang="en-SG" smtClean="0"/>
              <a:t>17/7/22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49F97-1A9B-8DF2-2F9F-1C455065C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07EE8-18CE-DFE9-9BEE-DF07E3897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A43F-718B-4FD1-9A8E-483A134C03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28642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0300E-9029-965B-1A52-6585F9DC1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6341A-2EE9-8E63-C7F2-1101849B9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6B3ED-5B0F-E385-0B08-FC95BEDB9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AC219-79F5-5C33-AFD7-53EDDF68D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22C-C2EB-412F-816E-87A4F5CA7EDE}" type="datetimeFigureOut">
              <a:rPr lang="en-SG" smtClean="0"/>
              <a:t>17/7/22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3C3A5-051B-602C-4A8D-1D0F96CC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88B83-81EF-09C1-7C75-D1464CF1E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A43F-718B-4FD1-9A8E-483A134C03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38492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EB822-D2B1-167E-A3D6-F67A00E3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4D654-D31C-714C-C546-954EB8038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4DA42-F426-51D0-8CDF-E2A004BF0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5D434C-62F9-0CDD-03B0-5CE9E75CD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D3218-3F5C-5151-4464-0428534772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DBC2CF-D82E-EBF8-8AF0-84F6A1EE9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22C-C2EB-412F-816E-87A4F5CA7EDE}" type="datetimeFigureOut">
              <a:rPr lang="en-SG" smtClean="0"/>
              <a:t>17/7/22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DBFA02-7223-547A-7924-63B0A46D3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DF2893-1CE3-865B-DDC3-CAC469256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A43F-718B-4FD1-9A8E-483A134C03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7073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A3DDC-6AF5-7127-9D89-1A679ECB2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255CE-FE3B-8EBA-5091-42AF0F7FE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22C-C2EB-412F-816E-87A4F5CA7EDE}" type="datetimeFigureOut">
              <a:rPr lang="en-SG" smtClean="0"/>
              <a:t>17/7/22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61416-7AF9-CCE7-13CC-9A47E7D43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382ED-7211-0CD6-7E0F-7F0130F30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A43F-718B-4FD1-9A8E-483A134C03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34331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1666D-2D82-5090-4A9D-97BC04F58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22C-C2EB-412F-816E-87A4F5CA7EDE}" type="datetimeFigureOut">
              <a:rPr lang="en-SG" smtClean="0"/>
              <a:t>17/7/22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60ADA5-BBA5-276B-D298-F1475FFC4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1339B-F5DE-D0AA-F766-618ADC3F0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A43F-718B-4FD1-9A8E-483A134C03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7342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27B08-0A37-4178-7CF0-EEE8E1A9A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1B457-ACCD-83CC-BB2A-450532032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6BDAC-9362-1C33-6D0B-3C9225473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7CC0B-C3AA-B645-FE93-750DA5E05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22C-C2EB-412F-816E-87A4F5CA7EDE}" type="datetimeFigureOut">
              <a:rPr lang="en-SG" smtClean="0"/>
              <a:t>17/7/22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95467-56CF-5F21-B2EA-36935B6B5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7C623-AF27-C8AC-41BF-64D1E7BD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A43F-718B-4FD1-9A8E-483A134C03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6809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62EAA-E2AE-A4EF-25A8-0AF72687E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85C46D-6F26-559A-6ECF-BBC9AA3CF4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BD75C-0296-6026-D02C-8555F9F72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8866C-A139-9EDA-44F7-D3AD83105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22C-C2EB-412F-816E-87A4F5CA7EDE}" type="datetimeFigureOut">
              <a:rPr lang="en-SG" smtClean="0"/>
              <a:t>17/7/22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EF19F-053C-0AD3-5C0D-152AF249F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88BD1-8228-3465-F348-819FA3D1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A43F-718B-4FD1-9A8E-483A134C03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0490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EB966-215C-95D2-7C56-EED53D01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F0AA38-A453-19DA-0EFC-902689C2B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9E7BA-F4A8-486A-08AE-D9FCEBC0F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22C-C2EB-412F-816E-87A4F5CA7EDE}" type="datetimeFigureOut">
              <a:rPr lang="en-SG" smtClean="0"/>
              <a:t>17/7/22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2CBE0-ED39-C083-0C00-1F2256B9C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215B5-DE00-13B8-8760-D9D3F7484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A43F-718B-4FD1-9A8E-483A134C03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1865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D87C59-FBC2-9B82-6C5C-1200A74155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132E6-550E-0689-F164-AE88B182A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CD48F-47D9-1296-6E01-0F242974A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122C-C2EB-412F-816E-87A4F5CA7EDE}" type="datetimeFigureOut">
              <a:rPr lang="en-SG" smtClean="0"/>
              <a:t>17/7/22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4DC32-18A7-1A1E-E8BD-EBD26A278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B18F2-CCBA-AF4D-3CFA-0CC6AE71E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A43F-718B-4FD1-9A8E-483A134C03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45753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3AEB5E-C431-D805-29E0-2A109480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12D99-23EB-BEE6-2777-4520675A5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9E9A1-6C61-0ABB-CB23-84C5D86150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5122C-C2EB-412F-816E-87A4F5CA7EDE}" type="datetimeFigureOut">
              <a:rPr lang="en-SG" smtClean="0"/>
              <a:t>17/7/22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DAA84-DECF-6CB7-5A0A-1E476BB101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CE72B-5C15-EA83-5721-3716FEAB4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FA43F-718B-4FD1-9A8E-483A134C03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87389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4.xml"/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Relationship Id="rId6" Type="http://schemas.microsoft.com/office/2007/relationships/diagramDrawing" Target="../diagrams/drawing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5.xml"/><Relationship Id="rId3" Type="http://schemas.openxmlformats.org/officeDocument/2006/relationships/diagramLayout" Target="../diagrams/layout5.xml"/><Relationship Id="rId4" Type="http://schemas.openxmlformats.org/officeDocument/2006/relationships/diagramQuickStyle" Target="../diagrams/quickStyle5.xml"/><Relationship Id="rId5" Type="http://schemas.openxmlformats.org/officeDocument/2006/relationships/diagramColors" Target="../diagrams/colors5.xml"/><Relationship Id="rId6" Type="http://schemas.microsoft.com/office/2007/relationships/diagramDrawing" Target="../diagrams/drawing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6.xml"/><Relationship Id="rId3" Type="http://schemas.openxmlformats.org/officeDocument/2006/relationships/diagramLayout" Target="../diagrams/layout6.xml"/><Relationship Id="rId4" Type="http://schemas.openxmlformats.org/officeDocument/2006/relationships/diagramQuickStyle" Target="../diagrams/quickStyle6.xml"/><Relationship Id="rId5" Type="http://schemas.openxmlformats.org/officeDocument/2006/relationships/diagramColors" Target="../diagrams/colors6.xml"/><Relationship Id="rId6" Type="http://schemas.microsoft.com/office/2007/relationships/diagramDrawing" Target="../diagrams/drawing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7.xml"/><Relationship Id="rId3" Type="http://schemas.openxmlformats.org/officeDocument/2006/relationships/diagramLayout" Target="../diagrams/layout7.xml"/><Relationship Id="rId4" Type="http://schemas.openxmlformats.org/officeDocument/2006/relationships/diagramQuickStyle" Target="../diagrams/quickStyle7.xml"/><Relationship Id="rId5" Type="http://schemas.openxmlformats.org/officeDocument/2006/relationships/diagramColors" Target="../diagrams/colors7.xml"/><Relationship Id="rId6" Type="http://schemas.microsoft.com/office/2007/relationships/diagramDrawing" Target="../diagrams/drawing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eg"/><Relationship Id="rId3" Type="http://schemas.openxmlformats.org/officeDocument/2006/relationships/diagramData" Target="../diagrams/data8.xml"/><Relationship Id="rId4" Type="http://schemas.openxmlformats.org/officeDocument/2006/relationships/diagramLayout" Target="../diagrams/layout8.xml"/><Relationship Id="rId5" Type="http://schemas.openxmlformats.org/officeDocument/2006/relationships/diagramQuickStyle" Target="../diagrams/quickStyle8.xml"/><Relationship Id="rId6" Type="http://schemas.openxmlformats.org/officeDocument/2006/relationships/diagramColors" Target="../diagrams/colors8.xml"/><Relationship Id="rId7" Type="http://schemas.microsoft.com/office/2007/relationships/diagramDrawing" Target="../diagrams/drawing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e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9.xml"/><Relationship Id="rId3" Type="http://schemas.openxmlformats.org/officeDocument/2006/relationships/diagramLayout" Target="../diagrams/layout9.xml"/><Relationship Id="rId4" Type="http://schemas.openxmlformats.org/officeDocument/2006/relationships/diagramQuickStyle" Target="../diagrams/quickStyle9.xml"/><Relationship Id="rId5" Type="http://schemas.openxmlformats.org/officeDocument/2006/relationships/diagramColors" Target="../diagrams/colors9.xml"/><Relationship Id="rId6" Type="http://schemas.microsoft.com/office/2007/relationships/diagramDrawing" Target="../diagrams/drawing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eg"/><Relationship Id="rId3" Type="http://schemas.openxmlformats.org/officeDocument/2006/relationships/diagramData" Target="../diagrams/data10.xml"/><Relationship Id="rId4" Type="http://schemas.openxmlformats.org/officeDocument/2006/relationships/diagramLayout" Target="../diagrams/layout10.xml"/><Relationship Id="rId5" Type="http://schemas.openxmlformats.org/officeDocument/2006/relationships/diagramQuickStyle" Target="../diagrams/quickStyle10.xml"/><Relationship Id="rId6" Type="http://schemas.openxmlformats.org/officeDocument/2006/relationships/diagramColors" Target="../diagrams/colors10.xml"/><Relationship Id="rId7" Type="http://schemas.microsoft.com/office/2007/relationships/diagramDrawing" Target="../diagrams/drawing1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eg"/><Relationship Id="rId3" Type="http://schemas.openxmlformats.org/officeDocument/2006/relationships/diagramData" Target="../diagrams/data11.xml"/><Relationship Id="rId4" Type="http://schemas.openxmlformats.org/officeDocument/2006/relationships/diagramLayout" Target="../diagrams/layout11.xml"/><Relationship Id="rId5" Type="http://schemas.openxmlformats.org/officeDocument/2006/relationships/diagramQuickStyle" Target="../diagrams/quickStyle11.xml"/><Relationship Id="rId6" Type="http://schemas.openxmlformats.org/officeDocument/2006/relationships/diagramColors" Target="../diagrams/colors11.xml"/><Relationship Id="rId7" Type="http://schemas.microsoft.com/office/2007/relationships/diagramDrawing" Target="../diagrams/drawing1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eg"/><Relationship Id="rId3" Type="http://schemas.openxmlformats.org/officeDocument/2006/relationships/diagramData" Target="../diagrams/data12.xml"/><Relationship Id="rId4" Type="http://schemas.openxmlformats.org/officeDocument/2006/relationships/diagramLayout" Target="../diagrams/layout12.xml"/><Relationship Id="rId5" Type="http://schemas.openxmlformats.org/officeDocument/2006/relationships/diagramQuickStyle" Target="../diagrams/quickStyle12.xml"/><Relationship Id="rId6" Type="http://schemas.openxmlformats.org/officeDocument/2006/relationships/diagramColors" Target="../diagrams/colors12.xml"/><Relationship Id="rId7" Type="http://schemas.microsoft.com/office/2007/relationships/diagramDrawing" Target="../diagrams/drawing1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eg"/><Relationship Id="rId3" Type="http://schemas.openxmlformats.org/officeDocument/2006/relationships/diagramData" Target="../diagrams/data13.xml"/><Relationship Id="rId4" Type="http://schemas.openxmlformats.org/officeDocument/2006/relationships/diagramLayout" Target="../diagrams/layout13.xml"/><Relationship Id="rId5" Type="http://schemas.openxmlformats.org/officeDocument/2006/relationships/diagramQuickStyle" Target="../diagrams/quickStyle13.xml"/><Relationship Id="rId6" Type="http://schemas.openxmlformats.org/officeDocument/2006/relationships/diagramColors" Target="../diagrams/colors13.xml"/><Relationship Id="rId7" Type="http://schemas.microsoft.com/office/2007/relationships/diagramDrawing" Target="../diagrams/drawing1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e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eg"/><Relationship Id="rId3" Type="http://schemas.openxmlformats.org/officeDocument/2006/relationships/diagramData" Target="../diagrams/data14.xml"/><Relationship Id="rId4" Type="http://schemas.openxmlformats.org/officeDocument/2006/relationships/diagramLayout" Target="../diagrams/layout14.xml"/><Relationship Id="rId5" Type="http://schemas.openxmlformats.org/officeDocument/2006/relationships/diagramQuickStyle" Target="../diagrams/quickStyle14.xml"/><Relationship Id="rId6" Type="http://schemas.openxmlformats.org/officeDocument/2006/relationships/diagramColors" Target="../diagrams/colors14.xml"/><Relationship Id="rId7" Type="http://schemas.microsoft.com/office/2007/relationships/diagramDrawing" Target="../diagrams/drawing14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eg"/><Relationship Id="rId3" Type="http://schemas.openxmlformats.org/officeDocument/2006/relationships/diagramData" Target="../diagrams/data15.xml"/><Relationship Id="rId4" Type="http://schemas.openxmlformats.org/officeDocument/2006/relationships/diagramLayout" Target="../diagrams/layout15.xml"/><Relationship Id="rId5" Type="http://schemas.openxmlformats.org/officeDocument/2006/relationships/diagramQuickStyle" Target="../diagrams/quickStyle15.xml"/><Relationship Id="rId6" Type="http://schemas.openxmlformats.org/officeDocument/2006/relationships/diagramColors" Target="../diagrams/colors15.xml"/><Relationship Id="rId7" Type="http://schemas.microsoft.com/office/2007/relationships/diagramDrawing" Target="../diagrams/drawing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e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6.xml"/><Relationship Id="rId3" Type="http://schemas.openxmlformats.org/officeDocument/2006/relationships/diagramLayout" Target="../diagrams/layout16.xml"/><Relationship Id="rId4" Type="http://schemas.openxmlformats.org/officeDocument/2006/relationships/diagramQuickStyle" Target="../diagrams/quickStyle16.xml"/><Relationship Id="rId5" Type="http://schemas.openxmlformats.org/officeDocument/2006/relationships/diagramColors" Target="../diagrams/colors16.xml"/><Relationship Id="rId6" Type="http://schemas.microsoft.com/office/2007/relationships/diagramDrawing" Target="../diagrams/drawing1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eg"/><Relationship Id="rId3" Type="http://schemas.openxmlformats.org/officeDocument/2006/relationships/diagramData" Target="../diagrams/data17.xml"/><Relationship Id="rId4" Type="http://schemas.openxmlformats.org/officeDocument/2006/relationships/diagramLayout" Target="../diagrams/layout17.xml"/><Relationship Id="rId5" Type="http://schemas.openxmlformats.org/officeDocument/2006/relationships/diagramQuickStyle" Target="../diagrams/quickStyle17.xml"/><Relationship Id="rId6" Type="http://schemas.openxmlformats.org/officeDocument/2006/relationships/diagramColors" Target="../diagrams/colors17.xml"/><Relationship Id="rId7" Type="http://schemas.microsoft.com/office/2007/relationships/diagramDrawing" Target="../diagrams/drawing1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e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e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jpeg"/><Relationship Id="rId3" Type="http://schemas.openxmlformats.org/officeDocument/2006/relationships/diagramData" Target="../diagrams/data18.xml"/><Relationship Id="rId4" Type="http://schemas.openxmlformats.org/officeDocument/2006/relationships/diagramLayout" Target="../diagrams/layout18.xml"/><Relationship Id="rId5" Type="http://schemas.openxmlformats.org/officeDocument/2006/relationships/diagramQuickStyle" Target="../diagrams/quickStyle18.xml"/><Relationship Id="rId6" Type="http://schemas.openxmlformats.org/officeDocument/2006/relationships/diagramColors" Target="../diagrams/colors18.xml"/><Relationship Id="rId7" Type="http://schemas.microsoft.com/office/2007/relationships/diagramDrawing" Target="../diagrams/drawing1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9.xml"/><Relationship Id="rId3" Type="http://schemas.openxmlformats.org/officeDocument/2006/relationships/diagramLayout" Target="../diagrams/layout19.xml"/><Relationship Id="rId4" Type="http://schemas.openxmlformats.org/officeDocument/2006/relationships/diagramQuickStyle" Target="../diagrams/quickStyle19.xml"/><Relationship Id="rId5" Type="http://schemas.openxmlformats.org/officeDocument/2006/relationships/diagramColors" Target="../diagrams/colors19.xml"/><Relationship Id="rId6" Type="http://schemas.microsoft.com/office/2007/relationships/diagramDrawing" Target="../diagrams/drawing19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0.xml"/><Relationship Id="rId3" Type="http://schemas.openxmlformats.org/officeDocument/2006/relationships/diagramLayout" Target="../diagrams/layout20.xml"/><Relationship Id="rId4" Type="http://schemas.openxmlformats.org/officeDocument/2006/relationships/diagramQuickStyle" Target="../diagrams/quickStyle20.xml"/><Relationship Id="rId5" Type="http://schemas.openxmlformats.org/officeDocument/2006/relationships/diagramColors" Target="../diagrams/colors20.xml"/><Relationship Id="rId6" Type="http://schemas.microsoft.com/office/2007/relationships/diagramDrawing" Target="../diagrams/drawing20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1.xml"/><Relationship Id="rId3" Type="http://schemas.openxmlformats.org/officeDocument/2006/relationships/diagramLayout" Target="../diagrams/layout21.xml"/><Relationship Id="rId4" Type="http://schemas.openxmlformats.org/officeDocument/2006/relationships/diagramQuickStyle" Target="../diagrams/quickStyle21.xml"/><Relationship Id="rId5" Type="http://schemas.openxmlformats.org/officeDocument/2006/relationships/diagramColors" Target="../diagrams/colors21.xml"/><Relationship Id="rId6" Type="http://schemas.microsoft.com/office/2007/relationships/diagramDrawing" Target="../diagrams/drawing2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18BA4-2F20-20BD-4A20-D809043FF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9400" y="4518923"/>
            <a:ext cx="4819842" cy="1141851"/>
          </a:xfrm>
          <a:noFill/>
        </p:spPr>
        <p:txBody>
          <a:bodyPr>
            <a:normAutofit/>
          </a:bodyPr>
          <a:lstStyle/>
          <a:p>
            <a:r>
              <a:rPr lang="en-SG" sz="2800" dirty="0">
                <a:solidFill>
                  <a:srgbClr val="080808"/>
                </a:solidFill>
              </a:rPr>
              <a:t>by Tertiary Infotech Pte Ltd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2DBDEB-5A26-37EB-F813-25015FB3E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8617" y="2353641"/>
            <a:ext cx="8686800" cy="2150719"/>
          </a:xfrm>
          <a:noFill/>
        </p:spPr>
        <p:txBody>
          <a:bodyPr anchor="ctr">
            <a:noAutofit/>
          </a:bodyPr>
          <a:lstStyle/>
          <a:p>
            <a:r>
              <a:rPr lang="en-SG" sz="5400" dirty="0">
                <a:solidFill>
                  <a:srgbClr val="080808"/>
                </a:solidFill>
              </a:rPr>
              <a:t>Finance for Non-Finance Managers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4D7F2-702C-82A9-5F5B-A0DB38A52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Outline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F870F-F3A1-60D6-E33F-2C2820C77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10000"/>
          </a:bodyPr>
          <a:lstStyle/>
          <a:p>
            <a:r>
              <a:rPr lang="en-SG" sz="2200" dirty="0"/>
              <a:t>The different financial ratios</a:t>
            </a:r>
          </a:p>
          <a:p>
            <a:r>
              <a:rPr lang="en-SG" sz="2200" dirty="0"/>
              <a:t>Profitability Analysis</a:t>
            </a:r>
          </a:p>
          <a:p>
            <a:r>
              <a:rPr lang="en-SG" sz="2200" dirty="0"/>
              <a:t>Cash Flow Analysis</a:t>
            </a:r>
          </a:p>
          <a:p>
            <a:r>
              <a:rPr lang="en-SG" sz="2200" dirty="0"/>
              <a:t>Projected financial and cash-flow statements</a:t>
            </a:r>
          </a:p>
          <a:p>
            <a:r>
              <a:rPr lang="en-SG" sz="2200" dirty="0"/>
              <a:t>The process of financial statements analysis</a:t>
            </a:r>
          </a:p>
          <a:p>
            <a:r>
              <a:rPr lang="en-SG" sz="2200" dirty="0"/>
              <a:t>Use financial analysis to determine the health of an organisation</a:t>
            </a:r>
          </a:p>
          <a:p>
            <a:r>
              <a:rPr lang="en-SG" sz="2200" dirty="0"/>
              <a:t>Evaluate organisation’s historical financial performance</a:t>
            </a:r>
          </a:p>
          <a:p>
            <a:r>
              <a:rPr lang="en-SG" sz="2200" dirty="0"/>
              <a:t>Investment suitability based on financial analysis</a:t>
            </a:r>
          </a:p>
          <a:p>
            <a:r>
              <a:rPr lang="en-SG" sz="2200" dirty="0"/>
              <a:t>Analysis for the financial services industry</a:t>
            </a:r>
          </a:p>
          <a:p>
            <a:r>
              <a:rPr lang="en-SG" sz="2200" dirty="0"/>
              <a:t>Benchmarking of financial performance against industry</a:t>
            </a:r>
          </a:p>
          <a:p>
            <a:r>
              <a:rPr lang="en-SG" sz="2200" dirty="0"/>
              <a:t>Use Capital Budgeting to evaluate potential investment returns</a:t>
            </a:r>
          </a:p>
          <a:p>
            <a:endParaRPr lang="en-SG" sz="2200" dirty="0"/>
          </a:p>
          <a:p>
            <a:endParaRPr lang="en-SG" sz="2200" dirty="0"/>
          </a:p>
          <a:p>
            <a:pPr marL="0" indent="0">
              <a:buNone/>
            </a:pPr>
            <a:endParaRPr lang="en-SG" sz="2200" dirty="0"/>
          </a:p>
          <a:p>
            <a:pPr marL="0" indent="0">
              <a:buNone/>
            </a:pPr>
            <a:endParaRPr lang="en-SG" sz="2200" dirty="0"/>
          </a:p>
        </p:txBody>
      </p:sp>
    </p:spTree>
    <p:extLst>
      <p:ext uri="{BB962C8B-B14F-4D97-AF65-F5344CB8AC3E}">
        <p14:creationId xmlns:p14="http://schemas.microsoft.com/office/powerpoint/2010/main" val="1507124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AD75E7-776E-E6A3-E29F-FC1460992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Financial Statements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0F521-5587-F9ED-FE55-69252FF15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Collection of summary level reports</a:t>
            </a:r>
          </a:p>
          <a:p>
            <a:r>
              <a:rPr lang="en-SG" sz="2200"/>
              <a:t>Mainly used for covered</a:t>
            </a:r>
          </a:p>
          <a:p>
            <a:pPr lvl="1"/>
            <a:r>
              <a:rPr lang="en-SG" sz="2200"/>
              <a:t>Financial Results</a:t>
            </a:r>
          </a:p>
          <a:p>
            <a:pPr lvl="1"/>
            <a:r>
              <a:rPr lang="en-SG" sz="2200"/>
              <a:t>Financial Position</a:t>
            </a:r>
          </a:p>
          <a:p>
            <a:pPr lvl="1"/>
            <a:r>
              <a:rPr lang="en-SG" sz="2200"/>
              <a:t>Cash Flows</a:t>
            </a:r>
          </a:p>
          <a:p>
            <a:pPr marL="0" indent="0">
              <a:buNone/>
            </a:pP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2217444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FCE74-28B6-4644-4568-19092DA66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SG" sz="5400"/>
              <a:t>Users of financial statements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1C332C-781B-222E-8CBB-7115D33870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876438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616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5B4632-C963-4296-86F0-79AA9EA5A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8328" y="303591"/>
            <a:ext cx="4335327" cy="58967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E32011-DA1E-3DE4-BD6A-1ACB61E3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37125"/>
            <a:ext cx="3802276" cy="5256371"/>
          </a:xfrm>
        </p:spPr>
        <p:txBody>
          <a:bodyPr>
            <a:normAutofit/>
          </a:bodyPr>
          <a:lstStyle/>
          <a:p>
            <a:r>
              <a:rPr lang="en-SG" sz="4800">
                <a:solidFill>
                  <a:schemeClr val="bg1"/>
                </a:solidFill>
              </a:rPr>
              <a:t>Key Financial Statements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D6F520-A093-D093-5565-6B8E721F92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209192"/>
              </p:ext>
            </p:extLst>
          </p:nvPr>
        </p:nvGraphicFramePr>
        <p:xfrm>
          <a:off x="5166985" y="303591"/>
          <a:ext cx="6588691" cy="5896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0289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7C2E4-ABB0-3237-5B9A-EBA2DE378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Balance Sheet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7B03C-635D-4882-95D4-7125D75A0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SG" dirty="0"/>
              <a:t>Statement of net-worth or financial position</a:t>
            </a:r>
          </a:p>
          <a:p>
            <a:r>
              <a:rPr lang="en-SG" dirty="0"/>
              <a:t>Components</a:t>
            </a:r>
          </a:p>
          <a:p>
            <a:pPr lvl="1"/>
            <a:r>
              <a:rPr lang="en-SG" dirty="0"/>
              <a:t>Assets</a:t>
            </a:r>
          </a:p>
          <a:p>
            <a:pPr lvl="1"/>
            <a:r>
              <a:rPr lang="en-SG" dirty="0"/>
              <a:t>Liabilities</a:t>
            </a:r>
          </a:p>
          <a:p>
            <a:pPr lvl="1"/>
            <a:r>
              <a:rPr lang="en-SG" dirty="0"/>
              <a:t>Equity</a:t>
            </a:r>
          </a:p>
          <a:p>
            <a:pPr lvl="1"/>
            <a:endParaRPr lang="en-SG" dirty="0"/>
          </a:p>
          <a:p>
            <a:r>
              <a:rPr lang="en-SG" dirty="0"/>
              <a:t>Fundamental Equation</a:t>
            </a:r>
          </a:p>
          <a:p>
            <a:pPr lvl="1"/>
            <a:r>
              <a:rPr lang="en-SG" dirty="0"/>
              <a:t>Assets = Liabilities + Equity</a:t>
            </a:r>
          </a:p>
        </p:txBody>
      </p:sp>
    </p:spTree>
    <p:extLst>
      <p:ext uri="{BB962C8B-B14F-4D97-AF65-F5344CB8AC3E}">
        <p14:creationId xmlns:p14="http://schemas.microsoft.com/office/powerpoint/2010/main" val="4085796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52695-C7AC-1F6B-B5DA-AE3F23954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Balance Sheet Components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F7D33-9E27-6F8F-C41D-649EEBD1D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Assets</a:t>
            </a:r>
          </a:p>
          <a:p>
            <a:pPr lvl="1"/>
            <a:r>
              <a:rPr lang="en-SG" sz="2200"/>
              <a:t>Current Assets</a:t>
            </a:r>
          </a:p>
          <a:p>
            <a:pPr lvl="1"/>
            <a:r>
              <a:rPr lang="en-SG" sz="2200"/>
              <a:t>Long-Term Assets</a:t>
            </a:r>
          </a:p>
          <a:p>
            <a:r>
              <a:rPr lang="en-SG" sz="2200"/>
              <a:t>Liabilities</a:t>
            </a:r>
          </a:p>
          <a:p>
            <a:pPr lvl="1"/>
            <a:r>
              <a:rPr lang="en-SG" sz="2200"/>
              <a:t>Current Liabilities</a:t>
            </a:r>
          </a:p>
          <a:p>
            <a:pPr lvl="1"/>
            <a:r>
              <a:rPr lang="en-SG" sz="2200"/>
              <a:t>Long-Term liabilities</a:t>
            </a:r>
          </a:p>
          <a:p>
            <a:r>
              <a:rPr lang="en-SG" sz="2200"/>
              <a:t>Total Shareholder’s Equity</a:t>
            </a:r>
          </a:p>
          <a:p>
            <a:pPr lvl="1"/>
            <a:r>
              <a:rPr lang="en-SG" sz="2200"/>
              <a:t>Share Capital</a:t>
            </a:r>
          </a:p>
          <a:p>
            <a:pPr lvl="1"/>
            <a:r>
              <a:rPr lang="en-SG" sz="2200"/>
              <a:t>Retained Earnings</a:t>
            </a:r>
          </a:p>
        </p:txBody>
      </p:sp>
    </p:spTree>
    <p:extLst>
      <p:ext uri="{BB962C8B-B14F-4D97-AF65-F5344CB8AC3E}">
        <p14:creationId xmlns:p14="http://schemas.microsoft.com/office/powerpoint/2010/main" val="2369539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B32C1-09F2-9CEB-A0A4-9E9A09B66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Assets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C46EB-9FD5-BED5-EDB7-6E65122EC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Current Assets</a:t>
            </a:r>
          </a:p>
          <a:p>
            <a:pPr lvl="1"/>
            <a:r>
              <a:rPr lang="en-SG" sz="2200"/>
              <a:t>Cash and cash equivalents</a:t>
            </a:r>
          </a:p>
          <a:p>
            <a:pPr lvl="1"/>
            <a:r>
              <a:rPr lang="en-SG" sz="2200"/>
              <a:t>Accounts Receivable</a:t>
            </a:r>
          </a:p>
          <a:p>
            <a:pPr lvl="1"/>
            <a:r>
              <a:rPr lang="en-SG" sz="2200"/>
              <a:t>Inventories</a:t>
            </a:r>
          </a:p>
          <a:p>
            <a:pPr lvl="1"/>
            <a:r>
              <a:rPr lang="en-SG" sz="2200"/>
              <a:t>Marketable Securities</a:t>
            </a:r>
          </a:p>
          <a:p>
            <a:endParaRPr lang="en-SG" sz="2200"/>
          </a:p>
          <a:p>
            <a:r>
              <a:rPr lang="en-SG" sz="2200"/>
              <a:t>Long-Term Assets</a:t>
            </a:r>
          </a:p>
          <a:p>
            <a:pPr lvl="1"/>
            <a:r>
              <a:rPr lang="en-SG" sz="2200"/>
              <a:t>Plant Property and Equipment (PP&amp;E)</a:t>
            </a:r>
          </a:p>
          <a:p>
            <a:pPr lvl="1"/>
            <a:r>
              <a:rPr lang="en-SG" sz="2200"/>
              <a:t>Intangible Assets</a:t>
            </a:r>
          </a:p>
        </p:txBody>
      </p:sp>
    </p:spTree>
    <p:extLst>
      <p:ext uri="{BB962C8B-B14F-4D97-AF65-F5344CB8AC3E}">
        <p14:creationId xmlns:p14="http://schemas.microsoft.com/office/powerpoint/2010/main" val="1811048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2C287F-B3CE-FBA4-54DB-50BB1F169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600"/>
              <a:t>Current Assets – Cash and Cash Equivalents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5C7A3-9B49-A45A-31FF-E5842D924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Cash</a:t>
            </a:r>
          </a:p>
          <a:p>
            <a:pPr lvl="1"/>
            <a:r>
              <a:rPr lang="en-SG" sz="2200"/>
              <a:t>Legal Tender</a:t>
            </a:r>
          </a:p>
          <a:p>
            <a:pPr lvl="1"/>
            <a:r>
              <a:rPr lang="en-SG" sz="2200"/>
              <a:t>Bills</a:t>
            </a:r>
          </a:p>
          <a:p>
            <a:pPr lvl="1"/>
            <a:r>
              <a:rPr lang="en-SG" sz="2200"/>
              <a:t>Coins</a:t>
            </a:r>
          </a:p>
          <a:p>
            <a:pPr lvl="1"/>
            <a:r>
              <a:rPr lang="en-SG" sz="2200"/>
              <a:t>Checks </a:t>
            </a:r>
          </a:p>
          <a:p>
            <a:r>
              <a:rPr lang="en-SG" sz="2200"/>
              <a:t>Cash equivalents</a:t>
            </a:r>
          </a:p>
          <a:p>
            <a:pPr lvl="1"/>
            <a:r>
              <a:rPr lang="en-SG" sz="2200"/>
              <a:t>Banker’s Acceptance</a:t>
            </a:r>
          </a:p>
          <a:p>
            <a:pPr lvl="1"/>
            <a:r>
              <a:rPr lang="en-SG" sz="2200"/>
              <a:t>Commercial Paper</a:t>
            </a:r>
          </a:p>
          <a:p>
            <a:pPr lvl="1"/>
            <a:r>
              <a:rPr lang="en-SG" sz="2200"/>
              <a:t>Any short term investment securities with maturity less than 90 days</a:t>
            </a:r>
          </a:p>
        </p:txBody>
      </p:sp>
    </p:spTree>
    <p:extLst>
      <p:ext uri="{BB962C8B-B14F-4D97-AF65-F5344CB8AC3E}">
        <p14:creationId xmlns:p14="http://schemas.microsoft.com/office/powerpoint/2010/main" val="1665927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5B4632-C963-4296-86F0-79AA9EA5A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8328" y="303591"/>
            <a:ext cx="4335327" cy="58967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E0BC9-5E3A-C565-6EDC-273FDA1D9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37125"/>
            <a:ext cx="3802276" cy="5256371"/>
          </a:xfrm>
        </p:spPr>
        <p:txBody>
          <a:bodyPr>
            <a:normAutofit/>
          </a:bodyPr>
          <a:lstStyle/>
          <a:p>
            <a:r>
              <a:rPr lang="en-SG" sz="4800">
                <a:solidFill>
                  <a:schemeClr val="bg1"/>
                </a:solidFill>
              </a:rPr>
              <a:t>Cash vs Accrual basis accounting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481504-2D3F-8A07-4DE6-A8B128E7CD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1107348"/>
              </p:ext>
            </p:extLst>
          </p:nvPr>
        </p:nvGraphicFramePr>
        <p:xfrm>
          <a:off x="5166985" y="303591"/>
          <a:ext cx="6588691" cy="5896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5825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767EAF-B99A-8C81-1D9F-6FB88B5B6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Current Assets – Accounts Receivable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95A02-FB1C-14B7-8BB6-19C1A594B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Funds owed by customers to the company</a:t>
            </a:r>
          </a:p>
          <a:p>
            <a:r>
              <a:rPr lang="en-SG" sz="2200"/>
              <a:t>The invoice amount is recorded as an Accounts Receivable once the company delivers goods or services to the customer.</a:t>
            </a:r>
          </a:p>
          <a:p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2292705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E08431-A05A-7CF6-4D0E-1F413AC1F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SG" sz="5400"/>
              <a:t>Current Assets - Inventory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F86BC5-4179-B426-D269-0F0B05A674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86208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3170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7B3D8-0892-6467-4A40-EF02D3900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000"/>
              <a:t>Current Assets – Marketable Securities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73911-26CB-A068-B44C-B20D968B4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Common Stock</a:t>
            </a:r>
          </a:p>
          <a:p>
            <a:r>
              <a:rPr lang="en-SG" sz="2200"/>
              <a:t>Treasury Bills</a:t>
            </a:r>
          </a:p>
          <a:p>
            <a:r>
              <a:rPr lang="en-SG" sz="2200"/>
              <a:t>Bonds (only with maturity less than one year)</a:t>
            </a:r>
          </a:p>
        </p:txBody>
      </p:sp>
    </p:spTree>
    <p:extLst>
      <p:ext uri="{BB962C8B-B14F-4D97-AF65-F5344CB8AC3E}">
        <p14:creationId xmlns:p14="http://schemas.microsoft.com/office/powerpoint/2010/main" val="3504191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263725-8F24-D1C9-DFE9-9BFA64981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SG" sz="5400"/>
              <a:t>Long Term Assets – Plant, Property and Equipment (PP&amp;E)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5E73AA-AD3D-46B2-740B-1CB5DC6FED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151243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0620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7161E6-D104-3B1F-4398-B087A51AE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Valuation of PP&amp;E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B3FB0-1205-C6BF-F442-8CBDED327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Cost Model</a:t>
            </a:r>
          </a:p>
          <a:p>
            <a:r>
              <a:rPr lang="en-SG" sz="2200"/>
              <a:t>Revaluation Model</a:t>
            </a:r>
          </a:p>
        </p:txBody>
      </p:sp>
    </p:spTree>
    <p:extLst>
      <p:ext uri="{BB962C8B-B14F-4D97-AF65-F5344CB8AC3E}">
        <p14:creationId xmlns:p14="http://schemas.microsoft.com/office/powerpoint/2010/main" val="1607362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0C657-3566-0CB8-D79E-02EC80F84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Depreciation of PP&amp;E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DC1B3-E166-F94D-E59D-4B9127A2D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Spreads the cost of the asset over a period of time</a:t>
            </a:r>
          </a:p>
          <a:p>
            <a:r>
              <a:rPr lang="en-SG" sz="2200"/>
              <a:t>Match the expense of asset to income it produces</a:t>
            </a:r>
          </a:p>
          <a:p>
            <a:r>
              <a:rPr lang="en-SG" sz="2200"/>
              <a:t>The method of depreciation chosen can impact the financial results</a:t>
            </a:r>
          </a:p>
        </p:txBody>
      </p:sp>
    </p:spTree>
    <p:extLst>
      <p:ext uri="{BB962C8B-B14F-4D97-AF65-F5344CB8AC3E}">
        <p14:creationId xmlns:p14="http://schemas.microsoft.com/office/powerpoint/2010/main" val="217653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265149-E77D-7CB1-DE4A-750CA2BD4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Common Depreciation Methods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E9F06-12BD-4D92-B5BC-2B0E39BB0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Straight Line</a:t>
            </a:r>
          </a:p>
          <a:p>
            <a:r>
              <a:rPr lang="en-SG" sz="2200"/>
              <a:t>Double Declining</a:t>
            </a:r>
          </a:p>
          <a:p>
            <a:r>
              <a:rPr lang="en-SG" sz="2200"/>
              <a:t>Sum of Years</a:t>
            </a:r>
          </a:p>
          <a:p>
            <a:r>
              <a:rPr lang="en-SG" sz="2200"/>
              <a:t>Units of Production</a:t>
            </a:r>
          </a:p>
        </p:txBody>
      </p:sp>
    </p:spTree>
    <p:extLst>
      <p:ext uri="{BB962C8B-B14F-4D97-AF65-F5344CB8AC3E}">
        <p14:creationId xmlns:p14="http://schemas.microsoft.com/office/powerpoint/2010/main" val="2054597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127A4-11EB-4E28-82ED-E5E1C0A5D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Depreciation – Straight Line Method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2362F-13CD-3150-7DC4-43AA01CCF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Expense amount is the same every year</a:t>
            </a:r>
          </a:p>
          <a:p>
            <a:r>
              <a:rPr lang="en-SG" sz="2200"/>
              <a:t>Depreciation expense = (Cost – Salvage Value) / Useful Life</a:t>
            </a:r>
          </a:p>
          <a:p>
            <a:endParaRPr lang="en-SG" sz="2200"/>
          </a:p>
          <a:p>
            <a:r>
              <a:rPr lang="en-SG" sz="2200"/>
              <a:t>A machine is bought for $50,000 and has useful life of 10 years and $0 salvage value.</a:t>
            </a:r>
          </a:p>
          <a:p>
            <a:r>
              <a:rPr lang="en-SG" sz="2200"/>
              <a:t>Annual Depreciation expense = ($50,000- $0)/10 = $5000</a:t>
            </a:r>
          </a:p>
        </p:txBody>
      </p:sp>
    </p:spTree>
    <p:extLst>
      <p:ext uri="{BB962C8B-B14F-4D97-AF65-F5344CB8AC3E}">
        <p14:creationId xmlns:p14="http://schemas.microsoft.com/office/powerpoint/2010/main" val="62694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D39BFC-F563-60C0-BDE0-C8C16B6EE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764" y="643467"/>
            <a:ext cx="7518472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99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14ED8E-FF71-9E60-5071-3629C618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SG" sz="4600"/>
              <a:t>Depreciation – Double Declining Method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1BE446-36B7-AF01-86B4-107B3C3E94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21919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3730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ACC9FE-1147-EF93-6605-3A048C9CD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700" y="643467"/>
            <a:ext cx="586060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68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5BB81F-816C-EC98-F8B1-073CDC048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600"/>
              <a:t>Depreciation – Units of Production Method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5EF33-EAB4-7ACD-AF87-051581F6F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Assets are depreciated based on how long they have been used or the number of units produced</a:t>
            </a:r>
          </a:p>
          <a:p>
            <a:r>
              <a:rPr lang="en-SG" sz="2200"/>
              <a:t>Depreciation expense = (Number of units produced / Life number of units ) x (Cost – salvage Value)</a:t>
            </a:r>
          </a:p>
          <a:p>
            <a:endParaRPr lang="en-SG" sz="2200"/>
          </a:p>
          <a:p>
            <a:r>
              <a:rPr lang="en-SG" sz="2200"/>
              <a:t>A machine costs $50,000 and an estimated production of 100 million and $0 salvage value. During the first year, it produced 3 million units.</a:t>
            </a:r>
          </a:p>
          <a:p>
            <a:r>
              <a:rPr lang="en-SG" sz="2200"/>
              <a:t>Depreciation expense = (3 million / 100 million ) x ($50,000 -$0) = $1500</a:t>
            </a:r>
          </a:p>
          <a:p>
            <a:endParaRPr lang="en-SG" sz="2200"/>
          </a:p>
          <a:p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1860016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B2032-7F99-5129-4E52-F3A7148F8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06" y="643467"/>
            <a:ext cx="10316788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17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836DD-99B2-99BF-B9FA-375DF0447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Depreciation – Sum of Years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FD2AC-3DEE-4121-34B1-5EB4E3FD0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Higher expense in early years and lower expense in latter years</a:t>
            </a:r>
          </a:p>
          <a:p>
            <a:r>
              <a:rPr lang="en-SG" dirty="0"/>
              <a:t>Depreciation expense = (Remaining Life / Sum of the years digits) x (Cost – Salvage Value)</a:t>
            </a:r>
          </a:p>
          <a:p>
            <a:endParaRPr lang="en-SG" dirty="0"/>
          </a:p>
          <a:p>
            <a:r>
              <a:rPr lang="en-SG" dirty="0"/>
              <a:t>A machine is bought for $25,000 and has life of 8 years with salvage value of $0. </a:t>
            </a:r>
          </a:p>
          <a:p>
            <a:r>
              <a:rPr lang="en-SG" dirty="0"/>
              <a:t>Depreciation Expense</a:t>
            </a:r>
          </a:p>
          <a:p>
            <a:pPr lvl="1"/>
            <a:r>
              <a:rPr lang="en-SG" dirty="0"/>
              <a:t>First Year - $5556</a:t>
            </a:r>
          </a:p>
          <a:p>
            <a:pPr lvl="1"/>
            <a:r>
              <a:rPr lang="en-SG" dirty="0"/>
              <a:t>Second Year - $4861</a:t>
            </a:r>
          </a:p>
        </p:txBody>
      </p:sp>
    </p:spTree>
    <p:extLst>
      <p:ext uri="{BB962C8B-B14F-4D97-AF65-F5344CB8AC3E}">
        <p14:creationId xmlns:p14="http://schemas.microsoft.com/office/powerpoint/2010/main" val="2165355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A33634-A99B-F80D-AFA8-982518928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838" y="643467"/>
            <a:ext cx="6620323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31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1AF203-BD5C-3A0A-D7F4-263133B16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SG" sz="5400"/>
              <a:t>Long Term Assets – Intangible Assets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583656-92F4-C710-337C-387151DDFF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76266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7713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0D5CF-986B-5E4D-A4E9-24710D25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Liabilities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2AB91-8E29-B0E5-CFD9-5CB49F2D4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Current Liabilities</a:t>
            </a:r>
          </a:p>
          <a:p>
            <a:pPr lvl="1"/>
            <a:r>
              <a:rPr lang="en-SG" sz="2200"/>
              <a:t>Accounts Payable</a:t>
            </a:r>
          </a:p>
          <a:p>
            <a:pPr lvl="1"/>
            <a:r>
              <a:rPr lang="en-SG" sz="2200"/>
              <a:t>Current Debt / Notes Payable</a:t>
            </a:r>
          </a:p>
          <a:p>
            <a:pPr lvl="1"/>
            <a:r>
              <a:rPr lang="en-SG" sz="2200"/>
              <a:t>Current Portion of Long Term Debt</a:t>
            </a:r>
          </a:p>
          <a:p>
            <a:endParaRPr lang="en-SG" sz="2200"/>
          </a:p>
          <a:p>
            <a:r>
              <a:rPr lang="en-SG" sz="2200"/>
              <a:t>Long-Term Liabilities</a:t>
            </a:r>
          </a:p>
          <a:p>
            <a:pPr lvl="1"/>
            <a:r>
              <a:rPr lang="en-SG" sz="2200"/>
              <a:t>Bonds Payable</a:t>
            </a:r>
          </a:p>
          <a:p>
            <a:pPr lvl="1"/>
            <a:r>
              <a:rPr lang="en-SG" sz="2200"/>
              <a:t>Long Term Debt</a:t>
            </a:r>
          </a:p>
        </p:txBody>
      </p:sp>
    </p:spTree>
    <p:extLst>
      <p:ext uri="{BB962C8B-B14F-4D97-AF65-F5344CB8AC3E}">
        <p14:creationId xmlns:p14="http://schemas.microsoft.com/office/powerpoint/2010/main" val="4259918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43327E-592C-EDBD-3EF6-31A61452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Current Liabilities – Accounts Payable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BE04-2331-61F7-6075-5202A64FB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Money owed to vendors or suppliers</a:t>
            </a:r>
          </a:p>
        </p:txBody>
      </p:sp>
    </p:spTree>
    <p:extLst>
      <p:ext uri="{BB962C8B-B14F-4D97-AF65-F5344CB8AC3E}">
        <p14:creationId xmlns:p14="http://schemas.microsoft.com/office/powerpoint/2010/main" val="253736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E97797-E14D-D9C1-B656-39A372D37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Current Liabilities – Current Debt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EB8AC-E266-49A0-BAF6-9937A3E10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Formal borrowings of the company</a:t>
            </a:r>
          </a:p>
          <a:p>
            <a:r>
              <a:rPr lang="en-SG" sz="2200"/>
              <a:t>Payable within one year</a:t>
            </a:r>
          </a:p>
        </p:txBody>
      </p:sp>
    </p:spTree>
    <p:extLst>
      <p:ext uri="{BB962C8B-B14F-4D97-AF65-F5344CB8AC3E}">
        <p14:creationId xmlns:p14="http://schemas.microsoft.com/office/powerpoint/2010/main" val="223511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722B06-1216-0D62-169B-05E0F3999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200"/>
              <a:t>Current Liabilities – Current Portion of Long Term Debt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4C3BB-D914-C114-3024-EEBFF718D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Unpaid principal from long term debt accrued within current operating cycle.</a:t>
            </a:r>
          </a:p>
        </p:txBody>
      </p:sp>
    </p:spTree>
    <p:extLst>
      <p:ext uri="{BB962C8B-B14F-4D97-AF65-F5344CB8AC3E}">
        <p14:creationId xmlns:p14="http://schemas.microsoft.com/office/powerpoint/2010/main" val="272929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BC7CA-6683-ABF0-62A7-8E6E847E3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Long Term Liabilities – Bonds Payable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0965C-025E-B86C-7CD3-212C1E3AB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Obligation to repay principal at a future date</a:t>
            </a:r>
          </a:p>
          <a:p>
            <a:r>
              <a:rPr lang="en-SG" sz="2200"/>
              <a:t>Repay interest on annual or semi-annual basis at regular intervals</a:t>
            </a:r>
          </a:p>
          <a:p>
            <a:r>
              <a:rPr lang="en-SG" sz="2200"/>
              <a:t>Types of bonds</a:t>
            </a:r>
          </a:p>
          <a:p>
            <a:pPr lvl="1"/>
            <a:r>
              <a:rPr lang="en-SG" sz="2200"/>
              <a:t>Serial Bonds</a:t>
            </a:r>
          </a:p>
          <a:p>
            <a:pPr lvl="1"/>
            <a:r>
              <a:rPr lang="en-SG" sz="2200"/>
              <a:t>Sinking Fund Bonds</a:t>
            </a:r>
          </a:p>
          <a:p>
            <a:pPr lvl="1"/>
            <a:r>
              <a:rPr lang="en-SG" sz="2200"/>
              <a:t>Convertible Bonds</a:t>
            </a:r>
          </a:p>
          <a:p>
            <a:pPr lvl="1"/>
            <a:r>
              <a:rPr lang="en-SG" sz="2200"/>
              <a:t>Registered Bonds</a:t>
            </a:r>
          </a:p>
          <a:p>
            <a:pPr lvl="1"/>
            <a:r>
              <a:rPr lang="en-SG" sz="2200"/>
              <a:t>Secure Bonds</a:t>
            </a:r>
          </a:p>
          <a:p>
            <a:pPr lvl="1"/>
            <a:r>
              <a:rPr lang="en-SG" sz="2200"/>
              <a:t>Debenture Bonds</a:t>
            </a:r>
          </a:p>
        </p:txBody>
      </p:sp>
    </p:spTree>
    <p:extLst>
      <p:ext uri="{BB962C8B-B14F-4D97-AF65-F5344CB8AC3E}">
        <p14:creationId xmlns:p14="http://schemas.microsoft.com/office/powerpoint/2010/main" val="29084615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0B475A-7DC3-8271-6DB5-AA4E842E9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000"/>
              <a:t>Long Term Liabilities – Long Term Debt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4B94B-E38B-2670-FD5F-293D07C89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Debts owed to creditors payable beyond 12 months</a:t>
            </a:r>
          </a:p>
        </p:txBody>
      </p:sp>
    </p:spTree>
    <p:extLst>
      <p:ext uri="{BB962C8B-B14F-4D97-AF65-F5344CB8AC3E}">
        <p14:creationId xmlns:p14="http://schemas.microsoft.com/office/powerpoint/2010/main" val="2293109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96C96-F96B-7C68-6555-DA32B534C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Working Capital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CC9A2-FAC5-918C-765A-03F2123D3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Current Assets – Current Liabilities</a:t>
            </a:r>
          </a:p>
        </p:txBody>
      </p:sp>
    </p:spTree>
    <p:extLst>
      <p:ext uri="{BB962C8B-B14F-4D97-AF65-F5344CB8AC3E}">
        <p14:creationId xmlns:p14="http://schemas.microsoft.com/office/powerpoint/2010/main" val="172152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835AC-2E2B-EA6D-DDD0-6F6BFDCF1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Shareholder’s Equity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CD33B-D4B1-91DA-E839-BD2753F8D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Share Capital</a:t>
            </a:r>
          </a:p>
          <a:p>
            <a:r>
              <a:rPr lang="en-SG" sz="2200"/>
              <a:t>Retained Earnings</a:t>
            </a:r>
          </a:p>
          <a:p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22530006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0FBDB9-5CD0-70BE-1556-59A8C769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Shareholder’s Equity – Share capital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6E24C-4F86-889E-7F8A-A61A87C3E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Money invested by owners in the business</a:t>
            </a:r>
          </a:p>
          <a:p>
            <a:r>
              <a:rPr lang="en-SG" sz="2200"/>
              <a:t>Can be common or preferred shares</a:t>
            </a:r>
          </a:p>
          <a:p>
            <a:r>
              <a:rPr lang="en-SG" sz="2200"/>
              <a:t>Common types of Share Capital</a:t>
            </a:r>
          </a:p>
          <a:p>
            <a:pPr lvl="1"/>
            <a:r>
              <a:rPr lang="en-SG" sz="2200"/>
              <a:t>Authorized Share capital</a:t>
            </a:r>
          </a:p>
          <a:p>
            <a:pPr lvl="1"/>
            <a:r>
              <a:rPr lang="en-SG" sz="2200"/>
              <a:t>Issued Share capital</a:t>
            </a:r>
          </a:p>
          <a:p>
            <a:pPr lvl="1"/>
            <a:r>
              <a:rPr lang="en-SG" sz="2200"/>
              <a:t>Subscribed Capital</a:t>
            </a:r>
          </a:p>
          <a:p>
            <a:pPr lvl="1"/>
            <a:r>
              <a:rPr lang="en-SG" sz="2200"/>
              <a:t>Called-up Capital</a:t>
            </a:r>
          </a:p>
          <a:p>
            <a:pPr lvl="1"/>
            <a:r>
              <a:rPr lang="en-SG" sz="2200"/>
              <a:t>Paid-up Capital</a:t>
            </a:r>
          </a:p>
        </p:txBody>
      </p:sp>
    </p:spTree>
    <p:extLst>
      <p:ext uri="{BB962C8B-B14F-4D97-AF65-F5344CB8AC3E}">
        <p14:creationId xmlns:p14="http://schemas.microsoft.com/office/powerpoint/2010/main" val="20748651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287F6E-2F08-5146-4C87-429BF954D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000"/>
              <a:t>Shareholders Equity – Retained Earnings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8A104-E940-74E1-000F-A4FB46082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Net Profits retained by the company</a:t>
            </a:r>
          </a:p>
          <a:p>
            <a:r>
              <a:rPr lang="en-SG" sz="2200"/>
              <a:t>Amount after all dividends and distributions</a:t>
            </a:r>
          </a:p>
        </p:txBody>
      </p:sp>
    </p:spTree>
    <p:extLst>
      <p:ext uri="{BB962C8B-B14F-4D97-AF65-F5344CB8AC3E}">
        <p14:creationId xmlns:p14="http://schemas.microsoft.com/office/powerpoint/2010/main" val="1463673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9B7DA-8214-1725-55FB-14109DEAA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SG" sz="5400">
                <a:solidFill>
                  <a:srgbClr val="FFFFFF"/>
                </a:solidFill>
              </a:rPr>
              <a:t>Income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0BD7E-625E-C463-591D-63530AAF0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en-SG" sz="2200"/>
              <a:t>Statement showing financial performance</a:t>
            </a:r>
          </a:p>
          <a:p>
            <a:r>
              <a:rPr lang="en-SG" sz="2200"/>
              <a:t>Also called “Profit and Loss Statement”</a:t>
            </a:r>
          </a:p>
          <a:p>
            <a:r>
              <a:rPr lang="en-SG" sz="2200"/>
              <a:t>Components</a:t>
            </a:r>
          </a:p>
          <a:p>
            <a:pPr lvl="1"/>
            <a:r>
              <a:rPr lang="en-SG" sz="2200"/>
              <a:t>Revenues</a:t>
            </a:r>
          </a:p>
          <a:p>
            <a:pPr lvl="1"/>
            <a:r>
              <a:rPr lang="en-SG" sz="2200"/>
              <a:t>Expenses</a:t>
            </a:r>
          </a:p>
          <a:p>
            <a:pPr lvl="1"/>
            <a:r>
              <a:rPr lang="en-SG" sz="2200"/>
              <a:t>Profits</a:t>
            </a:r>
          </a:p>
          <a:p>
            <a:r>
              <a:rPr lang="en-SG" sz="2200"/>
              <a:t>Fundamental Equation</a:t>
            </a:r>
          </a:p>
          <a:p>
            <a:pPr lvl="1"/>
            <a:r>
              <a:rPr lang="en-SG" sz="2200"/>
              <a:t>Profits = Revenues - Expenses</a:t>
            </a:r>
          </a:p>
          <a:p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37184174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36A719-732F-076D-470C-9621A3F36C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BC9C51-E795-A1E5-4B58-86801EC3E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Income Statement Components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7ED01A2-7E4F-637C-CFEC-DEAFF2DDFB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35490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096206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949E6-1E1D-BA0E-F765-E1399B570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Layout of the Income Statement</a:t>
            </a:r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Income Statement Analysis: How to Read an Income Statement">
            <a:extLst>
              <a:ext uri="{FF2B5EF4-FFF2-40B4-BE49-F238E27FC236}">
                <a16:creationId xmlns:a16="http://schemas.microsoft.com/office/drawing/2014/main" id="{7C83EB86-4A15-B840-4DB0-6E50114224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652912" y="640080"/>
            <a:ext cx="5217383" cy="5550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20586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F3C6B1-37E0-63B5-78F8-0A5B6400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Summary of Income Statement Items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D2CB7-D2CE-6C9A-CE65-7A1B01CCD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Revenue – Cost of Goods Sold = Gross Profit</a:t>
            </a:r>
          </a:p>
          <a:p>
            <a:r>
              <a:rPr lang="en-SG" sz="2200"/>
              <a:t>Gross Profit – Marketing expenses – Selling and General Admin Expenses = Earnings Before Interest Tax Depreciation and Amortization (EBITDA)</a:t>
            </a:r>
          </a:p>
          <a:p>
            <a:r>
              <a:rPr lang="en-SG" sz="2200"/>
              <a:t>EBITDA – Depreciation – Amortization = Operating Income or Earnings Before Interest and Tax (EBIT)</a:t>
            </a:r>
          </a:p>
          <a:p>
            <a:r>
              <a:rPr lang="en-SG" sz="2200"/>
              <a:t>EBIT – Interest and Other expenses = Earnings Before Tax (EBT)</a:t>
            </a:r>
          </a:p>
          <a:p>
            <a:r>
              <a:rPr lang="en-SG" sz="2200"/>
              <a:t>EBT – Tax = Net Income</a:t>
            </a:r>
            <a:br>
              <a:rPr lang="en-SG" sz="2200"/>
            </a:br>
            <a:endParaRPr lang="en-SG" sz="2200"/>
          </a:p>
          <a:p>
            <a:endParaRPr lang="en-SG" sz="2200"/>
          </a:p>
          <a:p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41735774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5FFF0-7858-8D33-A14E-35801858F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SG" sz="5400">
                <a:solidFill>
                  <a:srgbClr val="FFFFFF"/>
                </a:solidFill>
              </a:rPr>
              <a:t>Cash Flow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9B020-779B-AF25-B95B-959B2E304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en-SG" sz="2200"/>
              <a:t>Shows the movement of cash in the business</a:t>
            </a:r>
          </a:p>
          <a:p>
            <a:r>
              <a:rPr lang="en-SG" sz="2200"/>
              <a:t>Tracks incoming and outgoing money</a:t>
            </a:r>
          </a:p>
          <a:p>
            <a:r>
              <a:rPr lang="en-SG" sz="2200"/>
              <a:t>Three cash activities of the company</a:t>
            </a:r>
          </a:p>
          <a:p>
            <a:pPr lvl="1"/>
            <a:r>
              <a:rPr lang="en-SG" sz="2200"/>
              <a:t>Operating Activities</a:t>
            </a:r>
          </a:p>
          <a:p>
            <a:pPr lvl="1"/>
            <a:r>
              <a:rPr lang="en-SG" sz="2200"/>
              <a:t>Investing Activities</a:t>
            </a:r>
          </a:p>
          <a:p>
            <a:pPr lvl="1"/>
            <a:r>
              <a:rPr lang="en-SG" sz="2200"/>
              <a:t>Financial Activities</a:t>
            </a:r>
          </a:p>
          <a:p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15503688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2730FF-5B32-3E19-28BE-B4BD43ABE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600"/>
              <a:t>Cashflow Statement – Operating Activities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4F387-A04D-836D-4F02-3F5753D15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Generates revenue for the company (inflow)</a:t>
            </a:r>
          </a:p>
          <a:p>
            <a:r>
              <a:rPr lang="en-SG" sz="2200"/>
              <a:t>Money spent on production of goods (outflow)</a:t>
            </a:r>
          </a:p>
          <a:p>
            <a:r>
              <a:rPr lang="en-SG" sz="2200"/>
              <a:t>Operating Cashflow = Operating Income + Depreciation – Taxes + Change in Working Capital</a:t>
            </a:r>
          </a:p>
          <a:p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3052022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5598ED-03ED-91B9-6094-1D5738389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600"/>
              <a:t>Cashflow Statement – Investing Activities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57CBF-6CEE-1AD4-9BE3-3D297B9BC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Gains and Losses from investments in Assets</a:t>
            </a:r>
          </a:p>
        </p:txBody>
      </p:sp>
    </p:spTree>
    <p:extLst>
      <p:ext uri="{BB962C8B-B14F-4D97-AF65-F5344CB8AC3E}">
        <p14:creationId xmlns:p14="http://schemas.microsoft.com/office/powerpoint/2010/main" val="409785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5598ED-03ED-91B9-6094-1D5738389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600"/>
              <a:t>Cashflow Statement – Financing Activities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57CBF-6CEE-1AD4-9BE3-3D297B9BC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Cash flow between company, shareholders and creditors</a:t>
            </a:r>
          </a:p>
        </p:txBody>
      </p:sp>
    </p:spTree>
    <p:extLst>
      <p:ext uri="{BB962C8B-B14F-4D97-AF65-F5344CB8AC3E}">
        <p14:creationId xmlns:p14="http://schemas.microsoft.com/office/powerpoint/2010/main" val="235947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0812E5-6483-4180-D591-E31E6F46C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 of a cashflow statement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F30796-E323-E307-D77E-9CF10E7A4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9425" y="640080"/>
            <a:ext cx="4884358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805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8F3E0-AADA-EE44-431D-A03C421EB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Summary of Cash Flow items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F41E8-2A48-4A25-D512-9039D0A0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Operating Cashflows</a:t>
            </a:r>
          </a:p>
          <a:p>
            <a:pPr lvl="1"/>
            <a:r>
              <a:rPr lang="en-SG" sz="2200"/>
              <a:t>Income from sale of goods</a:t>
            </a:r>
          </a:p>
          <a:p>
            <a:pPr lvl="1"/>
            <a:r>
              <a:rPr lang="en-SG" sz="2200"/>
              <a:t>Expenses in production of goods</a:t>
            </a:r>
          </a:p>
          <a:p>
            <a:r>
              <a:rPr lang="en-SG" sz="2200"/>
              <a:t>Investing Cashflows</a:t>
            </a:r>
          </a:p>
          <a:p>
            <a:pPr lvl="1"/>
            <a:r>
              <a:rPr lang="en-SG" sz="2200"/>
              <a:t>Gains or Losses from sale or purchase of assets</a:t>
            </a:r>
          </a:p>
          <a:p>
            <a:r>
              <a:rPr lang="en-SG" sz="2200"/>
              <a:t>Financing Cashflows</a:t>
            </a:r>
          </a:p>
          <a:p>
            <a:pPr lvl="1"/>
            <a:r>
              <a:rPr lang="en-SG" sz="2200"/>
              <a:t>Inflow or outflow from capital or loans</a:t>
            </a:r>
          </a:p>
          <a:p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6950925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23393-B53C-D876-EA71-EB4FF9229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Statement of changes in Equity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84AFA-9F9A-CA15-5569-4FC795C5A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Also called the statement of Retained Earnings</a:t>
            </a:r>
          </a:p>
          <a:p>
            <a:r>
              <a:rPr lang="en-SG" sz="2200"/>
              <a:t>Reconciles Beginning and Ending equity during reporting period</a:t>
            </a:r>
          </a:p>
          <a:p>
            <a:r>
              <a:rPr lang="en-SG" sz="2200"/>
              <a:t>Beginning Equity + Net Income – Dividends +/- Other changes = Ending Equity</a:t>
            </a:r>
          </a:p>
        </p:txBody>
      </p:sp>
    </p:spTree>
    <p:extLst>
      <p:ext uri="{BB962C8B-B14F-4D97-AF65-F5344CB8AC3E}">
        <p14:creationId xmlns:p14="http://schemas.microsoft.com/office/powerpoint/2010/main" val="28385857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196654-FC52-9355-1E32-2EE9BAFC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200"/>
              <a:t>Statement of changes in Equity - components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DBE84-E6A5-8518-48B2-943A21FE9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Opening Balance</a:t>
            </a:r>
          </a:p>
          <a:p>
            <a:r>
              <a:rPr lang="en-SG" sz="2200"/>
              <a:t>Effects of changes in accounting policies</a:t>
            </a:r>
          </a:p>
          <a:p>
            <a:r>
              <a:rPr lang="en-SG" sz="2200"/>
              <a:t>Effect of correction in prior period error</a:t>
            </a:r>
          </a:p>
          <a:p>
            <a:r>
              <a:rPr lang="en-SG" sz="2200"/>
              <a:t>Restated Balance</a:t>
            </a:r>
          </a:p>
          <a:p>
            <a:r>
              <a:rPr lang="en-SG" sz="2200"/>
              <a:t>Changes in Share Capital</a:t>
            </a:r>
          </a:p>
          <a:p>
            <a:r>
              <a:rPr lang="en-SG" sz="2200"/>
              <a:t>Dividends</a:t>
            </a:r>
          </a:p>
          <a:p>
            <a:r>
              <a:rPr lang="en-SG" sz="2200"/>
              <a:t>Income/Loss for the Period</a:t>
            </a:r>
          </a:p>
          <a:p>
            <a:r>
              <a:rPr lang="en-SG" sz="2200"/>
              <a:t>Changes in Revaluation Reserve</a:t>
            </a:r>
          </a:p>
          <a:p>
            <a:r>
              <a:rPr lang="en-SG" sz="2200"/>
              <a:t>Other Gains and Losses</a:t>
            </a:r>
          </a:p>
        </p:txBody>
      </p:sp>
    </p:spTree>
    <p:extLst>
      <p:ext uri="{BB962C8B-B14F-4D97-AF65-F5344CB8AC3E}">
        <p14:creationId xmlns:p14="http://schemas.microsoft.com/office/powerpoint/2010/main" val="40047342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28EC1-2CA0-B0E6-200E-C90ED4ADB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Financial Ratios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D5AD11-02D0-BE90-B401-B738181A7D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1470932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09943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6CA9FE-D50D-EBE8-830C-270938995A8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AE405-601F-60FB-B4F4-C7760E96B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Liquidity Ratios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4C40A5-73FC-A21B-CAC5-3E2D742C13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278418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628680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97F86-B11A-BD34-4EF2-E392D87B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Liquidity Ratios – Current Ratio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CED0-C7EF-FBCF-C4E7-0290D6083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200"/>
              <a:t>Also called Working Capital Ratio</a:t>
            </a:r>
          </a:p>
          <a:p>
            <a:pPr marL="0" indent="0">
              <a:buNone/>
            </a:pPr>
            <a:r>
              <a:rPr lang="en-SG" sz="2200"/>
              <a:t>Current Ratio = Current Assets / Current Liabilities</a:t>
            </a:r>
          </a:p>
        </p:txBody>
      </p:sp>
    </p:spTree>
    <p:extLst>
      <p:ext uri="{BB962C8B-B14F-4D97-AF65-F5344CB8AC3E}">
        <p14:creationId xmlns:p14="http://schemas.microsoft.com/office/powerpoint/2010/main" val="26291928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97F86-B11A-BD34-4EF2-E392D87B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Liquidity Ratios – Acid Test Ratio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CED0-C7EF-FBCF-C4E7-0290D6083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200"/>
              <a:t>Also called Quick Ratio</a:t>
            </a:r>
          </a:p>
          <a:p>
            <a:pPr marL="0" indent="0">
              <a:buNone/>
            </a:pPr>
            <a:r>
              <a:rPr lang="en-SG" sz="2200"/>
              <a:t>Acid Test Ratio = (Current Assets – Inventories) / Current Liabilities</a:t>
            </a:r>
          </a:p>
        </p:txBody>
      </p:sp>
    </p:spTree>
    <p:extLst>
      <p:ext uri="{BB962C8B-B14F-4D97-AF65-F5344CB8AC3E}">
        <p14:creationId xmlns:p14="http://schemas.microsoft.com/office/powerpoint/2010/main" val="15083503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97F86-B11A-BD34-4EF2-E392D87B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Liquidity Ratios – Cash Ratio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CED0-C7EF-FBCF-C4E7-0290D6083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200"/>
              <a:t>Cash Ratio= Cash and Cash Equivalents / Current Liabilities</a:t>
            </a:r>
          </a:p>
        </p:txBody>
      </p:sp>
    </p:spTree>
    <p:extLst>
      <p:ext uri="{BB962C8B-B14F-4D97-AF65-F5344CB8AC3E}">
        <p14:creationId xmlns:p14="http://schemas.microsoft.com/office/powerpoint/2010/main" val="406394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97F86-B11A-BD34-4EF2-E392D87B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600"/>
              <a:t>Liquidity Ratios – Operating Cash Flow Ratio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CED0-C7EF-FBCF-C4E7-0290D6083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200"/>
              <a:t>Operating Cash Flow Ratio= Operating Cash Flow/ Current Liabilities</a:t>
            </a:r>
          </a:p>
        </p:txBody>
      </p:sp>
    </p:spTree>
    <p:extLst>
      <p:ext uri="{BB962C8B-B14F-4D97-AF65-F5344CB8AC3E}">
        <p14:creationId xmlns:p14="http://schemas.microsoft.com/office/powerpoint/2010/main" val="84485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9633F-7084-831E-9096-E6E255932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Leverage Financial Ratios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60A94-9261-247F-864D-2AA05F0E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SG" dirty="0"/>
              <a:t>Debt Ratio</a:t>
            </a:r>
          </a:p>
          <a:p>
            <a:r>
              <a:rPr lang="en-SG" dirty="0"/>
              <a:t>Debt to Equity Ratio</a:t>
            </a:r>
          </a:p>
          <a:p>
            <a:r>
              <a:rPr lang="en-SG" dirty="0"/>
              <a:t>Interest Coverage Ratio</a:t>
            </a:r>
          </a:p>
          <a:p>
            <a:r>
              <a:rPr lang="en-SG" dirty="0"/>
              <a:t>Debt Service Coverage Ratio</a:t>
            </a:r>
          </a:p>
        </p:txBody>
      </p:sp>
    </p:spTree>
    <p:extLst>
      <p:ext uri="{BB962C8B-B14F-4D97-AF65-F5344CB8AC3E}">
        <p14:creationId xmlns:p14="http://schemas.microsoft.com/office/powerpoint/2010/main" val="17732485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97F86-B11A-BD34-4EF2-E392D87B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Leverage Ratio – Debt Ratio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CED0-C7EF-FBCF-C4E7-0290D6083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200"/>
              <a:t>Debt Ratio = Total liabilities / Total assets</a:t>
            </a:r>
          </a:p>
        </p:txBody>
      </p:sp>
    </p:spTree>
    <p:extLst>
      <p:ext uri="{BB962C8B-B14F-4D97-AF65-F5344CB8AC3E}">
        <p14:creationId xmlns:p14="http://schemas.microsoft.com/office/powerpoint/2010/main" val="217914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97F86-B11A-BD34-4EF2-E392D87B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Leverage Ratio – Debt to Equity Ratio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CED0-C7EF-FBCF-C4E7-0290D6083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Debt to equity ratio = Total liabilities / Shareholder’s equity</a:t>
            </a: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194625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97F86-B11A-BD34-4EF2-E392D87B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000"/>
              <a:t>Leverage Ratio – Interest Coverage Ratio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CED0-C7EF-FBCF-C4E7-0290D6083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Interest coverage ratio = Operating income / Interest expenses</a:t>
            </a: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302815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97F86-B11A-BD34-4EF2-E392D87B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200"/>
              <a:t>Leverage Ratio – Debt Service Coverage Ratio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CED0-C7EF-FBCF-C4E7-0290D6083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Debt service coverage ratio = Operating income / Total debt service</a:t>
            </a: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378505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477981-5CC8-4D9F-44F0-26C7BB0B0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Efficiency Ratios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F7006-04B1-8116-841F-2E1932DBC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Asset Turnover Ratio</a:t>
            </a:r>
          </a:p>
          <a:p>
            <a:r>
              <a:rPr lang="en-SG" sz="2200"/>
              <a:t>Inventory Turnover Ratio</a:t>
            </a:r>
          </a:p>
          <a:p>
            <a:r>
              <a:rPr lang="en-SG" sz="2200"/>
              <a:t>Receivables Turnover Ratio</a:t>
            </a:r>
          </a:p>
          <a:p>
            <a:r>
              <a:rPr lang="en-SG" sz="2200"/>
              <a:t>Payables Turnover Ratio</a:t>
            </a:r>
          </a:p>
        </p:txBody>
      </p:sp>
    </p:spTree>
    <p:extLst>
      <p:ext uri="{BB962C8B-B14F-4D97-AF65-F5344CB8AC3E}">
        <p14:creationId xmlns:p14="http://schemas.microsoft.com/office/powerpoint/2010/main" val="27696146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9633F-7084-831E-9096-E6E255932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000"/>
              <a:t>Efficiency Ratio – Asset Turnover Ratio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60A94-9261-247F-864D-2AA05F0E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Asset turnover ratio = Net sales / Average total assets</a:t>
            </a: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857342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9633F-7084-831E-9096-E6E255932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600"/>
              <a:t>Efficiency Ratio – Inventory Turnover Ratio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60A94-9261-247F-864D-2AA05F0E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Inventory turnover ratio = Cost of goods sold / Average inventory</a:t>
            </a: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124886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9633F-7084-831E-9096-E6E255932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200"/>
              <a:t>Efficiency Ratio – Accounts Receivable Turnover Ratio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60A94-9261-247F-864D-2AA05F0E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Receivables turnover ratio = Net sales / Average accounts receivable</a:t>
            </a: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318817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056118-57BB-C40B-8F28-4FBD14701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Average Collection Period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8A9AF-C446-31DF-4BE1-B1755A6B1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Average Length of time for a company to collect the accounts receivable</a:t>
            </a:r>
          </a:p>
          <a:p>
            <a:r>
              <a:rPr lang="en-SG" sz="2200"/>
              <a:t>Average Collection Period =  365 / Accounts Receivables Turnover</a:t>
            </a:r>
          </a:p>
        </p:txBody>
      </p:sp>
    </p:spTree>
    <p:extLst>
      <p:ext uri="{BB962C8B-B14F-4D97-AF65-F5344CB8AC3E}">
        <p14:creationId xmlns:p14="http://schemas.microsoft.com/office/powerpoint/2010/main" val="28167435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542C88-B7B1-8801-1079-A0C11EB5A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000"/>
              <a:t>Importance of Average Collection Period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C957E-CFE3-B113-EF1F-843600F30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Maintain Liquidity</a:t>
            </a:r>
          </a:p>
          <a:p>
            <a:r>
              <a:rPr lang="en-SG" sz="2200"/>
              <a:t>Plan for future costs and schedule potential expenditures</a:t>
            </a:r>
          </a:p>
        </p:txBody>
      </p:sp>
    </p:spTree>
    <p:extLst>
      <p:ext uri="{BB962C8B-B14F-4D97-AF65-F5344CB8AC3E}">
        <p14:creationId xmlns:p14="http://schemas.microsoft.com/office/powerpoint/2010/main" val="36104833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06B32B-B327-CC7C-5225-47F92D3BE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Average Collections Period - Illustration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79317-F8B5-2987-ACA7-48DB6F4DA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A company has accounts receivable balance of $40,000 in the balance sheet. For the same year, the total net sales is $400,000.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Average collection Period = 365 x 40,000 / 400,000 = 36.5</a:t>
            </a:r>
          </a:p>
        </p:txBody>
      </p:sp>
    </p:spTree>
    <p:extLst>
      <p:ext uri="{BB962C8B-B14F-4D97-AF65-F5344CB8AC3E}">
        <p14:creationId xmlns:p14="http://schemas.microsoft.com/office/powerpoint/2010/main" val="16423970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9633F-7084-831E-9096-E6E255932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200"/>
              <a:t>Efficiency Ratio – Accounts Payable Turnover Ratio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60A94-9261-247F-864D-2AA05F0E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Payables turnover ratio = Net purchases / Average accounts payable</a:t>
            </a: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/>
              <a:t>Net purchases = Cost of Goods Sold + Ending Inventory Balance – Starting Inventory Balance</a:t>
            </a: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12370828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97E109-DB92-EE48-1CE8-8A9786EE7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Average Payments Period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D1B8F-231D-4991-80E7-537DCCAFC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200"/>
              <a:t>Average time taken for a business to pay its vendors.</a:t>
            </a:r>
          </a:p>
          <a:p>
            <a:pPr marL="0" indent="0">
              <a:buNone/>
            </a:pPr>
            <a:endParaRPr lang="en-SG" sz="2200"/>
          </a:p>
          <a:p>
            <a:pPr marL="0" indent="0">
              <a:buNone/>
            </a:pPr>
            <a:r>
              <a:rPr lang="en-SG" sz="2200"/>
              <a:t>Average Payments Period = 365 / Accounts Payable Turnover</a:t>
            </a:r>
          </a:p>
          <a:p>
            <a:pPr marL="0" indent="0">
              <a:buNone/>
            </a:pPr>
            <a:endParaRPr lang="en-SG" sz="2200"/>
          </a:p>
          <a:p>
            <a:pPr marL="0" indent="0">
              <a:buNone/>
            </a:pP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14068538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FCB54-5AFA-6DB1-05B8-C7A152BC0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Average Payments Period - Illustration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BC629-6089-9985-E6FF-2560451B3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600"/>
              <a:t>For a company</a:t>
            </a:r>
          </a:p>
          <a:p>
            <a:pPr marL="0" indent="0">
              <a:buNone/>
            </a:pPr>
            <a:r>
              <a:rPr lang="en-SG" sz="2600"/>
              <a:t>Beginning Accounts Payable : $100,000</a:t>
            </a:r>
          </a:p>
          <a:p>
            <a:pPr marL="0" indent="0">
              <a:buNone/>
            </a:pPr>
            <a:r>
              <a:rPr lang="en-SG" sz="2600"/>
              <a:t>Ending Accounts Payable : $ 80,000</a:t>
            </a:r>
          </a:p>
          <a:p>
            <a:pPr marL="0" indent="0">
              <a:buNone/>
            </a:pPr>
            <a:r>
              <a:rPr lang="en-SG" sz="2600"/>
              <a:t>Total Purchases on credit : $1,800,000</a:t>
            </a:r>
          </a:p>
          <a:p>
            <a:pPr marL="0" indent="0">
              <a:buNone/>
            </a:pPr>
            <a:endParaRPr lang="en-SG" sz="2600"/>
          </a:p>
          <a:p>
            <a:pPr marL="0" indent="0">
              <a:buNone/>
            </a:pPr>
            <a:r>
              <a:rPr lang="en-SG" sz="2600"/>
              <a:t>Average Accounts Payable : ($100,000 +$80,000) / 2 = $90,000</a:t>
            </a:r>
          </a:p>
          <a:p>
            <a:pPr marL="0" indent="0">
              <a:buNone/>
            </a:pPr>
            <a:r>
              <a:rPr lang="en-SG" sz="2600"/>
              <a:t>Accounts Payable Turnover : $1,800,000 / $90,000 =2</a:t>
            </a:r>
          </a:p>
          <a:p>
            <a:pPr marL="0" indent="0">
              <a:buNone/>
            </a:pPr>
            <a:endParaRPr lang="en-SG" sz="2600"/>
          </a:p>
          <a:p>
            <a:pPr marL="0" indent="0">
              <a:buNone/>
            </a:pPr>
            <a:r>
              <a:rPr lang="en-SG" sz="2600"/>
              <a:t>Accounts Payable Turnover = 365/2 = 182.50</a:t>
            </a:r>
          </a:p>
        </p:txBody>
      </p:sp>
    </p:spTree>
    <p:extLst>
      <p:ext uri="{BB962C8B-B14F-4D97-AF65-F5344CB8AC3E}">
        <p14:creationId xmlns:p14="http://schemas.microsoft.com/office/powerpoint/2010/main" val="9893497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56B87-D35B-FEB5-38B6-E051710E0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Profitability Ratios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4CE7B-CE4B-59D6-6199-92E72810E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SG" dirty="0"/>
              <a:t>Reflect ability of business to generate earnings</a:t>
            </a:r>
          </a:p>
          <a:p>
            <a:r>
              <a:rPr lang="en-SG" dirty="0"/>
              <a:t>Show efficiency of generating profits</a:t>
            </a:r>
          </a:p>
          <a:p>
            <a:r>
              <a:rPr lang="en-SG" dirty="0"/>
              <a:t>Higher ratios are more favourable</a:t>
            </a:r>
          </a:p>
        </p:txBody>
      </p:sp>
    </p:spTree>
    <p:extLst>
      <p:ext uri="{BB962C8B-B14F-4D97-AF65-F5344CB8AC3E}">
        <p14:creationId xmlns:p14="http://schemas.microsoft.com/office/powerpoint/2010/main" val="417070393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40D882-F86E-7B94-9CED-53AE3EBA94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558703-40A7-54C3-2C68-F102A1EF4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Profitability Ratios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CC3BA7-B273-CC0C-7AA6-5715F12DC7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247066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454057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41585-274C-1B72-7172-AD8368246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5400" kern="1200">
                <a:latin typeface="+mj-lt"/>
                <a:ea typeface="+mj-ea"/>
                <a:cs typeface="+mj-cs"/>
              </a:rPr>
              <a:t>Profit Ratio – Gross Margin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A5BAC-00A9-F16A-5267-8B017A00C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kern="1200">
                <a:latin typeface="+mn-lt"/>
                <a:ea typeface="+mn-ea"/>
                <a:cs typeface="+mn-cs"/>
              </a:rPr>
              <a:t>Gross margin ratio = Gross profit / Net sales</a:t>
            </a:r>
          </a:p>
        </p:txBody>
      </p:sp>
    </p:spTree>
    <p:extLst>
      <p:ext uri="{BB962C8B-B14F-4D97-AF65-F5344CB8AC3E}">
        <p14:creationId xmlns:p14="http://schemas.microsoft.com/office/powerpoint/2010/main" val="65902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41585-274C-1B72-7172-AD8368246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Profit Ratio – Operating Margin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A5BAC-00A9-F16A-5267-8B017A00C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Operating margin ratio = Operating income / Net sales</a:t>
            </a: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397724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41585-274C-1B72-7172-AD8368246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Profit Ratio – Net Profit Margin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A5BAC-00A9-F16A-5267-8B017A00C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Net Profit Margin ratio = Net Income / Net sales</a:t>
            </a: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3803838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41585-274C-1B72-7172-AD8368246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Profit Ratio – Return on Assets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A5BAC-00A9-F16A-5267-8B017A00C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Return on assets ratio = Net income / Total assets</a:t>
            </a: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245634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41585-274C-1B72-7172-AD8368246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Profit Ratio – Return on Equity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A5BAC-00A9-F16A-5267-8B017A00C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Return on equity ratio = Net income / Total Equity</a:t>
            </a:r>
          </a:p>
          <a:p>
            <a:pPr marL="0" indent="0">
              <a:buNone/>
            </a:pP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31024068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1841A6-7CFE-C5B5-0F4C-3C4D9E218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do we measure profitability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74F70C-B74A-053B-EDA9-8666BD6DF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117" y="2633472"/>
            <a:ext cx="7074718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1679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B94D12-76C4-9A46-5C98-2F7E8F8AC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946" y="1423987"/>
            <a:ext cx="3939171" cy="44298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0F9FA6-9BA3-76E0-8DCD-1378507E9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436" y="1423987"/>
            <a:ext cx="4403618" cy="242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2650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9716EA-E4F4-C885-0EBD-1714331D1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Summary of all ratios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367E9-960B-3F8D-0E86-D95E35CC7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Liquidity Ratios</a:t>
            </a:r>
          </a:p>
          <a:p>
            <a:pPr lvl="1"/>
            <a:r>
              <a:rPr lang="en-SG" sz="2200"/>
              <a:t>Current Ratio = Current Assets / Current Liabilities</a:t>
            </a:r>
          </a:p>
          <a:p>
            <a:pPr lvl="1"/>
            <a:r>
              <a:rPr lang="en-SG" sz="2200"/>
              <a:t>Acid Test Ratio = (Current Assets – Inventories) / Current Liabilities</a:t>
            </a:r>
          </a:p>
          <a:p>
            <a:pPr lvl="1"/>
            <a:r>
              <a:rPr lang="en-SG" sz="2200"/>
              <a:t>Cash Ratio= Cash and Cash Equivalents / Current Liabilities</a:t>
            </a:r>
          </a:p>
          <a:p>
            <a:pPr lvl="1"/>
            <a:r>
              <a:rPr lang="en-SG" sz="2200"/>
              <a:t>Operating Cash Flow Ratio= Operating Cash Flow/ Current Liabilities</a:t>
            </a:r>
          </a:p>
          <a:p>
            <a:r>
              <a:rPr lang="en-SG" sz="2200"/>
              <a:t>Leverage Ratios</a:t>
            </a:r>
          </a:p>
          <a:p>
            <a:pPr lvl="1"/>
            <a:r>
              <a:rPr lang="en-SG" sz="2200"/>
              <a:t>Debt Ratio = Total liabilities / Total assets</a:t>
            </a:r>
          </a:p>
          <a:p>
            <a:pPr lvl="1"/>
            <a:r>
              <a:rPr lang="en-US" sz="2200"/>
              <a:t>Debt to equity ratio = Total liabilities / Shareholder’s equity</a:t>
            </a:r>
          </a:p>
          <a:p>
            <a:pPr lvl="1"/>
            <a:r>
              <a:rPr lang="en-US" sz="2200"/>
              <a:t>Debt service coverage ratio = Operating income / Total debt service</a:t>
            </a:r>
            <a:endParaRPr lang="en-SG" sz="2200"/>
          </a:p>
          <a:p>
            <a:endParaRPr lang="en-SG" sz="2200"/>
          </a:p>
          <a:p>
            <a:endParaRPr lang="en-SG" sz="2200"/>
          </a:p>
          <a:p>
            <a:endParaRPr lang="en-SG" sz="2200"/>
          </a:p>
          <a:p>
            <a:endParaRPr lang="en-SG" sz="2200"/>
          </a:p>
          <a:p>
            <a:endParaRPr lang="en-SG" sz="2200"/>
          </a:p>
          <a:p>
            <a:endParaRPr lang="en-SG" sz="2200"/>
          </a:p>
          <a:p>
            <a:endParaRPr lang="en-SG" sz="2200"/>
          </a:p>
          <a:p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113464011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9716EA-E4F4-C885-0EBD-1714331D1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Summary of all ratios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367E9-960B-3F8D-0E86-D95E35CC7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Efficiency Ratios</a:t>
            </a:r>
          </a:p>
          <a:p>
            <a:pPr lvl="1"/>
            <a:r>
              <a:rPr lang="en-US" sz="2200"/>
              <a:t>Asset turnover ratio = Net sales / Average total assets</a:t>
            </a:r>
            <a:endParaRPr lang="en-SG" sz="2200"/>
          </a:p>
          <a:p>
            <a:pPr lvl="1"/>
            <a:r>
              <a:rPr lang="en-US" sz="2200"/>
              <a:t>Inventory turnover ratio = Cost of goods sold / Average inventory</a:t>
            </a:r>
            <a:endParaRPr lang="en-SG" sz="2200"/>
          </a:p>
          <a:p>
            <a:pPr lvl="1"/>
            <a:r>
              <a:rPr lang="en-US" sz="2200"/>
              <a:t>Receivables turnover ratio = Net sales / Average accounts receivable</a:t>
            </a:r>
            <a:endParaRPr lang="en-SG" sz="2200"/>
          </a:p>
          <a:p>
            <a:pPr lvl="1"/>
            <a:r>
              <a:rPr lang="en-US" sz="2200"/>
              <a:t>Payables turnover ratio = Net purchases / Average accounts payable</a:t>
            </a:r>
          </a:p>
          <a:p>
            <a:r>
              <a:rPr lang="en-SG" sz="2200"/>
              <a:t>Profitability Ratios</a:t>
            </a:r>
          </a:p>
          <a:p>
            <a:pPr lvl="1"/>
            <a:r>
              <a:rPr lang="en-US" sz="2200"/>
              <a:t>Gross margin ratio = Gross profit / Net sales</a:t>
            </a:r>
            <a:endParaRPr lang="en-SG" sz="2200"/>
          </a:p>
          <a:p>
            <a:pPr lvl="1"/>
            <a:r>
              <a:rPr lang="en-US" sz="2200"/>
              <a:t>Operating margin ratio = Operating income / Net sales</a:t>
            </a:r>
            <a:endParaRPr lang="en-SG" sz="2200"/>
          </a:p>
          <a:p>
            <a:pPr lvl="1"/>
            <a:r>
              <a:rPr lang="en-US" sz="2200"/>
              <a:t>Net Profit Margin ratio = Net Income / Net sales</a:t>
            </a:r>
          </a:p>
          <a:p>
            <a:pPr lvl="1"/>
            <a:r>
              <a:rPr lang="en-US" sz="2200"/>
              <a:t>Return on equity ratio = Net income / Total Equity</a:t>
            </a:r>
          </a:p>
          <a:p>
            <a:pPr lvl="1"/>
            <a:r>
              <a:rPr lang="en-US" sz="2200"/>
              <a:t>Return on assets ratio = Net income / Total assets</a:t>
            </a:r>
            <a:endParaRPr lang="en-SG" sz="2200"/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endParaRPr lang="en-SG" sz="2200"/>
          </a:p>
          <a:p>
            <a:endParaRPr lang="en-SG" sz="2200"/>
          </a:p>
          <a:p>
            <a:endParaRPr lang="en-SG" sz="2200"/>
          </a:p>
          <a:p>
            <a:endParaRPr lang="en-SG" sz="2200"/>
          </a:p>
          <a:p>
            <a:endParaRPr lang="en-SG" sz="2200"/>
          </a:p>
          <a:p>
            <a:endParaRPr lang="en-SG" sz="2200"/>
          </a:p>
          <a:p>
            <a:endParaRPr lang="en-SG" sz="2200"/>
          </a:p>
          <a:p>
            <a:endParaRPr lang="en-SG" sz="2200"/>
          </a:p>
          <a:p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38619093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E1D88-0CB7-3BBB-2ED4-9DE4AF1A2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SG" sz="5000"/>
              <a:t>Profitability Ratios for a sample company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5CC5D-273E-B7F7-005B-41594EE9B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SG" sz="2200"/>
              <a:t>Gross Margin : 37.50%</a:t>
            </a:r>
          </a:p>
          <a:p>
            <a:r>
              <a:rPr lang="en-SG" sz="2200"/>
              <a:t>Operating Margin : 26.67%</a:t>
            </a:r>
          </a:p>
          <a:p>
            <a:r>
              <a:rPr lang="en-SG" sz="2200"/>
              <a:t>Net Profit Margin : 16.67%</a:t>
            </a:r>
          </a:p>
          <a:p>
            <a:r>
              <a:rPr lang="en-SG" sz="2200"/>
              <a:t>Return on Equity : 9.09%</a:t>
            </a:r>
          </a:p>
          <a:p>
            <a:r>
              <a:rPr lang="en-SG" sz="2200"/>
              <a:t>Return on Assets : 4%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977713-CA3A-B211-98E9-778AAF75DE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071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6DDBFE-4DCA-772E-6413-2CB06B42EF8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008B80-9C2B-4610-A8F0-B0215C578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Cash Flow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48717F-29AD-61CD-ED4B-8DA2EF2A7C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45757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9036053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2B87A7-8E50-D7F9-5846-B1AEED5295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A02667-B2A6-2D03-6BD9-E2BA4365C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How can business improve cash flow management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A75574-7FB4-0F4E-B373-FD96E049A9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59960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8906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7E46E5-701A-6E48-F682-16189565B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/>
              <a:t>Example of a monthly cash flow statement</a:t>
            </a:r>
          </a:p>
        </p:txBody>
      </p:sp>
      <p:sp>
        <p:nvSpPr>
          <p:cNvPr id="103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046AAC9-ABF3-C19F-18F4-296E5F513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94564" y="2642616"/>
            <a:ext cx="4465368" cy="360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777D39F-3ABA-DF88-80F3-EB2CEA4DE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804877" y="2642616"/>
            <a:ext cx="4513653" cy="360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07206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D382-C4C1-42B4-ED57-74F2B7548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SG" sz="5400"/>
              <a:t>Proforma Financial Statements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CF8AF2C6-B428-52ED-A7D1-B89FFECADC3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55EC9-95F0-ADD8-3E9A-10D3C2046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200"/>
              <a:t>Projected Financial Statements</a:t>
            </a:r>
          </a:p>
          <a:p>
            <a:r>
              <a:rPr lang="en-SG" sz="2200"/>
              <a:t>Help in make plans and compare actual and predicted company performance</a:t>
            </a:r>
          </a:p>
          <a:p>
            <a:r>
              <a:rPr lang="en-SG" sz="2200"/>
              <a:t>Projection done for Income Statement and Balance Sheet</a:t>
            </a:r>
          </a:p>
          <a:p>
            <a:r>
              <a:rPr lang="en-SG" sz="2200"/>
              <a:t>Projected Cash Flow is derived from the other statements</a:t>
            </a:r>
          </a:p>
        </p:txBody>
      </p:sp>
    </p:spTree>
    <p:extLst>
      <p:ext uri="{BB962C8B-B14F-4D97-AF65-F5344CB8AC3E}">
        <p14:creationId xmlns:p14="http://schemas.microsoft.com/office/powerpoint/2010/main" val="80432169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F1F4FE-DDFE-A7A3-DCA1-FEB94B1C22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233B5D-6DE1-AC9F-4260-9F5454CF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Forecasting of Income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D96AAC-6516-2A8B-0E8C-294AB1D1B3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6760934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5ED122-D12B-36B4-5FAC-BDF515C2F7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310C94-915C-EAEC-0610-1DA88CDAF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Forecasting a Balance Sheet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2AD4E1-ED24-068C-8712-D976D2C67A5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835621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AD382-F7CD-E2B6-C178-37D36AA41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SG" sz="4100"/>
              <a:t>Forecasting the Cash Flow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6919E-4B31-ACEB-3CEC-4827BBCF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000"/>
              <a:t>Estimate the amount of cash inflows and outflows</a:t>
            </a:r>
          </a:p>
          <a:p>
            <a:pPr marL="0" indent="0">
              <a:buNone/>
            </a:pPr>
            <a:r>
              <a:rPr lang="en-SG" sz="2000"/>
              <a:t>Steps</a:t>
            </a:r>
          </a:p>
          <a:p>
            <a:r>
              <a:rPr lang="en-SG" sz="2000"/>
              <a:t>Estimated anticipated monthly sales</a:t>
            </a:r>
          </a:p>
          <a:p>
            <a:r>
              <a:rPr lang="en-SG" sz="2000"/>
              <a:t>Predict receipt of payments</a:t>
            </a:r>
          </a:p>
          <a:p>
            <a:r>
              <a:rPr lang="en-SG" sz="2000"/>
              <a:t>Estimate Costs</a:t>
            </a:r>
          </a:p>
          <a:p>
            <a:endParaRPr lang="en-SG" sz="2000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85B62947-70FD-EF1E-244E-A9905FC34D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3533595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4E485-3E44-B771-14B1-FC519A5EC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37125"/>
            <a:ext cx="3802276" cy="5256371"/>
          </a:xfrm>
        </p:spPr>
        <p:txBody>
          <a:bodyPr>
            <a:normAutofit/>
          </a:bodyPr>
          <a:lstStyle/>
          <a:p>
            <a:r>
              <a:rPr lang="en-SG" sz="4800">
                <a:solidFill>
                  <a:schemeClr val="bg1"/>
                </a:solidFill>
              </a:rPr>
              <a:t>Cash Flow Forecasting Methods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2E57D5-A64D-E91F-5983-19AAFD0CD6D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66985" y="303591"/>
          <a:ext cx="6588691" cy="5896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10197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5E1B97-B32E-4011-FEC9-833203F6DF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F6BF9C-2673-4DA0-9AC0-04350CF92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Determine financial health of a company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B05DE7-9B5A-AF53-E92C-DECB0DD52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048060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8026811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4930F-AF08-8CF3-2AD0-202D4C71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SG" sz="5400"/>
              <a:t>Determine Financial Health of a company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0CAEC-9259-B124-1765-587DC909D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SG" sz="2200"/>
              <a:t>Analyse the Balance Sheet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Roman"/>
              </a:rPr>
              <a:t>How much debt the company has relative to equity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Roman"/>
              </a:rPr>
              <a:t>How liquid the business is in the short term (less than one year)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Roman"/>
              </a:rPr>
              <a:t>What percentage of assets are tangible and what percentage comes from financial transactions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Roman"/>
              </a:rPr>
              <a:t>How long it takes to receive outstanding payments from customers and repay suppliers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Roman"/>
              </a:rPr>
              <a:t>How long it takes to sell inventory the business keeps on hand</a:t>
            </a:r>
          </a:p>
          <a:p>
            <a:pPr marL="0" indent="0">
              <a:buNone/>
            </a:pP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418202261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4930F-AF08-8CF3-2AD0-202D4C71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SG" sz="5400"/>
              <a:t>Determine Financial Health of a company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0CAEC-9259-B124-1765-587DC909D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SG" sz="2200"/>
              <a:t>Analyse the Income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Roman"/>
              </a:rPr>
              <a:t>How much revenue is growing over certain accounting periods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Roman"/>
              </a:rPr>
              <a:t>The gross profit margin for goods sold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Roman"/>
              </a:rPr>
              <a:t>What percentage of revenue results in net profit after all expenses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Roman"/>
              </a:rPr>
              <a:t>If the business can cover its interest repayments on debt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Roman"/>
              </a:rPr>
              <a:t>How much the business repays to shareholders versus how much it reinvests</a:t>
            </a:r>
          </a:p>
          <a:p>
            <a:pPr marL="0" indent="0">
              <a:buNone/>
            </a:pP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306954448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4930F-AF08-8CF3-2AD0-202D4C71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SG" sz="5400"/>
              <a:t>Determine Financial Health of a company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0CAEC-9259-B124-1765-587DC909D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SG" sz="2200"/>
              <a:t>Analyse the Cash Flow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Roman"/>
              </a:rPr>
              <a:t>The liquidity situation of the company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Roman"/>
              </a:rPr>
              <a:t>The company’s sources of cash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Roman"/>
              </a:rPr>
              <a:t>The free cash flow the company generates to further invest in assets or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Roman"/>
              </a:rPr>
              <a:t>Whether overall cash has increased or decreased</a:t>
            </a:r>
          </a:p>
          <a:p>
            <a:pPr marL="0" indent="0">
              <a:buNone/>
            </a:pP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21763312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4930F-AF08-8CF3-2AD0-202D4C71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600"/>
              <a:t>Determine Financial Health of a company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0CAEC-9259-B124-1765-587DC909D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200"/>
              <a:t>Financial Ratio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Bold 2"/>
              </a:rPr>
              <a:t>Gross profit margin:</a:t>
            </a:r>
            <a:r>
              <a:rPr lang="en-US" sz="2200" b="0" i="0">
                <a:effectLst/>
                <a:latin typeface="Trade Gothic W01 Roman"/>
              </a:rPr>
              <a:t> The percentage of profit the company generates after direct cost of sales expenses have been deducted from the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Bold 2"/>
              </a:rPr>
              <a:t>Net profit margin:</a:t>
            </a:r>
            <a:r>
              <a:rPr lang="en-US" sz="2200" b="0" i="0">
                <a:effectLst/>
                <a:latin typeface="Trade Gothic W01 Roman"/>
              </a:rPr>
              <a:t> The percentage of profit the company generates after all expenses have been deducted from revenue, including interest and tax from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Bold 2"/>
              </a:rPr>
              <a:t>Coverage ratio:</a:t>
            </a:r>
            <a:r>
              <a:rPr lang="en-US" sz="2200" b="0" i="0">
                <a:effectLst/>
                <a:latin typeface="Trade Gothic W01 Roman"/>
              </a:rPr>
              <a:t> The company’s ability to meet its financial obligations, specifically to cover its debt and related interest payments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Bold 2"/>
              </a:rPr>
              <a:t>Current ratio:</a:t>
            </a:r>
            <a:r>
              <a:rPr lang="en-US" sz="2200" b="0" i="0">
                <a:effectLst/>
                <a:latin typeface="Trade Gothic W01 Roman"/>
              </a:rPr>
              <a:t> The company’s ability to meet short-term obligations of less than one year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Bold 2"/>
              </a:rPr>
              <a:t>Quick ratio:</a:t>
            </a:r>
            <a:r>
              <a:rPr lang="en-US" sz="2200" b="0" i="0">
                <a:effectLst/>
                <a:latin typeface="Trade Gothic W01 Roman"/>
              </a:rPr>
              <a:t> The company’s ability to meet short-term obligations of less than one year using only highly liquid assets</a:t>
            </a:r>
          </a:p>
          <a:p>
            <a:pPr marL="0" indent="0">
              <a:buNone/>
            </a:pP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38503158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4930F-AF08-8CF3-2AD0-202D4C71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600"/>
              <a:t>Determine Financial Health of a company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0CAEC-9259-B124-1765-587DC909D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200"/>
              <a:t>Financial Ratio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Bold 2"/>
              </a:rPr>
              <a:t>Debt-to-equity ratio:</a:t>
            </a:r>
            <a:r>
              <a:rPr lang="en-US" sz="2200" b="0" i="0">
                <a:effectLst/>
                <a:latin typeface="Trade Gothic W01 Roman"/>
              </a:rPr>
              <a:t> The percentage of debt versus equity that the company uses to finance itself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Bold 2"/>
              </a:rPr>
              <a:t>Inventory turnover:</a:t>
            </a:r>
            <a:r>
              <a:rPr lang="en-US" sz="2200" b="0" i="0">
                <a:effectLst/>
                <a:latin typeface="Trade Gothic W01 Roman"/>
              </a:rPr>
              <a:t> How many times per period the entire inventory was sold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Bold 2"/>
              </a:rPr>
              <a:t>Total asset turnover:</a:t>
            </a:r>
            <a:r>
              <a:rPr lang="en-US" sz="2200" b="0" i="0">
                <a:effectLst/>
                <a:latin typeface="Trade Gothic W01 Roman"/>
              </a:rPr>
              <a:t> How efficiently the company generates revenue from total assets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Bold 2"/>
              </a:rPr>
              <a:t>Return on equity (ROE):</a:t>
            </a:r>
            <a:r>
              <a:rPr lang="en-US" sz="2200" b="0" i="0">
                <a:effectLst/>
                <a:latin typeface="Trade Gothic W01 Roman"/>
              </a:rPr>
              <a:t> The company’s ability to use equity investments to earn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0" i="0">
                <a:effectLst/>
                <a:latin typeface="Trade Gothic W01 Bold 2"/>
              </a:rPr>
              <a:t>Return on assets (ROA):</a:t>
            </a:r>
            <a:r>
              <a:rPr lang="en-US" sz="2200" b="0" i="0">
                <a:effectLst/>
                <a:latin typeface="Trade Gothic W01 Roman"/>
              </a:rPr>
              <a:t> The company’s ability to manage and use its assets to earn profit</a:t>
            </a:r>
          </a:p>
          <a:p>
            <a:pPr marL="0" indent="0">
              <a:buNone/>
            </a:pP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233401544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1455A2-EC75-01DD-8F4F-C0A0B5D49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SG" sz="4200"/>
              <a:t>Financial Statements Analysis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9CB47-12AF-B905-3CF8-26B4AE477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SG" sz="2200"/>
              <a:t>Evaluate the company’s financial situation</a:t>
            </a:r>
          </a:p>
          <a:p>
            <a:r>
              <a:rPr lang="en-SG" sz="2200"/>
              <a:t>Follow up in administrative decisions</a:t>
            </a:r>
          </a:p>
          <a:p>
            <a:r>
              <a:rPr lang="en-SG" sz="2200"/>
              <a:t>Assist in economic decisions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08EBCD41-799F-51AC-41E6-2627060FDFA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6464935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9B12D4-16B6-06B1-397C-8F2C54F10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SG" sz="5400"/>
              <a:t>Financial Statements Analysis - Methods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9E0934E9-E6D8-D847-8CBC-A4F9D3C09D8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7A631-E49E-FBA6-CFD6-125F72B7F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SG" sz="2200"/>
              <a:t>Ratio Analysis</a:t>
            </a:r>
          </a:p>
          <a:p>
            <a:r>
              <a:rPr lang="en-SG" sz="2200"/>
              <a:t>Horizontal Analysis (Trend Analysis)</a:t>
            </a:r>
          </a:p>
          <a:p>
            <a:r>
              <a:rPr lang="en-SG" sz="2200"/>
              <a:t>Vertical Analysis</a:t>
            </a:r>
          </a:p>
        </p:txBody>
      </p:sp>
    </p:spTree>
    <p:extLst>
      <p:ext uri="{BB962C8B-B14F-4D97-AF65-F5344CB8AC3E}">
        <p14:creationId xmlns:p14="http://schemas.microsoft.com/office/powerpoint/2010/main" val="300527483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881417-9EEC-325C-A0A0-090318896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Ratio Analysis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C8834-8092-067B-FA31-D2E747812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Using the ratios of a business to evaluate its financial position</a:t>
            </a:r>
          </a:p>
        </p:txBody>
      </p:sp>
    </p:spTree>
    <p:extLst>
      <p:ext uri="{BB962C8B-B14F-4D97-AF65-F5344CB8AC3E}">
        <p14:creationId xmlns:p14="http://schemas.microsoft.com/office/powerpoint/2010/main" val="30249135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84EE61-6495-7B2A-18B2-56D8C321A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Ratio Analysis -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56260A-9D30-E3A7-343D-69FA983C35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5690" y="320040"/>
            <a:ext cx="3263115" cy="38953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ED17D2-974C-49E1-B3A7-5A1E988AA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00" y="320040"/>
            <a:ext cx="3266408" cy="3895344"/>
          </a:xfrm>
          <a:prstGeom prst="rect">
            <a:avLst/>
          </a:prstGeom>
        </p:spPr>
      </p:pic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751146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67AB5-73DD-663E-48AD-89F590685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858" y="5110423"/>
            <a:ext cx="10906061" cy="67154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Current Ratio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FC7D98-7B8B-402A-90FC-F027482F2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2" cy="4822479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28">
            <a:extLst>
              <a:ext uri="{FF2B5EF4-FFF2-40B4-BE49-F238E27FC236}">
                <a16:creationId xmlns:a16="http://schemas.microsoft.com/office/drawing/2014/main" id="{AD7356EA-285B-4E5D-8FEC-104659A4F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4562" y="640091"/>
            <a:ext cx="8182876" cy="388111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943BB5-C1C9-0532-7365-C14083585B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0029" y="1103559"/>
            <a:ext cx="7851943" cy="295690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56596596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15A54-445D-0A7F-8BDC-25B703E1D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858" y="5110423"/>
            <a:ext cx="10906061" cy="67154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Quick Ratio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FC7D98-7B8B-402A-90FC-F027482F2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2" cy="4822479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28">
            <a:extLst>
              <a:ext uri="{FF2B5EF4-FFF2-40B4-BE49-F238E27FC236}">
                <a16:creationId xmlns:a16="http://schemas.microsoft.com/office/drawing/2014/main" id="{AD7356EA-285B-4E5D-8FEC-104659A4F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4562" y="640091"/>
            <a:ext cx="8182876" cy="388111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9839D-AD7D-F617-7A63-42A6976B0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029" y="1276752"/>
            <a:ext cx="7851943" cy="261051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9759061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31DE728-8710-4D0D-ABEA-461458917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D97B6E-465E-CDB6-D9A3-4D3E88FAE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4675886"/>
            <a:ext cx="3685032" cy="1608328"/>
          </a:xfrm>
        </p:spPr>
        <p:txBody>
          <a:bodyPr>
            <a:normAutofit/>
          </a:bodyPr>
          <a:lstStyle/>
          <a:p>
            <a:r>
              <a:rPr lang="en-SG" sz="3600"/>
              <a:t>Operating Profitability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AE9118-0436-4488-AC4A-C14DF6A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1"/>
            <a:ext cx="12192002" cy="4489449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28">
            <a:extLst>
              <a:ext uri="{FF2B5EF4-FFF2-40B4-BE49-F238E27FC236}">
                <a16:creationId xmlns:a16="http://schemas.microsoft.com/office/drawing/2014/main" id="{07A0C51E-5464-4470-855E-CA530A59B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59557" y="640091"/>
            <a:ext cx="8072887" cy="355090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0269A8-26E6-6D9E-F2BD-392A1B4127E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364" r="13958"/>
          <a:stretch/>
        </p:blipFill>
        <p:spPr>
          <a:xfrm>
            <a:off x="2184401" y="749300"/>
            <a:ext cx="7823199" cy="3343043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F5D0BF-2991-3174-1886-15CB3A40E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100" y="4675886"/>
            <a:ext cx="6675627" cy="1605083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76187040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7BDE95F-650B-4D12-A3A5-975E461D2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9E04-547D-1215-CFF6-30D972147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858" y="5110423"/>
            <a:ext cx="10906061" cy="67154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100"/>
              <a:t>Net Profit Ratio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FC7D98-7B8B-402A-90FC-F027482F2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2" cy="4822479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28">
            <a:extLst>
              <a:ext uri="{FF2B5EF4-FFF2-40B4-BE49-F238E27FC236}">
                <a16:creationId xmlns:a16="http://schemas.microsoft.com/office/drawing/2014/main" id="{AD7356EA-285B-4E5D-8FEC-104659A4F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4562" y="640091"/>
            <a:ext cx="8182876" cy="388111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604511-8611-395B-3615-E21282A186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803" r="13306" b="-1"/>
          <a:stretch/>
        </p:blipFill>
        <p:spPr>
          <a:xfrm>
            <a:off x="2170029" y="804672"/>
            <a:ext cx="7851943" cy="355467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277717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270761-CC40-4F3F-A916-7E3BC3989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D98AC-1820-7128-1465-82786B02A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160" y="4376508"/>
            <a:ext cx="9623404" cy="12572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Return on Equity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555B16-BE1D-4C33-A27C-FF0671B6C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570B23-5B31-2AFC-D893-0980D02B10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855" y="891540"/>
            <a:ext cx="8370297" cy="3217333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916504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270761-CC40-4F3F-A916-7E3BC3989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FBC48-ADC7-9D55-C835-97F014E5A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160" y="4376508"/>
            <a:ext cx="9623404" cy="12572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Return on Capital Employed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555B16-BE1D-4C33-A27C-FF0671B6C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59683E-1922-8869-5F19-B49DE192A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855" y="1006838"/>
            <a:ext cx="9934606" cy="2986736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698546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5EBA8D-E405-66A1-9C22-5FCF49D2E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Inventory Turnover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4191EFF-0A10-741E-F2E3-38744A401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14710"/>
            <a:ext cx="11496821" cy="382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85205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75E2B-318B-9151-B18D-5A42C8C87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Receivable Turnover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2708596-2511-4F2C-6310-AB948BDE35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689" y="2427541"/>
            <a:ext cx="11047523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47499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8DD037-41F8-4013-757C-B9782C23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Payable Turnover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25F9FD-0EBC-DF6A-D874-79D0186156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6951" y="2427541"/>
            <a:ext cx="9662999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6388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75F9B5-8B10-9380-B964-1A6AA4455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Debt to Equity Ratio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4B2A03-BB34-1531-7A29-37057D0C7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35523"/>
            <a:ext cx="10905066" cy="427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18310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2DD4E-0AF7-756F-B381-BD782BCF7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4" y="1286934"/>
            <a:ext cx="9618132" cy="790147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SG" sz="3200">
                <a:solidFill>
                  <a:schemeClr val="bg1"/>
                </a:solidFill>
              </a:rPr>
              <a:t>Financial Leverage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3E3AEB-B112-80AF-DE9F-B4F7CA69D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069" y="2472473"/>
            <a:ext cx="5682094" cy="251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31010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7C1EF-3581-AE68-AAD4-C22CB05E2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Horizontal Analysis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1538A-0015-A3FB-6634-E5E4193A9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Analyse change over two or more accounting periods</a:t>
            </a:r>
          </a:p>
          <a:p>
            <a:r>
              <a:rPr lang="en-SG" sz="2200"/>
              <a:t>Measure percentage change of same line item</a:t>
            </a:r>
          </a:p>
        </p:txBody>
      </p:sp>
    </p:spTree>
    <p:extLst>
      <p:ext uri="{BB962C8B-B14F-4D97-AF65-F5344CB8AC3E}">
        <p14:creationId xmlns:p14="http://schemas.microsoft.com/office/powerpoint/2010/main" val="168531180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F51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4792FC-E0D7-3DAE-5924-5AF19AE8D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Horizontal Analysis - 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C0B10F-E027-C5DD-6CE7-02897D1B73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9657" y="961812"/>
            <a:ext cx="6686084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76921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F0A3F-EFEF-F49B-7AD2-905C28E25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Vertical Analysis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45CED-AA1F-B79B-52E2-670609C17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SG" dirty="0"/>
              <a:t>Each Item in the financial statement is shown in percentage of the base figure</a:t>
            </a:r>
          </a:p>
          <a:p>
            <a:r>
              <a:rPr lang="en-SG" dirty="0"/>
              <a:t>All items in income statement are stated as percentage of gross sales</a:t>
            </a:r>
          </a:p>
          <a:p>
            <a:r>
              <a:rPr lang="en-SG" dirty="0"/>
              <a:t>All items in balance sheet are stated as percentage of total assets</a:t>
            </a:r>
          </a:p>
        </p:txBody>
      </p:sp>
    </p:spTree>
    <p:extLst>
      <p:ext uri="{BB962C8B-B14F-4D97-AF65-F5344CB8AC3E}">
        <p14:creationId xmlns:p14="http://schemas.microsoft.com/office/powerpoint/2010/main" val="160627992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7582D3-296E-672F-F816-E8A0D1D73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37" y="914400"/>
            <a:ext cx="3657600" cy="28875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Vertical Analysis - Example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A Beginner's Guide to Vertical Analysis in 2022">
            <a:extLst>
              <a:ext uri="{FF2B5EF4-FFF2-40B4-BE49-F238E27FC236}">
                <a16:creationId xmlns:a16="http://schemas.microsoft.com/office/drawing/2014/main" id="{670F8F80-5566-7D61-313F-CAB964497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153822" y="967200"/>
            <a:ext cx="6553545" cy="493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35538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3043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FB222D-0657-519D-17FD-B73C9ED54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63" y="363538"/>
            <a:ext cx="5302250" cy="43926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3907AA-9F04-9C82-45CB-766507886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363538"/>
            <a:ext cx="5029200" cy="43926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502251-A63B-DCE2-32ED-D8E8FBFB0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532214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Horizontal Analysis – Case Study</a:t>
            </a:r>
          </a:p>
        </p:txBody>
      </p:sp>
    </p:spTree>
    <p:extLst>
      <p:ext uri="{BB962C8B-B14F-4D97-AF65-F5344CB8AC3E}">
        <p14:creationId xmlns:p14="http://schemas.microsoft.com/office/powerpoint/2010/main" val="334774134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3043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367C6-9270-F99B-7069-F753E0967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532214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1 – Generation of Ratios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A47632-25D8-BA19-A0FF-BB8B46F1D6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3235" y="364587"/>
            <a:ext cx="498552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2868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3043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1853B-DE44-CB65-7548-54AA0E972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532214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2 – Trend Analysis of Balance Sheet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B7716F-963A-0964-43BA-E1BB67230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9699" y="364587"/>
            <a:ext cx="715260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3676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3043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977AA-A6D8-B749-A93F-2D67DBF0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532214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3 – Trend Analysis of Income Statement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42CFD5-902A-0C54-8F69-0477DDF66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4875" y="364587"/>
            <a:ext cx="684224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68806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3043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D72F7-31D1-0694-E83C-53BCDC511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532214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Trend Analysis of Ratios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4562F5-5A25-7785-860D-BD7B405C82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3891" y="364587"/>
            <a:ext cx="676421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8758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CB10F-904F-4A80-D56F-C28073994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200"/>
              <a:t>Financial Analysis to determine investment suitability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F8FE-B4D0-5F8C-9CCB-7004053FA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200"/>
              <a:t>Revenues</a:t>
            </a:r>
          </a:p>
          <a:p>
            <a:r>
              <a:rPr lang="en-SG" sz="2200"/>
              <a:t>Quantity, quality and timing of revenues</a:t>
            </a:r>
          </a:p>
          <a:p>
            <a:r>
              <a:rPr lang="en-SG" sz="2200"/>
              <a:t>Revenue Growth (ignore one-time revenues)</a:t>
            </a:r>
          </a:p>
          <a:p>
            <a:r>
              <a:rPr lang="en-SG" sz="2200"/>
              <a:t>Revenue Concentration</a:t>
            </a:r>
          </a:p>
          <a:p>
            <a:r>
              <a:rPr lang="en-SG" sz="2200"/>
              <a:t>Revenue per employee</a:t>
            </a:r>
          </a:p>
        </p:txBody>
      </p:sp>
    </p:spTree>
    <p:extLst>
      <p:ext uri="{BB962C8B-B14F-4D97-AF65-F5344CB8AC3E}">
        <p14:creationId xmlns:p14="http://schemas.microsoft.com/office/powerpoint/2010/main" val="140920532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CB10F-904F-4A80-D56F-C28073994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200"/>
              <a:t>Financial Analysis to determine investment suitability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F8FE-B4D0-5F8C-9CCB-7004053FA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200"/>
              <a:t>Profits</a:t>
            </a:r>
          </a:p>
          <a:p>
            <a:r>
              <a:rPr lang="en-SG" sz="2200"/>
              <a:t>Gross Profit Margin</a:t>
            </a:r>
          </a:p>
          <a:p>
            <a:r>
              <a:rPr lang="en-SG" sz="2200"/>
              <a:t>Operating Profit Margin</a:t>
            </a:r>
          </a:p>
          <a:p>
            <a:r>
              <a:rPr lang="en-SG" sz="2200"/>
              <a:t>Net Profit Margin</a:t>
            </a:r>
          </a:p>
        </p:txBody>
      </p:sp>
    </p:spTree>
    <p:extLst>
      <p:ext uri="{BB962C8B-B14F-4D97-AF65-F5344CB8AC3E}">
        <p14:creationId xmlns:p14="http://schemas.microsoft.com/office/powerpoint/2010/main" val="358407280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CB10F-904F-4A80-D56F-C28073994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200"/>
              <a:t>Financial Analysis to determine investment suitability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F8FE-B4D0-5F8C-9CCB-7004053FA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200" dirty="0"/>
              <a:t>Operational Efficiency</a:t>
            </a:r>
          </a:p>
          <a:p>
            <a:r>
              <a:rPr lang="en-SG" sz="2200" dirty="0"/>
              <a:t>Accounts receivables Turnover</a:t>
            </a:r>
          </a:p>
          <a:p>
            <a:r>
              <a:rPr lang="en-SG" sz="2200" dirty="0"/>
              <a:t>Inventory Turnover</a:t>
            </a:r>
          </a:p>
          <a:p>
            <a:endParaRPr lang="en-SG" sz="2200" dirty="0"/>
          </a:p>
          <a:p>
            <a:pPr marL="0" indent="0">
              <a:buNone/>
            </a:pPr>
            <a:r>
              <a:rPr lang="en-SG" sz="2200" dirty="0"/>
              <a:t>Market Data</a:t>
            </a:r>
          </a:p>
          <a:p>
            <a:r>
              <a:rPr lang="en-SG" sz="2200" dirty="0"/>
              <a:t>Price to Earnings (PE) ratio</a:t>
            </a:r>
          </a:p>
          <a:p>
            <a:r>
              <a:rPr lang="en-SG" sz="2200" dirty="0"/>
              <a:t>Price to Book (PB) ratio</a:t>
            </a:r>
          </a:p>
          <a:p>
            <a:r>
              <a:rPr lang="en-SG" sz="2200" dirty="0"/>
              <a:t>Price Earnings Growth (PEG) Ratio </a:t>
            </a:r>
          </a:p>
        </p:txBody>
      </p:sp>
    </p:spTree>
    <p:extLst>
      <p:ext uri="{BB962C8B-B14F-4D97-AF65-F5344CB8AC3E}">
        <p14:creationId xmlns:p14="http://schemas.microsoft.com/office/powerpoint/2010/main" val="208736064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CB10F-904F-4A80-D56F-C28073994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200"/>
              <a:t>Financial Analysis to determine investment suitability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F8FE-B4D0-5F8C-9CCB-7004053FA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200" dirty="0"/>
              <a:t>Capital Efficiency and Solvency</a:t>
            </a:r>
          </a:p>
          <a:p>
            <a:r>
              <a:rPr lang="en-SG" sz="2200" dirty="0"/>
              <a:t>Return on Equity</a:t>
            </a:r>
          </a:p>
          <a:p>
            <a:r>
              <a:rPr lang="en-SG" sz="2200" dirty="0"/>
              <a:t>Debt to Equity</a:t>
            </a:r>
          </a:p>
          <a:p>
            <a:endParaRPr lang="en-SG" sz="2200" dirty="0"/>
          </a:p>
          <a:p>
            <a:pPr marL="0" indent="0">
              <a:buNone/>
            </a:pPr>
            <a:r>
              <a:rPr lang="en-SG" sz="2200" dirty="0"/>
              <a:t>Liquidity</a:t>
            </a:r>
          </a:p>
          <a:p>
            <a:pPr marL="0" indent="0">
              <a:buNone/>
            </a:pPr>
            <a:endParaRPr lang="en-SG" sz="2200" dirty="0"/>
          </a:p>
          <a:p>
            <a:pPr marL="0" indent="0">
              <a:buNone/>
            </a:pPr>
            <a:r>
              <a:rPr lang="en-SG" sz="2200" dirty="0"/>
              <a:t>DuPoint Index</a:t>
            </a:r>
          </a:p>
          <a:p>
            <a:pPr marL="0" indent="0">
              <a:buNone/>
            </a:pPr>
            <a:r>
              <a:rPr lang="en-SG" sz="2200" dirty="0"/>
              <a:t>Net Profit Margin x Asset Turnover x Equity Multiplier</a:t>
            </a:r>
          </a:p>
          <a:p>
            <a:pPr marL="0" indent="0">
              <a:buNone/>
            </a:pPr>
            <a:r>
              <a:rPr lang="en-SG" sz="2200" dirty="0"/>
              <a:t>(Net Income / Revenue) x ( Sales / Total Assets) x ( Total Assets / Shareholders Equity)</a:t>
            </a:r>
          </a:p>
          <a:p>
            <a:pPr marL="0" indent="0">
              <a:buNone/>
            </a:pPr>
            <a:endParaRPr lang="en-SG" sz="2200" dirty="0"/>
          </a:p>
        </p:txBody>
      </p:sp>
    </p:spTree>
    <p:extLst>
      <p:ext uri="{BB962C8B-B14F-4D97-AF65-F5344CB8AC3E}">
        <p14:creationId xmlns:p14="http://schemas.microsoft.com/office/powerpoint/2010/main" val="24309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6F9A9-5AB1-4FB1-94A0-DF92F8A1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Financial Ratios in Banking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6CADB-021F-18B3-E1C9-275711A28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SG" dirty="0"/>
              <a:t>Profitability Calculation Ratios</a:t>
            </a:r>
          </a:p>
          <a:p>
            <a:r>
              <a:rPr lang="en-SG" dirty="0"/>
              <a:t>Net Interest Margin : (Interest Income – Interest Expense) / Total Assets</a:t>
            </a:r>
          </a:p>
          <a:p>
            <a:endParaRPr lang="en-SG" dirty="0"/>
          </a:p>
          <a:p>
            <a:pPr marL="0" indent="0">
              <a:buNone/>
            </a:pPr>
            <a:r>
              <a:rPr lang="en-SG" dirty="0"/>
              <a:t>Efficiency Calculation Ratios</a:t>
            </a:r>
          </a:p>
          <a:p>
            <a:r>
              <a:rPr lang="en-SG" dirty="0"/>
              <a:t>Efficiency Ratio : Non-Interest Expense / Revenue</a:t>
            </a:r>
          </a:p>
          <a:p>
            <a:r>
              <a:rPr lang="en-SG" dirty="0"/>
              <a:t>Operating Leverage : Growth Rate of Revenue – Growth Rate of Non-Interest Expense</a:t>
            </a:r>
          </a:p>
        </p:txBody>
      </p:sp>
    </p:spTree>
    <p:extLst>
      <p:ext uri="{BB962C8B-B14F-4D97-AF65-F5344CB8AC3E}">
        <p14:creationId xmlns:p14="http://schemas.microsoft.com/office/powerpoint/2010/main" val="271565070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6F9A9-5AB1-4FB1-94A0-DF92F8A1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Financial Ratios in Banking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6CADB-021F-18B3-E1C9-275711A28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SG" dirty="0"/>
              <a:t>Financial Strength Calculation Ratios</a:t>
            </a:r>
          </a:p>
          <a:p>
            <a:r>
              <a:rPr lang="en-SG" dirty="0"/>
              <a:t>Liquidity Coverage Ratio: High Quality Liquid Asset Amount / Total Net Cash Flow Amount</a:t>
            </a:r>
          </a:p>
          <a:p>
            <a:r>
              <a:rPr lang="en-SG" dirty="0"/>
              <a:t>Leverage Ratio : Tier 1 Capital / Total Assets (Exposure)</a:t>
            </a:r>
          </a:p>
          <a:p>
            <a:r>
              <a:rPr lang="en-SG" dirty="0"/>
              <a:t>CET1 Ratio : Common Equity Tier 1 Capital / Risk-Weighted Assets</a:t>
            </a:r>
          </a:p>
        </p:txBody>
      </p:sp>
    </p:spTree>
    <p:extLst>
      <p:ext uri="{BB962C8B-B14F-4D97-AF65-F5344CB8AC3E}">
        <p14:creationId xmlns:p14="http://schemas.microsoft.com/office/powerpoint/2010/main" val="28967777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B6BD3-77AC-3558-39AC-48B5AAFAB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SG" sz="5400">
                <a:solidFill>
                  <a:srgbClr val="FFFFFF"/>
                </a:solidFill>
              </a:rPr>
              <a:t>Financial Ratios in Insurance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1271F-F458-A0FF-7FF9-6E21DDBC4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en-SG" sz="2200"/>
              <a:t>Persistency Ratio </a:t>
            </a:r>
          </a:p>
          <a:p>
            <a:pPr marL="0" indent="0">
              <a:buNone/>
            </a:pPr>
            <a:r>
              <a:rPr lang="en-SG" sz="2200"/>
              <a:t>Number of policyholders paying premium / Net Active policyholders</a:t>
            </a:r>
          </a:p>
          <a:p>
            <a:r>
              <a:rPr lang="en-SG" sz="2200"/>
              <a:t>Solvency Ratio</a:t>
            </a:r>
          </a:p>
          <a:p>
            <a:pPr marL="0" indent="0">
              <a:buNone/>
            </a:pPr>
            <a:r>
              <a:rPr lang="en-SG" sz="2200"/>
              <a:t>Available Solvency margin / Required Solvency Margin</a:t>
            </a:r>
          </a:p>
          <a:p>
            <a:r>
              <a:rPr lang="en-SG" sz="2200"/>
              <a:t>Combined Ratio</a:t>
            </a:r>
          </a:p>
          <a:p>
            <a:pPr marL="0" indent="0">
              <a:buNone/>
            </a:pPr>
            <a:r>
              <a:rPr lang="en-SG" sz="2200"/>
              <a:t>Total outflow on operating expenses, commissions, claims and losses / Net Earned Premium</a:t>
            </a:r>
          </a:p>
        </p:txBody>
      </p:sp>
    </p:spTree>
    <p:extLst>
      <p:ext uri="{BB962C8B-B14F-4D97-AF65-F5344CB8AC3E}">
        <p14:creationId xmlns:p14="http://schemas.microsoft.com/office/powerpoint/2010/main" val="54209309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B6BD3-77AC-3558-39AC-48B5AAFAB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SG" sz="5400">
                <a:solidFill>
                  <a:srgbClr val="FFFFFF"/>
                </a:solidFill>
              </a:rPr>
              <a:t>Financial Ratios in Insurance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1271F-F458-A0FF-7FF9-6E21DDBC4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en-SG" sz="2200"/>
              <a:t>Incurred Claims Ratio</a:t>
            </a:r>
          </a:p>
          <a:p>
            <a:pPr marL="0" indent="0">
              <a:buNone/>
            </a:pPr>
            <a:r>
              <a:rPr lang="en-SG" sz="2200"/>
              <a:t>Total Claims paid / Total premiums collected</a:t>
            </a:r>
          </a:p>
          <a:p>
            <a:r>
              <a:rPr lang="en-SG" sz="2200"/>
              <a:t>Commission expense ratio</a:t>
            </a:r>
          </a:p>
          <a:p>
            <a:pPr marL="0" indent="0">
              <a:buNone/>
            </a:pPr>
            <a:r>
              <a:rPr lang="en-SG" sz="2200"/>
              <a:t>Commission Payment / Premiums Collected</a:t>
            </a:r>
          </a:p>
          <a:p>
            <a:r>
              <a:rPr lang="en-SG" sz="2200"/>
              <a:t>Claim Settlement Ratio</a:t>
            </a:r>
          </a:p>
          <a:p>
            <a:pPr marL="0" indent="0">
              <a:buNone/>
            </a:pPr>
            <a:r>
              <a:rPr lang="en-SG" sz="2200"/>
              <a:t>Number of claims paid out / Number of claims received</a:t>
            </a:r>
          </a:p>
        </p:txBody>
      </p:sp>
    </p:spTree>
    <p:extLst>
      <p:ext uri="{BB962C8B-B14F-4D97-AF65-F5344CB8AC3E}">
        <p14:creationId xmlns:p14="http://schemas.microsoft.com/office/powerpoint/2010/main" val="58946827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A7DA2BE-542B-F1BF-D3BB-3951B937E22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B69B7-7A26-41AB-1638-3D03CC93D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Benchmarking of Financial performance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2EA891-2D97-2006-11A6-B2D095A6C9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6245762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B69B7-7A26-41AB-1638-3D03CC93D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Benchmarking of Financial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3F146-BE74-3349-4030-A27E0E7B8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68282" cy="4351338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Illustration of trend of US sectoral averages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07A100-C238-3095-3F6D-9CDF524F8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175" y="1575335"/>
            <a:ext cx="6022639" cy="485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64191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B93F1-D640-4327-4F74-47FD75BD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Capital Budgeting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AA24C-6982-1D9D-C3E2-5E0D4753E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Planning for long term investments</a:t>
            </a:r>
          </a:p>
          <a:p>
            <a:r>
              <a:rPr lang="en-SG" sz="2200"/>
              <a:t>Focus on cash flows rather than profits</a:t>
            </a:r>
          </a:p>
          <a:p>
            <a:r>
              <a:rPr lang="en-SG" sz="2200"/>
              <a:t>Look at cash inflow and outflow and not accounting revenue and expenses</a:t>
            </a:r>
          </a:p>
          <a:p>
            <a:r>
              <a:rPr lang="en-SG" sz="2200"/>
              <a:t>Includes adjustments for the time value of money</a:t>
            </a:r>
          </a:p>
        </p:txBody>
      </p:sp>
    </p:spTree>
    <p:extLst>
      <p:ext uri="{BB962C8B-B14F-4D97-AF65-F5344CB8AC3E}">
        <p14:creationId xmlns:p14="http://schemas.microsoft.com/office/powerpoint/2010/main" val="129925574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825C95-99D2-0798-0C41-8C9DF7174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SG" sz="5400"/>
              <a:t>Time Value of Money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7A0F1-B7D8-B5F1-C534-E1D982D77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SG" sz="2200"/>
              <a:t>Money in hand is more valuable than same amount of money in the future</a:t>
            </a:r>
          </a:p>
          <a:p>
            <a:r>
              <a:rPr lang="en-SG" sz="2200"/>
              <a:t>Opportunity cost is the interest that can be earned on the money or due to inflation</a:t>
            </a:r>
          </a:p>
          <a:p>
            <a:r>
              <a:rPr lang="en-SG" sz="2200"/>
              <a:t>Components</a:t>
            </a:r>
          </a:p>
          <a:p>
            <a:pPr lvl="1"/>
            <a:r>
              <a:rPr lang="en-SG" sz="2200"/>
              <a:t>Present Value (PV)</a:t>
            </a:r>
          </a:p>
          <a:p>
            <a:pPr lvl="1"/>
            <a:r>
              <a:rPr lang="en-SG" sz="2200"/>
              <a:t>Future Value (FV)</a:t>
            </a:r>
          </a:p>
          <a:p>
            <a:pPr lvl="1"/>
            <a:r>
              <a:rPr lang="en-SG" sz="2200"/>
              <a:t>Number of Time Periods (N)</a:t>
            </a:r>
          </a:p>
          <a:p>
            <a:pPr lvl="1"/>
            <a:r>
              <a:rPr lang="en-SG" sz="2200"/>
              <a:t>Interest Rate (I)</a:t>
            </a:r>
          </a:p>
          <a:p>
            <a:pPr lvl="1"/>
            <a:r>
              <a:rPr lang="en-SG" sz="2200"/>
              <a:t>Payment Amount (PMT)</a:t>
            </a:r>
          </a:p>
        </p:txBody>
      </p:sp>
    </p:spTree>
    <p:extLst>
      <p:ext uri="{BB962C8B-B14F-4D97-AF65-F5344CB8AC3E}">
        <p14:creationId xmlns:p14="http://schemas.microsoft.com/office/powerpoint/2010/main" val="348201780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710E64-800C-331B-BD30-8FF6BCDBD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SG" sz="5400"/>
              <a:t>Present Value and Future Value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B09D4-0249-F82D-4B00-11E9675A7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SG" sz="2200"/>
              <a:t>PV = FV / [ 1 + i] ^ n</a:t>
            </a:r>
          </a:p>
          <a:p>
            <a:pPr marL="0" indent="0">
              <a:buNone/>
            </a:pPr>
            <a:endParaRPr lang="en-SG" sz="2200"/>
          </a:p>
          <a:p>
            <a:pPr marL="0" indent="0">
              <a:buNone/>
            </a:pPr>
            <a:r>
              <a:rPr lang="en-SG" sz="2200"/>
              <a:t>FV = PV x [ 1 + i] ^ n</a:t>
            </a:r>
          </a:p>
          <a:p>
            <a:pPr marL="0" indent="0">
              <a:buNone/>
            </a:pPr>
            <a:endParaRPr lang="en-SG" sz="2200"/>
          </a:p>
          <a:p>
            <a:pPr marL="0" indent="0">
              <a:buNone/>
            </a:pPr>
            <a:r>
              <a:rPr lang="en-SG" sz="2200"/>
              <a:t>PV = Present Value</a:t>
            </a:r>
          </a:p>
          <a:p>
            <a:pPr marL="0" indent="0">
              <a:buNone/>
            </a:pPr>
            <a:r>
              <a:rPr lang="en-SG" sz="2200"/>
              <a:t>FV = Future Value</a:t>
            </a:r>
          </a:p>
          <a:p>
            <a:pPr marL="0" indent="0">
              <a:buNone/>
            </a:pPr>
            <a:r>
              <a:rPr lang="en-SG" sz="2200"/>
              <a:t>i= Interest Rate</a:t>
            </a:r>
          </a:p>
          <a:p>
            <a:pPr marL="0" indent="0">
              <a:buNone/>
            </a:pPr>
            <a:r>
              <a:rPr lang="en-SG" sz="2200"/>
              <a:t>n= Number of years</a:t>
            </a:r>
          </a:p>
          <a:p>
            <a:pPr marL="0" indent="0">
              <a:buNone/>
            </a:pPr>
            <a:endParaRPr lang="en-SG" sz="2200"/>
          </a:p>
          <a:p>
            <a:pPr marL="0" indent="0">
              <a:buNone/>
            </a:pP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418979328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C6E7D-464F-F505-EAA9-AF06D66F8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SG" sz="5400"/>
              <a:t>Present Value and Future Value - Example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A3838-8DB1-E6E9-2987-33B8F46E1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SG" sz="2200"/>
              <a:t>Interest rate = 5%</a:t>
            </a:r>
          </a:p>
          <a:p>
            <a:pPr marL="0" indent="0">
              <a:buNone/>
            </a:pPr>
            <a:endParaRPr lang="en-SG" sz="2200"/>
          </a:p>
          <a:p>
            <a:r>
              <a:rPr lang="en-SG" sz="2200"/>
              <a:t>Future Value of $10,000 today after 2 years</a:t>
            </a:r>
          </a:p>
          <a:p>
            <a:r>
              <a:rPr lang="en-SG" sz="2200"/>
              <a:t>$10,000 x (1 + 5%) ^2 = $11,025</a:t>
            </a:r>
          </a:p>
          <a:p>
            <a:endParaRPr lang="en-SG" sz="2200"/>
          </a:p>
          <a:p>
            <a:r>
              <a:rPr lang="en-SG" sz="2200"/>
              <a:t>Present Value of $10,000 to be received after 2 years</a:t>
            </a:r>
          </a:p>
          <a:p>
            <a:r>
              <a:rPr lang="en-SG" sz="2200"/>
              <a:t>$10,000 / (1+5%)^2 = $9070.30</a:t>
            </a:r>
          </a:p>
          <a:p>
            <a:pPr marL="0" indent="0">
              <a:buNone/>
            </a:pP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282258511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2C609B-9248-AA36-E766-7661F3EAD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SG" sz="5400">
                <a:solidFill>
                  <a:srgbClr val="FFFFFF"/>
                </a:solidFill>
              </a:rPr>
              <a:t>Capital Budgeting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0F23F-7E9E-B886-157E-F145233A7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en-SG" sz="2200"/>
              <a:t>Identify long term goals</a:t>
            </a:r>
          </a:p>
          <a:p>
            <a:r>
              <a:rPr lang="en-SG" sz="2200"/>
              <a:t>Identify potential investment proposals</a:t>
            </a:r>
          </a:p>
          <a:p>
            <a:r>
              <a:rPr lang="en-SG" sz="2200"/>
              <a:t>Estimate and analyse the relevant cash flows from the proposal</a:t>
            </a:r>
          </a:p>
          <a:p>
            <a:r>
              <a:rPr lang="en-SG" sz="2200"/>
              <a:t>Analyse financial feasibility</a:t>
            </a:r>
          </a:p>
          <a:p>
            <a:r>
              <a:rPr lang="en-SG" sz="2200"/>
              <a:t>Choose projects to implement</a:t>
            </a:r>
          </a:p>
          <a:p>
            <a:r>
              <a:rPr lang="en-SG" sz="2200"/>
              <a:t>Implement the projects</a:t>
            </a:r>
          </a:p>
          <a:p>
            <a:r>
              <a:rPr lang="en-SG" sz="2200"/>
              <a:t>Monitor the projects</a:t>
            </a:r>
          </a:p>
        </p:txBody>
      </p:sp>
    </p:spTree>
    <p:extLst>
      <p:ext uri="{BB962C8B-B14F-4D97-AF65-F5344CB8AC3E}">
        <p14:creationId xmlns:p14="http://schemas.microsoft.com/office/powerpoint/2010/main" val="269613712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182DE4-4A05-07EA-0460-6B8D0625F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SG" sz="5400"/>
              <a:t>Capital Budgeting Methods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219A5F-5F0D-9D85-5162-CC1E08036B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650754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3A5B4632-C963-4296-86F0-79AA9EA5A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8328" y="303591"/>
            <a:ext cx="4335327" cy="58967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B05F8D-F70D-6310-608F-C20B3ADEA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37125"/>
            <a:ext cx="3802276" cy="5256371"/>
          </a:xfrm>
        </p:spPr>
        <p:txBody>
          <a:bodyPr>
            <a:normAutofit/>
          </a:bodyPr>
          <a:lstStyle/>
          <a:p>
            <a:r>
              <a:rPr lang="en-SG" sz="4800">
                <a:solidFill>
                  <a:schemeClr val="bg1"/>
                </a:solidFill>
              </a:rPr>
              <a:t>Payback Period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DE83C32-E1B6-0434-3737-042232CE8E5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66985" y="303591"/>
          <a:ext cx="6588691" cy="5896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911328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B36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DEB88-666B-4617-4EA6-B5603B932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Payback Period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9C6A8F-9D64-09EB-B5B0-6F4244CD3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567359"/>
            <a:ext cx="7188199" cy="371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6132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4E97AB-DD02-5432-DEFF-3691428D9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Discounted Payback Period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56102-43E1-1A13-3B36-934C885C9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SG" dirty="0"/>
              <a:t>Accounts for the time value of money</a:t>
            </a:r>
          </a:p>
          <a:p>
            <a:r>
              <a:rPr lang="en-SG" dirty="0"/>
              <a:t>Discount each future cash inflow to the present value</a:t>
            </a:r>
          </a:p>
          <a:p>
            <a:r>
              <a:rPr lang="en-SG" dirty="0"/>
              <a:t>Discount rate is the cost of capital or potential rate of return</a:t>
            </a:r>
          </a:p>
        </p:txBody>
      </p:sp>
    </p:spTree>
    <p:extLst>
      <p:ext uri="{BB962C8B-B14F-4D97-AF65-F5344CB8AC3E}">
        <p14:creationId xmlns:p14="http://schemas.microsoft.com/office/powerpoint/2010/main" val="38771413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3043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B66ADB-0785-746E-80BF-E9419CF5D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532214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Discounted Payback Period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69FCC-B759-0570-5785-327EFC59E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547422"/>
            <a:ext cx="10905066" cy="402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9966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D6E319-3B7A-1C46-55A3-53731013A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Net Present Value (NPV)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2F5EF0-B61C-3430-86BE-C73EE65E58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296963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7327DF-955A-B1A8-2E07-EC27E84B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37" y="914400"/>
            <a:ext cx="3657600" cy="28875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Net Present Value Example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CE03E92-7DF5-61A3-62F2-AB4CC1619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4070" y="492573"/>
            <a:ext cx="6033049" cy="58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647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291FA-2B8F-F3BA-3046-B782614BF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5400"/>
              <a:t>Profitability Index (PI)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471A8-3594-50B8-2D31-DF31E9E8C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SG" sz="2200"/>
              <a:t>Divide the Present Value of cash inflows of the investment by the present value of cash outflows</a:t>
            </a:r>
          </a:p>
          <a:p>
            <a:r>
              <a:rPr lang="en-SG" sz="2200"/>
              <a:t>Accept project with PI &gt; 1</a:t>
            </a:r>
          </a:p>
        </p:txBody>
      </p:sp>
    </p:spTree>
    <p:extLst>
      <p:ext uri="{BB962C8B-B14F-4D97-AF65-F5344CB8AC3E}">
        <p14:creationId xmlns:p14="http://schemas.microsoft.com/office/powerpoint/2010/main" val="66044991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CB443-322A-4C85-B100-126F157D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Profitability Index – Example</a:t>
            </a:r>
            <a:b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4817A2-A1B1-2FC2-E79B-53E4654F0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005" y="643466"/>
            <a:ext cx="4337322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36465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2C0048-2112-9068-2ACF-5E44CA15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en-SG" sz="5400">
                <a:solidFill>
                  <a:srgbClr val="FFFFFF"/>
                </a:solidFill>
              </a:rPr>
              <a:t>Internal Rate of Return (IRR)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73BD7-6B77-83F5-3461-B15FAD9B1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882315"/>
            <a:ext cx="5254754" cy="5294647"/>
          </a:xfrm>
        </p:spPr>
        <p:txBody>
          <a:bodyPr>
            <a:normAutofit/>
          </a:bodyPr>
          <a:lstStyle/>
          <a:p>
            <a:r>
              <a:rPr lang="en-SG" sz="2200"/>
              <a:t>Discount Rate that makes NPV equal to Zero</a:t>
            </a:r>
          </a:p>
          <a:p>
            <a:r>
              <a:rPr lang="en-SG" sz="2200"/>
              <a:t>Accept project if IRR is greater than threshold rate</a:t>
            </a:r>
          </a:p>
          <a:p>
            <a:r>
              <a:rPr lang="en-SG" sz="2200"/>
              <a:t>Reject project if IRR is lesser than threshold rate</a:t>
            </a:r>
          </a:p>
        </p:txBody>
      </p:sp>
    </p:spTree>
    <p:extLst>
      <p:ext uri="{BB962C8B-B14F-4D97-AF65-F5344CB8AC3E}">
        <p14:creationId xmlns:p14="http://schemas.microsoft.com/office/powerpoint/2010/main" val="385580902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3F30A0-94EA-A4BB-4641-0519B99A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37" y="914400"/>
            <a:ext cx="3657600" cy="28875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Internal Rate of Return Example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7A96D0-5857-E09A-7AA9-49C8B51BF1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7922" y="492573"/>
            <a:ext cx="4625345" cy="58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750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2724</TotalTime>
  <Words>3548</Words>
  <Application>Microsoft Macintosh PowerPoint</Application>
  <PresentationFormat>Widescreen</PresentationFormat>
  <Paragraphs>660</Paragraphs>
  <Slides>145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145</vt:i4>
      </vt:variant>
    </vt:vector>
  </HeadingPairs>
  <TitlesOfParts>
    <vt:vector size="151" baseType="lpstr">
      <vt:lpstr>Trade Gothic W01 Bold 2</vt:lpstr>
      <vt:lpstr>Trade Gothic W01 Roman</vt:lpstr>
      <vt:lpstr>Arial</vt:lpstr>
      <vt:lpstr>Calibri</vt:lpstr>
      <vt:lpstr>Calibri Light</vt:lpstr>
      <vt:lpstr>Office Theme</vt:lpstr>
      <vt:lpstr>Financial Analysis for Non-Finance Managers</vt:lpstr>
      <vt:lpstr>Outline</vt:lpstr>
      <vt:lpstr>Financial Statements</vt:lpstr>
      <vt:lpstr>Users of financial statements</vt:lpstr>
      <vt:lpstr>Key Financial Statements</vt:lpstr>
      <vt:lpstr>Balance Sheet</vt:lpstr>
      <vt:lpstr>Balance Sheet Components </vt:lpstr>
      <vt:lpstr>Assets</vt:lpstr>
      <vt:lpstr>Current Assets – Cash and Cash Equivalents</vt:lpstr>
      <vt:lpstr>Cash vs Accrual basis accounting</vt:lpstr>
      <vt:lpstr>Current Assets – Accounts Receivable</vt:lpstr>
      <vt:lpstr>Current Assets - Inventory</vt:lpstr>
      <vt:lpstr>Current Assets – Marketable Securities</vt:lpstr>
      <vt:lpstr>Long Term Assets – Plant, Property and Equipment (PP&amp;E) </vt:lpstr>
      <vt:lpstr>Valuation of PP&amp;E</vt:lpstr>
      <vt:lpstr>Depreciation of PP&amp;E</vt:lpstr>
      <vt:lpstr>Common Depreciation Methods</vt:lpstr>
      <vt:lpstr>Depreciation – Straight Line Method</vt:lpstr>
      <vt:lpstr>PowerPoint Presentation</vt:lpstr>
      <vt:lpstr>Depreciation – Double Declining Method</vt:lpstr>
      <vt:lpstr>PowerPoint Presentation</vt:lpstr>
      <vt:lpstr>Depreciation – Units of Production Method</vt:lpstr>
      <vt:lpstr>PowerPoint Presentation</vt:lpstr>
      <vt:lpstr>Depreciation – Sum of Years Method</vt:lpstr>
      <vt:lpstr>PowerPoint Presentation</vt:lpstr>
      <vt:lpstr>Long Term Assets – Intangible Assets</vt:lpstr>
      <vt:lpstr>Liabilities</vt:lpstr>
      <vt:lpstr>Current Liabilities – Accounts Payable</vt:lpstr>
      <vt:lpstr>Current Liabilities – Current Debt</vt:lpstr>
      <vt:lpstr>Current Liabilities – Current Portion of Long Term Debt</vt:lpstr>
      <vt:lpstr>Long Term Liabilities – Bonds Payable </vt:lpstr>
      <vt:lpstr>Long Term Liabilities – Long Term Debt</vt:lpstr>
      <vt:lpstr>Working Capital</vt:lpstr>
      <vt:lpstr>Shareholder’s Equity</vt:lpstr>
      <vt:lpstr>Shareholder’s Equity – Share capital</vt:lpstr>
      <vt:lpstr>Shareholders Equity – Retained Earnings</vt:lpstr>
      <vt:lpstr>Income Statement</vt:lpstr>
      <vt:lpstr>Income Statement Components</vt:lpstr>
      <vt:lpstr>Layout of the Income Statement</vt:lpstr>
      <vt:lpstr>Summary of Income Statement Items</vt:lpstr>
      <vt:lpstr>Cash Flow Statement</vt:lpstr>
      <vt:lpstr>Cashflow Statement – Operating Activities</vt:lpstr>
      <vt:lpstr>Cashflow Statement – Investing Activities</vt:lpstr>
      <vt:lpstr>Cashflow Statement – Financing Activities</vt:lpstr>
      <vt:lpstr>Example of a cashflow statement</vt:lpstr>
      <vt:lpstr>Summary of Cash Flow items</vt:lpstr>
      <vt:lpstr>Statement of changes in Equity</vt:lpstr>
      <vt:lpstr>Statement of changes in Equity - components</vt:lpstr>
      <vt:lpstr>Financial Ratios</vt:lpstr>
      <vt:lpstr>Liquidity Ratios</vt:lpstr>
      <vt:lpstr>Liquidity Ratios – Current Ratio</vt:lpstr>
      <vt:lpstr>Liquidity Ratios – Acid Test Ratio</vt:lpstr>
      <vt:lpstr>Liquidity Ratios – Cash Ratio</vt:lpstr>
      <vt:lpstr>Liquidity Ratios – Operating Cash Flow Ratio</vt:lpstr>
      <vt:lpstr>Leverage Financial Ratios</vt:lpstr>
      <vt:lpstr>Leverage Ratio – Debt Ratio</vt:lpstr>
      <vt:lpstr>Leverage Ratio – Debt to Equity Ratio</vt:lpstr>
      <vt:lpstr>Leverage Ratio – Interest Coverage Ratio</vt:lpstr>
      <vt:lpstr>Leverage Ratio – Debt Service Coverage Ratio</vt:lpstr>
      <vt:lpstr>Efficiency Ratios</vt:lpstr>
      <vt:lpstr>Efficiency Ratio – Asset Turnover Ratio</vt:lpstr>
      <vt:lpstr>Efficiency Ratio – Inventory Turnover Ratio</vt:lpstr>
      <vt:lpstr>Efficiency Ratio – Accounts Receivable Turnover Ratio</vt:lpstr>
      <vt:lpstr>Average Collection Period</vt:lpstr>
      <vt:lpstr>Importance of Average Collection Period</vt:lpstr>
      <vt:lpstr>Average Collections Period - Illustration</vt:lpstr>
      <vt:lpstr>Efficiency Ratio – Accounts Payable Turnover Ratio</vt:lpstr>
      <vt:lpstr>Average Payments Period</vt:lpstr>
      <vt:lpstr>Average Payments Period - Illustration</vt:lpstr>
      <vt:lpstr>Profitability Ratios</vt:lpstr>
      <vt:lpstr>Profitability Ratios</vt:lpstr>
      <vt:lpstr>Profit Ratio – Gross Margin</vt:lpstr>
      <vt:lpstr>Profit Ratio – Operating Margin</vt:lpstr>
      <vt:lpstr>Profit Ratio – Net Profit Margin</vt:lpstr>
      <vt:lpstr>Profit Ratio – Return on Assets</vt:lpstr>
      <vt:lpstr>Profit Ratio – Return on Equity</vt:lpstr>
      <vt:lpstr>How do we measure profitability</vt:lpstr>
      <vt:lpstr>PowerPoint Presentation</vt:lpstr>
      <vt:lpstr>Summary of all ratios</vt:lpstr>
      <vt:lpstr>Summary of all ratios</vt:lpstr>
      <vt:lpstr>Profitability Ratios for a sample company</vt:lpstr>
      <vt:lpstr>Cash Flow Analysis</vt:lpstr>
      <vt:lpstr>How can business improve cash flow management</vt:lpstr>
      <vt:lpstr>Example of a monthly cash flow statement</vt:lpstr>
      <vt:lpstr>Proforma Financial Statements</vt:lpstr>
      <vt:lpstr>Forecasting of Income Statement</vt:lpstr>
      <vt:lpstr>Forecasting a Balance Sheet</vt:lpstr>
      <vt:lpstr>Forecasting the Cash Flow Statement</vt:lpstr>
      <vt:lpstr>Cash Flow Forecasting Methods</vt:lpstr>
      <vt:lpstr>Determine financial health of a company</vt:lpstr>
      <vt:lpstr>Determine Financial Health of a company</vt:lpstr>
      <vt:lpstr>Determine Financial Health of a company</vt:lpstr>
      <vt:lpstr>Determine Financial Health of a company</vt:lpstr>
      <vt:lpstr>Determine Financial Health of a company</vt:lpstr>
      <vt:lpstr>Determine Financial Health of a company</vt:lpstr>
      <vt:lpstr>Financial Statements Analysis</vt:lpstr>
      <vt:lpstr>Financial Statements Analysis - Methods</vt:lpstr>
      <vt:lpstr>Ratio Analysis</vt:lpstr>
      <vt:lpstr>Ratio Analysis - example</vt:lpstr>
      <vt:lpstr>Current Ratio</vt:lpstr>
      <vt:lpstr>Quick Ratio</vt:lpstr>
      <vt:lpstr>Operating Profitability</vt:lpstr>
      <vt:lpstr>Net Profit Ratio</vt:lpstr>
      <vt:lpstr>Return on Equity</vt:lpstr>
      <vt:lpstr>Return on Capital Employed</vt:lpstr>
      <vt:lpstr>Inventory Turnover</vt:lpstr>
      <vt:lpstr>Receivable Turnover</vt:lpstr>
      <vt:lpstr>Payable Turnover</vt:lpstr>
      <vt:lpstr>Debt to Equity Ratio</vt:lpstr>
      <vt:lpstr>Financial Leverage</vt:lpstr>
      <vt:lpstr>Horizontal Analysis</vt:lpstr>
      <vt:lpstr>Horizontal Analysis - Example</vt:lpstr>
      <vt:lpstr>Vertical Analysis</vt:lpstr>
      <vt:lpstr>Vertical Analysis - Example</vt:lpstr>
      <vt:lpstr>Horizontal Analysis – Case Study</vt:lpstr>
      <vt:lpstr>Step 1 – Generation of Ratios</vt:lpstr>
      <vt:lpstr>Step 2 – Trend Analysis of Balance Sheet</vt:lpstr>
      <vt:lpstr>Step 3 – Trend Analysis of Income Statement</vt:lpstr>
      <vt:lpstr>Trend Analysis of Ratios</vt:lpstr>
      <vt:lpstr>Financial Analysis to determine investment suitability</vt:lpstr>
      <vt:lpstr>Financial Analysis to determine investment suitability</vt:lpstr>
      <vt:lpstr>Financial Analysis to determine investment suitability</vt:lpstr>
      <vt:lpstr>Financial Analysis to determine investment suitability</vt:lpstr>
      <vt:lpstr>Financial Ratios in Banking</vt:lpstr>
      <vt:lpstr>Financial Ratios in Banking</vt:lpstr>
      <vt:lpstr>Financial Ratios in Insurance</vt:lpstr>
      <vt:lpstr>Financial Ratios in Insurance</vt:lpstr>
      <vt:lpstr>Benchmarking of Financial performance</vt:lpstr>
      <vt:lpstr>Benchmarking of Financial performance</vt:lpstr>
      <vt:lpstr>Capital Budgeting</vt:lpstr>
      <vt:lpstr>Time Value of Money</vt:lpstr>
      <vt:lpstr>Present Value and Future Value</vt:lpstr>
      <vt:lpstr>Present Value and Future Value - Example</vt:lpstr>
      <vt:lpstr>Capital Budgeting Process</vt:lpstr>
      <vt:lpstr>Capital Budgeting Methods</vt:lpstr>
      <vt:lpstr>Payback Period</vt:lpstr>
      <vt:lpstr>Payback Period Example</vt:lpstr>
      <vt:lpstr>Discounted Payback Period</vt:lpstr>
      <vt:lpstr>Discounted Payback Period Example</vt:lpstr>
      <vt:lpstr>Net Present Value (NPV)</vt:lpstr>
      <vt:lpstr>Net Present Value Example</vt:lpstr>
      <vt:lpstr>Profitability Index (PI)</vt:lpstr>
      <vt:lpstr>Profitability Index – Example </vt:lpstr>
      <vt:lpstr>Internal Rate of Return (IRR)</vt:lpstr>
      <vt:lpstr>Internal Rate of Return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rana bhattacharjee</dc:creator>
  <cp:lastModifiedBy>Tertiary Infotech 1</cp:lastModifiedBy>
  <cp:revision>40</cp:revision>
  <dcterms:created xsi:type="dcterms:W3CDTF">2022-05-13T04:39:43Z</dcterms:created>
  <dcterms:modified xsi:type="dcterms:W3CDTF">2022-07-16T18:31:56Z</dcterms:modified>
</cp:coreProperties>
</file>
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Finance for Non-Finance Managers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C525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v10  ·  21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Industry certified in the subject area of this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for Tertiary Infotech Academy.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this subject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do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activity.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activities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Financial statements, ratios, profitability, cash flow and projections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The different financial ratios (Activity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Profitability Analysis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Cash Flow Analysis (Activity 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Projected financial and cash-flow statements (Activity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Analysis process, financial health, historical performance, benchmarking and capital budgeting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The process of financial statements analysis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6: Use financial analysis to determine the health of an organisation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7: Evaluate organisation's historical financial performance (Activity 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8: Investment suitability based on financial analysis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9: Analysis for the financial services industry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10: Benchmarking of financial performance against industry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11: Use Capital Budgeting to evaluate potential investment returns (Activity 5)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Read the statements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Outline the process of financial statement analysis, including the balance sheet, income statement and cash flow statement, and the ratios derived from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Diagnose financial health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 an organisation's financial health from financial analysis, including profitability, liquidity, leverage, efficiency and cash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Benchmark performance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an organisation's historical financial performance and benchmark it against industry, including for the financial services sector.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Evaluate investments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Define indicators for investment suitability and apply capital budgeting methods to evaluate potential investment returns.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activity's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three statements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Balance sheet, income statement and cash flow statement answer three different questions about the same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Ratios, not raw numbers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figure means little alone; a ratio against a comparator is what carries the signal.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Profit is not cash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Profitable companies fail when cash arrives later than it leaves.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Direction over level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Several periods of trend say more about health than any single year.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Cash flows, discounted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Investment decisions rest on the timing of cash, not on accounting profit.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Always name the limit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what a comparison cannot tell you, alongside what it can.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Statement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Locate the line items on the three statements.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Derive the liquidity, leverage, efficiency and profitability ratios.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Trend against prior periods and benchmark against the sector.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Judge financial health and investment suitability, and say why.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Numbers only speak when something is beside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Every judgement in this course is a comparison — to last year, to the sector, or to the cost of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Be Able To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Read any set of statements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Locate assets, liabilities and equity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Trace revenue down to net income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Follow cash through three activities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Diagnose financial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Compute the ratio set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Read liquidity and solvency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Spot the cash-timing problems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Judge an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Discount future cash flows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Apply payback, NPV, PI and IRR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Recommend with a stated basis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Activity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trainer demonstrates the calculation on a worked example.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rebuild it in Excel on fictional company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verify your own figures against the stated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explain your decision to the class and hear the alternatives.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different financial ratios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Balance sheet · income statement · cash flow statement · liquidity, leverage and efficiency ratios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The different financial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statements are summary-level reports covering financial results, financial position and cash 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balance sheet states net worth: Assets = Liabilities + Equity, split into current and long-term.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income statement shows performance: Profits = Revenues - Expenses, down from revenue to net income.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cash flow statement tracks money moving through operating, investing and financing activities.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The different financial ratios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Liquidity ratios test short-term survival: current, acid test (quick), cash and operating cash flow ratios.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Leverage ratios test solvency: debt ratio, debt-to-equity, interest coverage and debt service coverage.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Efficiency ratios test how hard assets work: asset, inventory, receivables and payables turnover.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and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Northstar Supplies Pte Ltd, a fictional Singapore distributor, asks for a short credit review. You work from its income statement and balance sheet, derive the profit lines and the core ratios, reconcile the balance sheet, and write a short credit note. All values are illustrative SGD thousands.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workbook of profit lines and ratios, plus a 100-word credit note citing specific figures.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Excel, mock-data.xlsx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and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gross profit, operating profit and net profit for each year from the Income Statement.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and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Classify current assets and current liabilities, then calculate current ratio, quick ratio, debt-to-equity, gross margin and net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and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that Assets = Liabilities + Equity. If the statements do not reconcile, identify and quantify the gap rather than forcing a balance.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and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100-word credit note describing two improvements or risks, each supported by a specific figure.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and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three profit lines tie back to the income statement, the five ratios use the stated definitions, and the balance-sheet check either reconciles or the gap is quantified.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The different financial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 · LO2 — read a set of statements and derive the core ratio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Profitability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Gross, operating and net margin · return on assets · return on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Profitability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Profitability ratios reflect the ability of the business to generate earnings; higher is generally more favourable.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Gross margin = Gross profit / Net sales — what survives the direct cost of sales.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Operating margin = Operating income / Net sales — what survives running the business.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Net profit margin = Net income / Net sales — what survives interest and tax.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on assets = Net income / Total assets — how well the asset base earns.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on equity = Net income / Total equity — the return the owners actually receive.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Profitability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Profitability ratios reflect the ability of the business to generate earnings; higher is generally more favourable.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Gross margin = Gross profit / Net sales — what survives the direct cost of sales.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Operating margin = Operating income / Net sales — what survives running the business.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Net profit margin = Net income / Net sales — what survives interest and tax.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on assets = Net income / Total assets — how well the asset base earns.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Cash Flow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Why profit is not cash · improving cash flow management · reading a monthly cash flow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Cash Flow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company can report a profit and still run out of cash — timing, not profitability, causes most failures.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Operating cash flow = Operating income + Depreciation - Taxes +/- Change in working capital.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Investing cash flows capture gains and losses from buying and selling assets.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Financing cash flows capture movement between the company, its shareholders and its creditors.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Cash flow management improves by collecting receivables sooner, paying payables on terms and controlling inventory.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reconstruction and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Harbour Services Pte Ltd reports a profit while its cash is tightening. You reconstruct the movement of cash using the indirect method, reconcile closing cash, and recommend how to protect liquidity. Values are illustrative SGD thousands.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cash-flow workbook whose three activity subtotals reconcile to closing cash, plus a brief liquidity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Excel, mock-data.xlsx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reconstruction and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operating, investing and financing cash-flow sections from the inputs; show cash outflows as negative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reconstruction and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net cash from operations, net change in cash and closing cash. Reconcile closing cash to opening cash plus the three activity subtotals.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reconstruction and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the operating cash-flow ratio using current liabilities, and explain why accounting profit differs from operating cash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reconstruction and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Recommend two actions to protect liquidity, without confusing borrowing with operating cash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reconstruction and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Opening cash plus the three activity subtotals equals your closing cash figure exactly.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Cash Flow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LO2 — rebuild cash movement and explain why profit is not cash.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Projected financial and cash-flow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Proforma statements · forecasting the income statement, balance sheet and cash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Projected financial and cash-flow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Proforma (projected) statements support planning and let you compare actual against predicted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Projections are prepared for the income statement and balance sheet; projected cash flow is derived from both.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Forecasting the income statement starts from expected sales and applies cost and expense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Forecasting cash flow means estimating monthly sales, predicting when payments are received, then estimating costs.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assumptions as visible, editable inputs so the forecast can be re-run when the assumptions change.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Projected income statement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Meridian Components Pte Ltd needs a simple FY2026 forecast. You build a projected income statement and cash flow from a stated set of assumptions, then re-run the model on a downside scenario. All values are fictional SGD thousands.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workbook holding a base and a downside forecast, with every assumption visible and editable.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Excel, mock-data.xlsx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Projected income statement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projected FY2026 income statement from the base year and the Assumptions sheet, separating cash operating expenses from depreciation.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Projected income statement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projected profit before tax, tax and profit after tax, using cell references to the assumption inputs.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Projected income statement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 indirect operating cash-flow forecast, then closing cash after capital expenditure and debt repayment.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Projected income statement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downside scenario at 2% revenue growth and 65% COGS as a share of revenue, and state the effect on profit and closing cash.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Projected income statement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Changing an assumption cell updates the whole forecast, and the downside scenario produces a different closing cash figure.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Projected financial and cash-flow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LO2 — build a proforma forecast from visible, editable assumptions.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process of financial statements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Ratio analysis · horizontal (trend) analysis · vertical (common-size)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The process of financial statements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statement analysis evaluates the financial situation and supports administrative and economic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There are three methods: ratio analysis, horizontal (trend) analysis and vertical (common-size)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Ratio analysis uses the ratios of a business to evaluate its financial position at a point in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Horizontal analysis measures the percentage change of the same line item across two or more periods.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Vertical analysis states every item as a percentage of a base — gross sales for the income statement, total assets for the balance sheet.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The process of financial statements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statement analysis evaluates the financial situation and supports administrative and economic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There are three methods: ratio analysis, horizontal (trend) analysis and vertical (common-size)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Ratio analysis uses the ratios of a business to evaluate its financial position at a point in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Horizontal analysis measures the percentage change of the same line item across two or more periods.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Vertical analysis states every item as a percentage of a base — gross sales for the income statement, total assets for the balance sheet.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Use financial analysis to determine the health of an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Reading the balance sheet, income statement and cash flow statement for signals of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Concepts — Use financial analysis to determine the health of an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the balance sheet: debt relative to equity, short-term liquidity, and how long collection and payment take.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the income statement: revenue growth, gross profit margin, net profit after all expenses, and interest cover.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the cash flow statement: the liquidity situation, sources of cash, free cash flow, and whether cash rose or fell.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ratios: gross and net profit margin, coverage ratio, current and quick ratio for obligations.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ratios: debt-to-equity, inventory turnover, total asset turnover, ROE and ROA for efficiency and return.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Recap — Use financial analysis to determine the health of an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the balance sheet: debt relative to equity, short-term liquidity, and how long collection and payment take.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the income statement: revenue growth, gross profit margin, net profit after all expenses, and interest cover.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the cash flow statement: the liquidity situation, sources of cash, free cash flow, and whether cash rose or fell.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ratios: gross and net profit margin, coverage ratio, current and quick ratio for obligations.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ratios: debt-to-equity, inventory turnover, total asset turnover, ROE and ROA for efficiency and return.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Evaluate organisation's historical 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Trend analysis of the balance sheet and income statement · trend analysis of ratios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Evaluate organisation's historical financial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Historical evaluation runs in steps: generate the ratios, then trend the balance sheet, then trend the income statement.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Trending the balance sheet shows how the asset, liability and equity mix has shifted over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Trending the income statement shows whether growth in revenue is converting into growth in profit.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Trending the ratios themselves is often more revealing than any single period's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direction of travel matters more than one year's number — read several periods before judging.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and industry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compare two fictional business-services companies against a fictional sector benchmark, trend their revenue over FY2023-FY2025, compute the FY2025 ratio set, and decide which company warrants a deeper review. Amounts are SGD thousands.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comparison table and a concise management note that keeps your calculation distinct from the supplied benchmark.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Excel, mock-data.xlsx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and industry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each company's FY2023-FY2025 revenue trend and its FY2025 revenue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and industry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FY2025 gross margin, operating margin, current ratio and debt-to-equity from the company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and industry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each FY2025 ratio against the sector median, and explain at least one limitation of comparing firms against a single median.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and industry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Choose which company needs a deeper review, and support the recommendation with three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and industry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comparison table distinguishes the ratios you calculated from the benchmark you were given, and your recommendation cites three figures.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Evaluate organisation's historical financial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 — trend performance over three years and benchmark against a sector median.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Investment suitability based on financial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Revenues · profits · operational efficiency · capital efficiency and solvency · DuPont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Investment suitability based on financial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Revenues: assess quantity, quality and timing, revenue growth ignoring one-time items, concentration and revenue per employee.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Profits: read gross, operating and net profit margin together rather than any one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Operational efficiency: receivables turnover and inventory turnover show how well working capital is managed.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Market data: price to earnings, price to book and price-earnings-growth ratios place the company against its price.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DuPont index decomposes ROE into Net profit margin x Asset turnover x Equity multiplier.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Investment suitability based on financial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Revenues: assess quantity, quality and timing, revenue growth ignoring one-time items, concentration and revenue per employee.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Profits: read gross, operating and net profit margin together rather than any one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Operational efficiency: receivables turnover and inventory turnover show how well working capital is managed.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Market data: price to earnings, price to book and price-earnings-growth ratios place the company against its price.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DuPont index decomposes ROE into Net profit margin x Asset turnover x Equity multiplier.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Analysis for the financial services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Banking ratios · insurance ratios · why the standard ratio set does not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Analysis for the financial services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Banking profitability: net interest margin = (Interest income - Interest expense) / Total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Banking efficiency: efficiency ratio = Non-interest expense / Revenue; operating leverage compares the two growth rates.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Banking strength: liquidity coverage ratio, leverage ratio (Tier 1 / Total assets) and the CET1 ratio.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Insurance: persistency ratio, solvency ratio and combined ratio describe the book and its margin.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Insurance: incurred claims ratio, commission expense ratio and claim settlement ratio describe claims performance.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Analysis for the financial services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Banking profitability: net interest margin = (Interest income - Interest expense) / Total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Banking efficiency: efficiency ratio = Non-interest expense / Revenue; operating leverage compares the two growth rates.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Banking strength: liquidity coverage ratio, leverage ratio (Tier 1 / Total assets) and the CET1 ratio.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Insurance: persistency ratio, solvency ratio and combined ratio describe the book and its margin.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Insurance: incurred claims ratio, commission expense ratio and claim settlement ratio describe claims performance.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Benchmarking of financial performance against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Sector averages · choosing comparators · the limits of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Benchmarking of financial performance against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ratio only means something against a comparator — the same company last year, or its sector this year.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Sectoral averages move over time, so benchmark against the same period, not a remembered figure.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comparators of similar size, business model and geography, or the comparison misleads.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State the limitation alongside the comparison: accounting policy, scale and business mix all distort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Benchmarking of financial performance against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ratio only means something against a comparator — the same company last year, or its sector this year.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Sectoral averages move over time, so benchmark against the same period, not a remembered figure.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 comparators of similar size, business model and geography, or the comparison misleads.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State the limitation alongside the comparison: accounting policy, scale and business mix all distort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Use Capital Budgeting to evaluate potential investment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Time value of money · payback · discounted payback · NPV · profitability index · IRR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Concepts — Use Capital Budgeting to evaluate potential investment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Capital budgeting plans long-term investments and focuses on cash flows rather than accounting profits.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Time value of money: PV = FV / (1+i)^n and FV = PV x (1+i)^n — money in hand beats the same sum later.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Payback period measures how long the initial outlay takes to be recovered, ignoring the time value of money.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Discounted payback discounts each future inflow to present value before measuring recovery.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Concepts — Use Capital Budgeting to evaluate potential investment returns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Net present value sums the discounted cash flows net of the outlay; accept a positive NPV.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Profitability index = PV of inflows / PV of outflows; accept a project with PI greater than 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Internal rate of return is the discount rate at which NPV equals zero; accept when IRR beats the threshold rate.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Capital budgeting and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fictional operations team must choose one of two mutually exclusive projects. You build the discounted cash-flow model, compute every capital budgeting measure, and make a recommendation you can defend when the measures disagree. Cash flows are end-of-year SGD thousands, with Year 0 as the initial outlay.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investment model and a short recommendation stating the discount rate and all cash-flow timing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Excel, mock-data.xlsx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Capital budgeting and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cumulative undiscounted and discounted cash flows for each project, and state simple and discounted payback including the fraction of the recovery 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Capital budgeting and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Calculate NPV with Year 0 outside the NPV function (or by discounting each cash flow by its own period), then calculate the profitability index.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Capital budgeting and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the projects against the stated decision inputs. If NPV and payback rank them differently, say which measure you weight more and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Capital budgeting and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a 12% discount rate and describe whether your recommendation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Capital budgeting and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NPV does not double-discount Year 0, and you can state what happens to the ranking at 12%.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Use Capital Budgeting to evaluate potential investment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 — apply payback, discounted payback, NPV, PI and IRR to a real choice.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Read the statements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Outline the process of financial statement analysis, including the balance sheet, income statement and cash flow statement, and the ratios derived from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Diagnose financial health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 an organisation's financial health from financial analysis, including profitability, liquidity, leverage, efficiency and cash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Benchmark performance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an organisation's historical financial performance and benchmark it against industry, including for the financial services sector.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Evaluate investments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Define indicators for investment suitability and apply capital budgeting methods to evaluate potential investment returns.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activities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now have the practical skills from every activity in this course — keep applying them to your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Finance for Non-Finance Managers (C525)  ·  C525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
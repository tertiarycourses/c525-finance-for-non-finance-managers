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Finance for Non-Finance Managers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Course Code: C525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v10  ·  21 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Industry certified in the subject area of this course.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Professional short courses for Tertiary Infotech Academy.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Your name and organisation / role.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16224"/>
            <a:ext cx="10634472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3389376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Your experience with this subject (if any).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03648"/>
            <a:ext cx="10634472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03648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529132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876800"/>
            <a:ext cx="9738360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What you want to be able to do after this course.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Learn by doing — try every hands-on activity.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in at the LMS-TMS portal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this course from your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the Courseware tab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the Slides (PPT/PDF), Learner Guide and Lesson Plan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them open alongside the activities as you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Portal:  https://lms-tms.tertiaryinfotech.com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Days, 7.5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Financial statements, ratios, profitability, cash flow and projections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The different financial ratios (Activity 1)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Profitability Analysis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Cash Flow Analysis (Activity 2)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4: Projected financial and cash-flow statements (Activity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•  Day 2 — Analysis process, financial health, historical performance, benchmarking and capital budgeting</a:t>
            </a:r>
          </a:p>
          <a:p>
            <a:pPr>
              <a:spcAft>
                <a:spcPts val="10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–  Topic 5: The process of financial statements analysis</a:t>
            </a:r>
          </a:p>
          <a:p>
            <a:pPr>
              <a:spcAft>
                <a:spcPts val="10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–  Topic 6: Use financial analysis to determine the health of an organisation</a:t>
            </a:r>
          </a:p>
          <a:p>
            <a:pPr>
              <a:spcAft>
                <a:spcPts val="10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–  Topic 7: Evaluate organisation's historical financial performance (Activity 4)</a:t>
            </a:r>
          </a:p>
          <a:p>
            <a:pPr>
              <a:spcAft>
                <a:spcPts val="10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–  Topic 8: Investment suitability based on financial analysis</a:t>
            </a:r>
          </a:p>
          <a:p>
            <a:pPr>
              <a:spcAft>
                <a:spcPts val="10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–  Topic 9: Analysis for the financial services industry</a:t>
            </a:r>
          </a:p>
          <a:p>
            <a:pPr>
              <a:spcAft>
                <a:spcPts val="10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–  Topic 10: Benchmarking of financial performance against industry</a:t>
            </a:r>
          </a:p>
          <a:p>
            <a:pPr>
              <a:spcAft>
                <a:spcPts val="10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–  Topic 11: Use Capital Budgeting to evaluate potential investment returns (Activity 5)</a:t>
            </a:r>
          </a:p>
          <a:p>
            <a:pPr>
              <a:spcAft>
                <a:spcPts val="10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•  Daily timing</a:t>
            </a:r>
          </a:p>
          <a:p>
            <a:pPr>
              <a:spcAft>
                <a:spcPts val="10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–  9:30am–5:30pm · 7.5 instructional hours · 30-minute lunch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Read the statements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Outline the process of financial statement analysis, including the balance sheet, income statement and cash flow statement, and the ratios derived from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Diagnose financial health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Assess an organisation's financial health from financial analysis, including profitability, liquidity, leverage, efficiency and cash flow.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Benchmark performance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Evaluate an organisation's historical financial performance and benchmark it against industry, including for the financial services sector.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Evaluate investments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Define indicators for investment suitability and apply capital budgeting methods to evaluate potential investment returns.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You'll Learn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Trainer demonstrates the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 build it yourself in the hands-on activity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 with the activity's 'Test it'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Discuss and troubleshoot together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Recap against the learning outcomes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three statements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Balance sheet, income statement and cash flow statement answer three different questions about the same business.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Ratios, not raw numbers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figure means little alone; a ratio against a comparator is what carries the signal.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Profit is not cash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Profitable companies fail when cash arrives later than it leaves.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Direction over level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Several periods of trend say more about health than any single year.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Cash flows, discounted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Investment decisions rest on the timing of cash, not on accounting profit.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Always name the limit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State what a comparison cannot tell you, alongside what it can.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Statement to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Locate the line items on the three statements.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Compute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Derive the liquidity, leverage, efficiency and profitability ratios.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Trend against prior periods and benchmark against the sector.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Decide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Judge financial health and investment suitability, and say why.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KEY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Numbers only speak when something is beside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Every judgement in this course is a comparison — to last year, to the sector, or to the cost of capital.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You'll Be Able To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Read any set of statements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880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Locate assets, liabilities and equity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Trace revenue down to net income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Follow cash through three activities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Diagnose financial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880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Compute the ratio set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Read liquidity and solvency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Spot the cash-timing problems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Judge an investment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880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Discount future cash flows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Apply payback, NPV, PI and IRR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Recommend with a stated basis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LEARNING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Every Activity Progresses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The trainer demonstrates the calculation on a worked example.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688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You rebuild it in Excel on fictional company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59936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59936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You verify your own figures against the stated check.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4059936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4059936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491947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You explain your decision to the class and hear the alternatives.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A580C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The different financial ratios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Balance sheet · income statement · cash flow statement · liquidity, leverage and efficiency ratios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Key Concepts — The different financial ratios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Financial statements are summary-level reports covering financial results, financial position and cash flows.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balance sheet states net worth: Assets = Liabilities + Equity, split into current and long-term.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income statement shows performance: Profits = Revenues - Expenses, down from revenue to net income.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cash flow statement tracks money moving through operating, investing and financing activities.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Key Concepts — The different financial ratios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Liquidity ratios test short-term survival: current, acid test (quick), cash and operating cash flow ratios.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Leverage ratios test solvency: debt ratio, debt-to-equity, interest coverage and debt service coverage.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04438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04438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60470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6047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1990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Efficiency ratios test how hard assets work: asset, inventory, receivables and payables turnover.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statement analysis and ratios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Northstar Supplies Pte Ltd, a fictional Singapore distributor, asks for a short credit review. You work from its income statement and balance sheet, derive the profit lines and the core ratios, reconcile the balance sheet, and write a short credit note. All values are illustrative SGD thousands.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completed workbook of profit lines and ratios, plus a 100-word credit note citing specific figures.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Microsoft Excel, mock-data.xlsx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statement analysis and ratios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Calculate gross profit, operating profit and net profit for each year from the Income Statement.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statement analysis and ratios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Classify current assets and current liabilities, then calculate current ratio, quick ratio, debt-to-equity, gross margin and net margin.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statement analysis and ratios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Check that Assets = Liabilities + Equity. If the statements do not reconcile, identify and quantify the gap rather than forcing a balance.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statement analysis and ratios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Write a 100-word credit note describing two improvements or risks, each supported by a specific figure.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statement analysis and ratios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three profit lines tie back to the income statement, the five ratios use the stated definitions, and the balance-sheet check either reconciles or the gap is quantified.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The different financial ratios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4297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9738360" cy="41513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now: LO1 · LO2 — read a set of statements and derive the core ratio set.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C2626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Profitability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Gross, operating and net margin · return on assets · return on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Profitability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Profitability ratios reflect the ability of the business to generate earnings; higher is generally more favourable.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Gross margin = Gross profit / Net sales — what survives the direct cost of sales.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Operating margin = Operating income / Net sales — what survives running the business.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Net profit margin = Net income / Net sales — what survives interest and tax.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Return on assets = Net income / Total assets — how well the asset base earns.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Return on equity = Net income / Total equity — the return the owners actually receive.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Profitability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Return on equity = Net income / Total equity — the return the owners actually receive.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Return on assets = Net income / Total assets — how well the asset base earns.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Net profit margin = Net income / Net sales — what survives interest and tax.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Operating margin = Operating income / Net sales — what survives running the business.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03648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03648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0120" y="529132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53896" y="4876800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Gross margin = Gross profit / Net sales — what survives the direct cost of sales.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Cash Flow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Why profit is not cash · improving cash flow management · reading a monthly cash flow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Cash Flow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company can report a profit and still run out of cash — timing, not profitability, causes most failures.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Operating cash flow = Operating income + Depreciation - Taxes +/- Change in working capital.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Investing cash flows capture gains and losses from buying and selling assets.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Financing cash flows capture movement between the company, its shareholders and its creditors.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04438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04438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0470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60470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1990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Cash flow management improves by collecting receivables sooner, paying payables on terms and controlling inventory.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Cash flow reconstruction and liquidity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Harbour Services Pte Ltd reports a profit while its cash is tightening. You reconstruct the movement of cash using the indirect method, reconcile closing cash, and recommend how to protect liquidity. Values are illustrative SGD thousands.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cash-flow workbook whose three activity subtotals reconcile to closing cash, plus a brief liquidity recommendation.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Microsoft Excel, mock-data.xlsx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Cash flow reconstruction and liquidity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the operating, investing and financing cash-flow sections from the inputs; show cash outflows as negative values.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Cash flow reconstruction and liquidity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Calculate net cash from operations, net change in cash and closing cash. Reconcile closing cash to opening cash plus the three activity subtotals.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Cash flow reconstruction and liquidity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Calculate the operating cash-flow ratio using current liabilities, and explain why accounting profit differs from operating cash 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Cash flow reconstruction and liquidity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Recommend two actions to protect liquidity, without confusing borrowing with operating cash generation.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Cash flow reconstruction and liquidity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Opening cash plus the three activity subtotals equals your closing cash figure exactly.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Cash Flow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4297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9738360" cy="41513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now: LO2 — rebuild cash movement and explain why profit is not cash.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Projected financial and cash-flow statements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Proforma statements · forecasting the income statement, balance sheet and cash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Key Concepts — Projected financial and cash-flow statements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Proforma (projected) statements support planning and let you compare actual against predicted performance.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Projections are prepared for the income statement and balance sheet; projected cash flow is derived from both.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Forecasting the income statement starts from expected sales and applies cost and expense assumptions.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Forecasting cash flow means estimating monthly sales, predicting when payments are received, then estimating costs.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04438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04438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0470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60470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1990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assumptions as visible, editable inputs so the forecast can be re-run when the assumptions change.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Projected income statement and cash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Meridian Components Pte Ltd needs a simple FY2026 forecast. You build a projected income statement and cash flow from a stated set of assumptions, then re-run the model on a downside scenario. All values are fictional SGD thousands.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workbook holding a base and a downside forecast, with every assumption visible and editable.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Microsoft Excel, mock-data.xlsx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Projected income statement and cash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Build a projected FY2026 income statement from the base year and the Assumptions sheet, separating cash operating expenses from depreciation.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Projected income statement and cash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Calculate projected profit before tax, tax and profit after tax, using cell references to the assumption inputs.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Projected income statement and cash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Build an indirect operating cash-flow forecast, then closing cash after capital expenditure and debt repayment.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Projected income statement and cash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Run a downside scenario at 2% revenue growth and 65% COGS as a share of revenue, and state the effect on profit and closing cash.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Projected income statement and cash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Changing an assumption cell updates the whole forecast, and the downside scenario produces a different closing cash figure.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Recap — Projected financial and cash-flow statements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4297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9738360" cy="41513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now: LO2 — build a proforma forecast from visible, editable assumptions.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TOPIC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The process of financial statements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Ratio analysis · horizontal (trend) analysis · vertical (common-size)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Key Concepts — The process of financial statements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Financial statement analysis evaluates the financial situation and supports administrative and economic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There are three methods: ratio analysis, horizontal (trend) analysis and vertical (common-size) analysis.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Ratio analysis uses the ratios of a business to evaluate its financial position at a point in 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Horizontal analysis measures the percentage change of the same line item across two or more periods.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04438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04438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0470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60470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1990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Vertical analysis states every item as a percentage of a base — gross sales for the income statement, total assets for the balance sheet.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Recap — The process of financial statements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Vertical analysis states every item as a percentage of a base — gross sales for the income statement, total assets for the balance sheet.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Horizontal analysis measures the percentage change of the same line item across two or more periods.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Ratio analysis uses the ratios of a business to evaluate its financial position at a point in 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There are three methods: ratio analysis, horizontal (trend) analysis and vertical (common-size) analysis.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03648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03648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0120" y="529132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53896" y="4876800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Financial statement analysis evaluates the financial situation and supports administrative and economic decisions.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TOPIC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Use financial analysis to determine the health of an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Reading the balance sheet, income statement and cash flow statement for signals of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Key Concepts — Use financial analysis to determine the health of an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From the balance sheet: debt relative to equity, short-term liquidity, and how long collection and payment take.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From the income statement: revenue growth, gross profit margin, net profit after all expenses, and interest cover.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From the cash flow statement: the liquidity situation, sources of cash, free cash flow, and whether cash rose or fell.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From ratios: gross and net profit margin, coverage ratio, current and quick ratio for obligations.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04438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04438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0470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60470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1990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From ratios: debt-to-equity, inventory turnover, total asset turnover, ROE and ROA for efficiency and return.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Recap — Use financial analysis to determine the health of an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From ratios: debt-to-equity, inventory turnover, total asset turnover, ROE and ROA for efficiency and return.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From ratios: gross and net profit margin, coverage ratio, current and quick ratio for obligations.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From the cash flow statement: the liquidity situation, sources of cash, free cash flow, and whether cash rose or fell.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From the income statement: revenue growth, gross profit margin, net profit after all expenses, and interest cover.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03648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03648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0120" y="529132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53896" y="4876800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From the balance sheet: debt relative to equity, short-term liquidity, and how long collection and payment take.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A580C"/>
                </a:solidFill>
                <a:latin typeface="Arial"/>
              </a:rPr>
              <a:t>TOPIC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Evaluate organisation's historical financial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Trend analysis of the balance sheet and income statement · trend analysis of ratios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Key Concepts — Evaluate organisation's historical financial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Historical evaluation runs in steps: generate the ratios, then trend the balance sheet, then trend the income statement.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Trending the balance sheet shows how the asset, liability and equity mix has shifted over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Trending the income statement shows whether growth in revenue is converting into growth in profit.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Trending the ratios themselves is often more revealing than any single period's value.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04438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04438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0470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60470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1990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direction of travel matters more than one year's number — read several periods before judging.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07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Trend analysis and industry benchmarking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compare two fictional business-services companies against a fictional sector benchmark, trend their revenue over FY2023-FY2025, compute the FY2025 ratio set, and decide which company warrants a deeper review. Amounts are SGD thousands.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comparison table and a concise management note that keeps your calculation distinct from the supplied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Microsoft Excel, mock-data.xlsx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Trend analysis and industry benchmarking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Compute each company's FY2023-FY2025 revenue trend and its FY2025 revenue growth.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Trend analysis and industry benchmarking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Calculate FY2025 gross margin, operating margin, current ratio and debt-to-equity from the company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Trend analysis and industry benchmarking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Compare each FY2025 ratio against the sector median, and explain at least one limitation of comparing firms against a single median.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Trend analysis and industry benchmarking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Choose which company needs a deeper review, and support the recommendation with three figures.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Trend analysis and industry benchmarking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comparison table distinguishes the ratios you calculated from the benchmark you were given, and your recommendation cites three figures.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Recap — Evaluate organisation's historical financial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4297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9738360" cy="41513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now: LO3 — trend performance over three years and benchmark against a sector median.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C2626"/>
                </a:solidFill>
                <a:latin typeface="Arial"/>
              </a:rPr>
              <a:t>TOPIC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Investment suitability based on financial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Revenues · profits · operational efficiency · capital efficiency and solvency · DuPont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Key Concepts — Investment suitability based on financial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Revenues: assess quantity, quality and timing, revenue growth ignoring one-time items, concentration and revenue per employee.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Profits: read gross, operating and net profit margin together rather than any one alone.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Operational efficiency: receivables turnover and inventory turnover show how well working capital is managed.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Market data: price to earnings, price to book and price-earnings-growth ratios place the company against its price.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04438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04438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0470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60470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1990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DuPont index decomposes ROE into Net profit margin x Asset turnover x Equity multiplier.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Recap — Investment suitability based on financial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DuPont index decomposes ROE into Net profit margin x Asset turnover x Equity multiplier.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Market data: price to earnings, price to book and price-earnings-growth ratios place the company against its price.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Operational efficiency: receivables turnover and inventory turnover show how well working capital is managed.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Profits: read gross, operating and net profit margin together rather than any one alone.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03648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03648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0120" y="529132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53896" y="4876800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Revenues: assess quantity, quality and timing, revenue growth ignoring one-time items, concentration and revenue per employee.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Analysis for the financial services industry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Banking ratios · insurance ratios · why the standard ratio set does not 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Key Concepts — Analysis for the financial services industry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Banking profitability: net interest margin = (Interest income - Interest expense) / Total assets.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Banking efficiency: efficiency ratio = Non-interest expense / Revenue; operating leverage compares the two growth rates.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Banking strength: liquidity coverage ratio, leverage ratio (Tier 1 / Total assets) and the CET1 ratio.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Insurance: persistency ratio, solvency ratio and combined ratio describe the book and its margin.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04438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04438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0470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60470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1990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Insurance: incurred claims ratio, commission expense ratio and claim settlement ratio describe claims performance.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Recap — Analysis for the financial services industry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Insurance: incurred claims ratio, commission expense ratio and claim settlement ratio describe claims performance.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316480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334768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Insurance: persistency ratio, solvency ratio and combined ratio describe the book and its margin.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Banking strength: liquidity coverage ratio, leverage ratio (Tier 1 / Total assets) and the CET1 ratio.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3316224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3316224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3389376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Banking efficiency: efficiency ratio = Non-interest expense / Revenue; operating leverage compares the two growth rates.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03648"/>
            <a:ext cx="5234940" cy="1322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03648"/>
            <a:ext cx="64008" cy="1322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0120" y="529132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309616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53896" y="4876800"/>
            <a:ext cx="4338828" cy="11765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Banking profitability: net interest margin = (Interest income - Interest expense) / Total assets.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TOPIC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Benchmarking of financial performance against industry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Sector averages · choosing comparators · the limits of benchmarking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Key Concepts — Benchmarking of financial performance against industry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ratio only means something against a comparator — the same company last year, or its sector this year.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Sectoral averages move over time, so benchmark against the same period, not a remembered figure.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Choose comparators of similar size, business model and geography, or the comparison misleads.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State the limitation alongside the comparison: accounting policy, scale and business mix all distort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Recap — Benchmarking of financial performance against industry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State the limitation alongside the comparison: accounting policy, scale and business mix all distort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688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Choose comparators of similar size, business model and geography, or the comparison misleads.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59936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59936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Sectoral averages move over time, so benchmark against the same period, not a remembered figure.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4059936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4059936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491947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 ratio only means something against a comparator — the same company last year, or its sector this year.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TOPIC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Use Capital Budgeting to evaluate potential investment returns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Time value of money · payback · discounted payback · NPV · profitability index · IRR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med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Key Concepts — Use Capital Budgeting to evaluate potential investment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Capital budgeting plans long-term investments and focuses on cash flows rather than accounting profits.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Time value of money: PV = FV / (1+i)^n and FV = PV x (1+i)^n — money in hand beats the same sum later.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Payback period measures how long the initial outlay takes to be recovered, ignoring the time value of money.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Discounted payback discounts each future inflow to present value before measuring recovery.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med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Key Concepts — Use Capital Budgeting to evaluate potential investment returns (cont.)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Net present value sums the discounted cash flows net of the outlay; accept a positive NPV.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Profitability index = PV of inflows / PV of outflows; accept a project with PI greater than 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04438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04438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60470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6047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1990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Internal rate of return is the discount rate at which NPV equals zero; accept when IRR beats the threshold rate.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med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Capital budgeting and investment suitability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fictional operations team must choose one of two mutually exclusive projects. You build the discounted cash-flow model, compute every capital budgeting measure, and make a recommendation you can defend when the measures disagree. Cash flows are end-of-year SGD thousands, with Year 0 as the initial outlay.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completed investment model and a short recommendation stating the discount rate and all cash-flow timing assumptions.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Microsoft Excel, mock-data.xlsx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med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Capital budgeting and investment suitability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Calculate cumulative undiscounted and discounted cash flows for each project, and state simple and discounted payback including the fraction of the recovery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med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Capital budgeting and investment suitability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Calculate NPV with Year 0 outside the NPV function (or by discounting each cash flow by its own period), then calculate the profitability index.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med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Capital budgeting and investment suitability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Compare the projects against the stated decision inputs. If NPV and payback rank them differently, say which measure you weight more and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med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Capital budgeting and investment suitability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Test a 12% discount rate and describe whether your recommendation changes.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med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Capital budgeting and investment suitability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Your NPV does not double-discount Year 0, and you can state what happens to the ranking at 12%.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med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Recap — Use Capital Budgeting to evaluate potential investment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4297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380390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22192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9738360" cy="41513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now: LO4 — apply payback, discounted payback, NPV, PI and IRR to a real choice.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med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med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Read the statements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Outline the process of financial statement analysis, including the balance sheet, income statement and cash flow statement, and the ratios derived from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Diagnose financial health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Assess an organisation's financial health from financial analysis, including profitability, liquidity, leverage, efficiency and cash flow.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Benchmark performance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Evaluate an organisation's historical financial performance and benchmark it against industry, including for the financial services sector.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Evaluate investments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Define indicators for investment suitability and apply capital budgeting methods to evaluate potential investment returns.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med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38912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92708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Keep Practising After the Course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688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6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Re-run the activities on your own machine — repetition is what makes the skills stick.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6772" y="1828800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6772" y="1828800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9652" y="2688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9652" y="2706624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3428" y="1901952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Apply the techniques to a real process or project in your own organisation.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59936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59936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91947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Your course material stays available at https://lms-tms.tertiaryinfotech.com/.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4059936"/>
            <a:ext cx="5234940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4059936"/>
            <a:ext cx="64008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59652" y="491947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9652" y="4937760"/>
            <a:ext cx="347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3428" y="4133088"/>
            <a:ext cx="433882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Explore the follow-on courses at www.tertiarycourses.com.sg.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med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THANK YOU FOR ATTENDING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now have the practical skills from every activity in this course — keep applying them to your own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4023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Finance for Non-Finance Managers (C525)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